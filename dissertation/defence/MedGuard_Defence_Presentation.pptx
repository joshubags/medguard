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86" r:id="rId2"/>
    <p:sldId id="257" r:id="rId3"/>
    <p:sldId id="258" r:id="rId4"/>
    <p:sldId id="259" r:id="rId5"/>
    <p:sldId id="260" r:id="rId6"/>
    <p:sldId id="261" r:id="rId7"/>
    <p:sldId id="262" r:id="rId8"/>
    <p:sldId id="281" r:id="rId9"/>
    <p:sldId id="263" r:id="rId10"/>
    <p:sldId id="264" r:id="rId11"/>
    <p:sldId id="265" r:id="rId12"/>
    <p:sldId id="266" r:id="rId13"/>
    <p:sldId id="267" r:id="rId14"/>
    <p:sldId id="268" r:id="rId15"/>
    <p:sldId id="269" r:id="rId16"/>
    <p:sldId id="271" r:id="rId17"/>
    <p:sldId id="272" r:id="rId18"/>
    <p:sldId id="273" r:id="rId19"/>
    <p:sldId id="274" r:id="rId20"/>
    <p:sldId id="275" r:id="rId21"/>
    <p:sldId id="276" r:id="rId22"/>
    <p:sldId id="277" r:id="rId23"/>
    <p:sldId id="287" r:id="rId24"/>
    <p:sldId id="278" r:id="rId25"/>
    <p:sldId id="279" r:id="rId26"/>
    <p:sldId id="280" r:id="rId27"/>
    <p:sldId id="282" r:id="rId28"/>
    <p:sldId id="283" r:id="rId29"/>
    <p:sldId id="284" r:id="rId3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D1C5"/>
    <a:srgbClr val="016359"/>
    <a:srgbClr val="B45309"/>
    <a:srgbClr val="003F39"/>
    <a:srgbClr val="6F7D81"/>
    <a:srgbClr val="E1EEEC"/>
    <a:srgbClr val="FFFFFF"/>
    <a:srgbClr val="7FC7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853" autoAdjust="0"/>
    <p:restoredTop sz="94610"/>
  </p:normalViewPr>
  <p:slideViewPr>
    <p:cSldViewPr snapToGrid="0" snapToObjects="1">
      <p:cViewPr>
        <p:scale>
          <a:sx n="33" d="100"/>
          <a:sy n="33" d="100"/>
        </p:scale>
        <p:origin x="488"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2845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Ubaga Joshua Chukwuebuke, matriculation number CSC slash 2022 slash 009, supervised by Professor Isaac Odun-Ayo. This is my final year project: MedGuard.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order of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scale of the problem. These are WHO figures.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of pairs to check grows much faster than the number of drugs. In Nigeria the support to do that checking is thin, and the evidence shows exposure is high.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barriers: cost, connectivity, and the fact that published models never reach a user.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then the five specific objectives in order.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groups this work is for.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limitations plainly before the panel asks.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0470747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of models. The forest was chosen because it can be deployed and audited, not because it beats the deep models on paper.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tools clinicians actually use today.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four systems side by side. The last column is the point: not one of them works without a network.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gaps come out of the review, and each one sets a requirement for the build. This is the bridge into Chapter Three.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Science Research. Five phases, and three kinds of evaluation.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1.1. Four open sources parsed into one SQLite database, which feeds both the model and the application.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3.1. The phone holds everything it needs. Only an uncatalogued pair reaches the network, and only as two drug identifiers.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3.10. How one safety check runs from start to finish.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3.2. One drugs table at the centre, six spokes around it, normalised to third normal form.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classifiers compared on the same features and splits. The forest was kept.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opens on the whole regimen. Drugs are added by autocomplete, so a brand name or a misspelling still resolves to one medicine.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checks resolve into one verdict, equal to the highest tier present, and the report says what to do about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Dose scheduling, reminders, refill tracking and the QR emergency card. All of it runs offline.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results, and the two honest caveats: it over-flags on purpose, and the Low tier is weak but rare.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harder test. On drugs held out of training entirely, the model is measurably weaker — and the reason is the same thing that makes it transparent.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distilled model is under eight kilobytes and agrees with the forest 95.6% of the time. Thirty-four automated tests, ten of them named clinical pairs.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users, mean SUS 84.3. But the average hides a split, and the split is about testing conditions rather than drug knowledge.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then four recommendations that follow from the evidence.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APA 7.</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open the floor.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F39"/>
        </a:solidFill>
        <a:effectLst/>
      </p:bgPr>
    </p:bg>
    <p:spTree>
      <p:nvGrpSpPr>
        <p:cNvPr id="1" name=""/>
        <p:cNvGrpSpPr/>
        <p:nvPr/>
      </p:nvGrpSpPr>
      <p:grpSpPr>
        <a:xfrm>
          <a:off x="0" y="0"/>
          <a:ext cx="0" cy="0"/>
          <a:chOff x="0" y="0"/>
          <a:chExt cx="0" cy="0"/>
        </a:xfrm>
      </p:grpSpPr>
      <p:sp>
        <p:nvSpPr>
          <p:cNvPr id="5" name="Text 2"/>
          <p:cNvSpPr/>
          <p:nvPr/>
        </p:nvSpPr>
        <p:spPr>
          <a:xfrm>
            <a:off x="952500" y="1587371"/>
            <a:ext cx="4859867" cy="317799"/>
          </a:xfrm>
          <a:prstGeom prst="rect">
            <a:avLst/>
          </a:prstGeom>
          <a:noFill/>
          <a:ln/>
        </p:spPr>
        <p:txBody>
          <a:bodyPr wrap="square" lIns="25400" tIns="25400" rIns="25400" bIns="25400" rtlCol="0" anchor="t">
            <a:normAutofit/>
          </a:bodyPr>
          <a:lstStyle/>
          <a:p>
            <a:pPr marL="0" indent="0" algn="l">
              <a:lnSpc>
                <a:spcPct val="76471"/>
              </a:lnSpc>
              <a:buNone/>
            </a:pPr>
            <a:r>
              <a:rPr lang="en-US" sz="1800" kern="0" spc="312" dirty="0">
                <a:solidFill>
                  <a:srgbClr val="7FC7BE"/>
                </a:solidFill>
                <a:latin typeface="Inter" panose="02000503000000020004" pitchFamily="2" charset="0"/>
                <a:ea typeface="Inter" panose="02000503000000020004" pitchFamily="2" charset="0"/>
                <a:cs typeface="IBM Plex Sans" pitchFamily="34" charset="-120"/>
              </a:rPr>
              <a:t>FINAL YEAR PROJECT DEFENCE</a:t>
            </a:r>
            <a:endParaRPr lang="en-US" sz="1800" dirty="0"/>
          </a:p>
        </p:txBody>
      </p:sp>
      <p:sp>
        <p:nvSpPr>
          <p:cNvPr id="6" name="Text 3"/>
          <p:cNvSpPr/>
          <p:nvPr/>
        </p:nvSpPr>
        <p:spPr>
          <a:xfrm>
            <a:off x="952501" y="2090083"/>
            <a:ext cx="8249352" cy="3512741"/>
          </a:xfrm>
          <a:prstGeom prst="rect">
            <a:avLst/>
          </a:prstGeom>
          <a:noFill/>
          <a:ln/>
        </p:spPr>
        <p:txBody>
          <a:bodyPr wrap="square" lIns="25400" tIns="25400" rIns="25400" bIns="25400" rtlCol="0" anchor="t">
            <a:normAutofit fontScale="92500" lnSpcReduction="10000"/>
          </a:bodyPr>
          <a:lstStyle/>
          <a:p>
            <a:pPr marL="0" marR="0" lvl="0" indent="0" algn="l" defTabSz="914400" rtl="0" eaLnBrk="1" fontAlgn="auto" latinLnBrk="0" hangingPunct="1">
              <a:lnSpc>
                <a:spcPct val="105231"/>
              </a:lnSpc>
              <a:spcBef>
                <a:spcPts val="0"/>
              </a:spcBef>
              <a:spcAft>
                <a:spcPts val="0"/>
              </a:spcAft>
              <a:buClrTx/>
              <a:buSzTx/>
              <a:buFontTx/>
              <a:buNone/>
              <a:tabLst/>
              <a:defRPr/>
            </a:pPr>
            <a:r>
              <a:rPr kumimoji="0" lang="en-US" sz="4800" b="1" i="0" u="none" strike="noStrike" kern="0" cap="none" spc="-120" normalizeH="0" baseline="0" noProof="0" dirty="0">
                <a:ln>
                  <a:noFill/>
                </a:ln>
                <a:solidFill>
                  <a:srgbClr val="FFFFFF"/>
                </a:solidFill>
                <a:effectLst/>
                <a:uLnTx/>
                <a:uFillTx/>
                <a:latin typeface="Inter" panose="02000503000000020004" pitchFamily="2" charset="0"/>
                <a:ea typeface="Inter" panose="02000503000000020004" pitchFamily="2" charset="0"/>
                <a:cs typeface="Archivo" pitchFamily="34" charset="-120"/>
              </a:rPr>
              <a:t>Implementation of a Machine Learning-Based Mobile Application for Drug Interaction Detection and Medication Safety Support</a:t>
            </a:r>
            <a:endParaRPr kumimoji="0" lang="en-US" sz="4800" b="0" i="0" u="none" strike="noStrike" kern="1200" cap="none" spc="0" normalizeH="0" baseline="0" noProof="0" dirty="0">
              <a:ln>
                <a:noFill/>
              </a:ln>
              <a:solidFill>
                <a:prstClr val="black"/>
              </a:solidFill>
              <a:effectLst/>
              <a:uLnTx/>
              <a:uFillTx/>
              <a:latin typeface="Inter" panose="02000503000000020004" pitchFamily="2" charset="0"/>
              <a:ea typeface="Inter" panose="02000503000000020004" pitchFamily="2" charset="0"/>
              <a:cs typeface="+mn-cs"/>
            </a:endParaRPr>
          </a:p>
        </p:txBody>
      </p:sp>
      <p:sp>
        <p:nvSpPr>
          <p:cNvPr id="7" name="Shape 4"/>
          <p:cNvSpPr/>
          <p:nvPr/>
        </p:nvSpPr>
        <p:spPr>
          <a:xfrm>
            <a:off x="1000625" y="5770219"/>
            <a:ext cx="1143000" cy="47625"/>
          </a:xfrm>
          <a:prstGeom prst="rect">
            <a:avLst/>
          </a:prstGeom>
          <a:solidFill>
            <a:schemeClr val="bg1"/>
          </a:solidFill>
          <a:ln/>
        </p:spPr>
      </p:sp>
      <p:sp>
        <p:nvSpPr>
          <p:cNvPr id="8" name="Shape 5"/>
          <p:cNvSpPr/>
          <p:nvPr/>
        </p:nvSpPr>
        <p:spPr>
          <a:xfrm>
            <a:off x="952500" y="8060571"/>
            <a:ext cx="9519146" cy="9525"/>
          </a:xfrm>
          <a:prstGeom prst="rect">
            <a:avLst/>
          </a:prstGeom>
          <a:solidFill>
            <a:srgbClr val="FFFFFF">
              <a:alpha val="16000"/>
            </a:srgbClr>
          </a:solidFill>
          <a:ln/>
        </p:spPr>
      </p:sp>
      <p:sp>
        <p:nvSpPr>
          <p:cNvPr id="9" name="Text 6"/>
          <p:cNvSpPr/>
          <p:nvPr/>
        </p:nvSpPr>
        <p:spPr>
          <a:xfrm>
            <a:off x="952500" y="8493641"/>
            <a:ext cx="4775448" cy="219075"/>
          </a:xfrm>
          <a:prstGeom prst="rect">
            <a:avLst/>
          </a:prstGeom>
          <a:noFill/>
          <a:ln/>
        </p:spPr>
        <p:txBody>
          <a:bodyPr wrap="square" lIns="25400" tIns="25400" rIns="25400" bIns="25400" rtlCol="0" anchor="t">
            <a:noAutofit/>
          </a:bodyPr>
          <a:lstStyle/>
          <a:p>
            <a:pPr marL="0" marR="0" lvl="0" indent="0" algn="l" defTabSz="914400" rtl="0" eaLnBrk="1" fontAlgn="auto" latinLnBrk="0" hangingPunct="1">
              <a:lnSpc>
                <a:spcPct val="77027"/>
              </a:lnSpc>
              <a:spcBef>
                <a:spcPts val="0"/>
              </a:spcBef>
              <a:spcAft>
                <a:spcPts val="0"/>
              </a:spcAft>
              <a:buClrTx/>
              <a:buSzTx/>
              <a:buFontTx/>
              <a:buNone/>
              <a:tabLst/>
              <a:defRPr/>
            </a:pPr>
            <a:r>
              <a:rPr kumimoji="0" lang="en-US" sz="1600" b="0" i="0" u="none" strike="noStrike" kern="0" cap="none" spc="200" normalizeH="0" baseline="0" noProof="0" dirty="0">
                <a:ln>
                  <a:noFill/>
                </a:ln>
                <a:solidFill>
                  <a:srgbClr val="7FC7BE"/>
                </a:solidFill>
                <a:effectLst/>
                <a:uLnTx/>
                <a:uFillTx/>
                <a:latin typeface="Inter" panose="02000503000000020004" pitchFamily="2" charset="0"/>
                <a:ea typeface="Inter" panose="02000503000000020004" pitchFamily="2" charset="0"/>
                <a:cs typeface="IBM Plex Sans" pitchFamily="34" charset="-120"/>
              </a:rPr>
              <a:t>PRESENTED BY</a:t>
            </a:r>
            <a:endParaRPr kumimoji="0" lang="en-US" sz="1600" b="0" i="0" u="none" strike="noStrike" kern="1200" cap="none" spc="0" normalizeH="0" baseline="0" noProof="0" dirty="0">
              <a:ln>
                <a:noFill/>
              </a:ln>
              <a:solidFill>
                <a:prstClr val="black"/>
              </a:solidFill>
              <a:effectLst/>
              <a:uLnTx/>
              <a:uFillTx/>
              <a:latin typeface="Inter" panose="02000503000000020004" pitchFamily="2" charset="0"/>
              <a:ea typeface="Inter" panose="02000503000000020004" pitchFamily="2" charset="0"/>
              <a:cs typeface="+mn-cs"/>
            </a:endParaRPr>
          </a:p>
        </p:txBody>
      </p:sp>
      <p:sp>
        <p:nvSpPr>
          <p:cNvPr id="10" name="Text 7"/>
          <p:cNvSpPr/>
          <p:nvPr/>
        </p:nvSpPr>
        <p:spPr>
          <a:xfrm>
            <a:off x="952500" y="8788916"/>
            <a:ext cx="4775448" cy="397173"/>
          </a:xfrm>
          <a:prstGeom prst="rect">
            <a:avLst/>
          </a:prstGeom>
          <a:noFill/>
          <a:ln/>
        </p:spPr>
        <p:txBody>
          <a:bodyPr wrap="none" lIns="25400" tIns="25400" rIns="25400" bIns="25400" rtlCol="0" anchor="t">
            <a:normAutofit lnSpcReduction="10000"/>
          </a:bodyPr>
          <a:lstStyle/>
          <a:p>
            <a:pPr marL="0" marR="0" lvl="0" indent="0" algn="l" defTabSz="914400" rtl="0" eaLnBrk="1" fontAlgn="auto" latinLnBrk="0" hangingPunct="1">
              <a:lnSpc>
                <a:spcPct val="120319"/>
              </a:lnSpc>
              <a:spcBef>
                <a:spcPts val="0"/>
              </a:spcBef>
              <a:spcAft>
                <a:spcPts val="0"/>
              </a:spcAft>
              <a:buClrTx/>
              <a:buSzTx/>
              <a:buFontTx/>
              <a:buNone/>
              <a:tabLst/>
              <a:defRPr/>
            </a:pPr>
            <a:r>
              <a:rPr kumimoji="0" lang="en-US" sz="2175" b="1" i="0" u="none"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Archivo" pitchFamily="34" charset="-120"/>
              </a:rPr>
              <a:t>Ubaga Joshua Chukwuebuke</a:t>
            </a:r>
            <a:endParaRPr kumimoji="0" lang="en-US" sz="2175" b="0" i="0" u="none" strike="noStrike" kern="1200" cap="none" spc="0" normalizeH="0" baseline="0" noProof="0" dirty="0">
              <a:ln>
                <a:noFill/>
              </a:ln>
              <a:solidFill>
                <a:prstClr val="black"/>
              </a:solidFill>
              <a:effectLst/>
              <a:uLnTx/>
              <a:uFillTx/>
              <a:latin typeface="Inter" panose="02000503000000020004" pitchFamily="2" charset="0"/>
              <a:ea typeface="Inter" panose="02000503000000020004" pitchFamily="2" charset="0"/>
              <a:cs typeface="+mn-cs"/>
            </a:endParaRPr>
          </a:p>
        </p:txBody>
      </p:sp>
      <p:sp>
        <p:nvSpPr>
          <p:cNvPr id="11" name="Text 8"/>
          <p:cNvSpPr/>
          <p:nvPr/>
        </p:nvSpPr>
        <p:spPr>
          <a:xfrm>
            <a:off x="952500" y="9205139"/>
            <a:ext cx="4775448" cy="333772"/>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5852"/>
              </a:lnSpc>
              <a:spcBef>
                <a:spcPts val="0"/>
              </a:spcBef>
              <a:spcAft>
                <a:spcPts val="0"/>
              </a:spcAft>
              <a:buClrTx/>
              <a:buSzTx/>
              <a:buFontTx/>
              <a:buNone/>
              <a:tabLst/>
              <a:defRPr/>
            </a:pPr>
            <a:r>
              <a:rPr kumimoji="0" lang="en-US" sz="1725" b="0" i="0" u="none" strike="noStrike" kern="1200" cap="none" spc="0" normalizeH="0" baseline="0" noProof="0" dirty="0">
                <a:ln>
                  <a:noFill/>
                </a:ln>
                <a:solidFill>
                  <a:srgbClr val="B8D6D1"/>
                </a:solidFill>
                <a:effectLst/>
                <a:uLnTx/>
                <a:uFillTx/>
                <a:latin typeface="Inter" panose="02000503000000020004" pitchFamily="2" charset="0"/>
                <a:ea typeface="Inter" panose="02000503000000020004" pitchFamily="2" charset="0"/>
                <a:cs typeface="IBM Plex Sans" pitchFamily="34" charset="-120"/>
              </a:rPr>
              <a:t>CSC/2022/009</a:t>
            </a:r>
            <a:endParaRPr kumimoji="0" lang="en-US" sz="1725" b="0" i="0" u="none" strike="noStrike" kern="1200" cap="none" spc="0" normalizeH="0" baseline="0" noProof="0" dirty="0">
              <a:ln>
                <a:noFill/>
              </a:ln>
              <a:solidFill>
                <a:prstClr val="black"/>
              </a:solidFill>
              <a:effectLst/>
              <a:uLnTx/>
              <a:uFillTx/>
              <a:latin typeface="Inter" panose="02000503000000020004" pitchFamily="2" charset="0"/>
              <a:ea typeface="Inter" panose="02000503000000020004" pitchFamily="2" charset="0"/>
              <a:cs typeface="+mn-cs"/>
            </a:endParaRPr>
          </a:p>
        </p:txBody>
      </p:sp>
      <p:sp>
        <p:nvSpPr>
          <p:cNvPr id="12" name="Text 9"/>
          <p:cNvSpPr/>
          <p:nvPr/>
        </p:nvSpPr>
        <p:spPr>
          <a:xfrm>
            <a:off x="5979616" y="8493641"/>
            <a:ext cx="4941233" cy="219075"/>
          </a:xfrm>
          <a:prstGeom prst="rect">
            <a:avLst/>
          </a:prstGeom>
          <a:noFill/>
          <a:ln/>
        </p:spPr>
        <p:txBody>
          <a:bodyPr wrap="square" lIns="25400" tIns="25400" rIns="25400" bIns="25400" rtlCol="0" anchor="t">
            <a:normAutofit fontScale="92500" lnSpcReduction="10000"/>
          </a:bodyPr>
          <a:lstStyle/>
          <a:p>
            <a:pPr marL="0" marR="0" lvl="0" indent="0" algn="l" defTabSz="914400" rtl="0" eaLnBrk="1" fontAlgn="auto" latinLnBrk="0" hangingPunct="1">
              <a:lnSpc>
                <a:spcPct val="77027"/>
              </a:lnSpc>
              <a:spcBef>
                <a:spcPts val="0"/>
              </a:spcBef>
              <a:spcAft>
                <a:spcPts val="0"/>
              </a:spcAft>
              <a:buClrTx/>
              <a:buSzTx/>
              <a:buFontTx/>
              <a:buNone/>
              <a:tabLst/>
              <a:defRPr/>
            </a:pPr>
            <a:r>
              <a:rPr kumimoji="0" lang="en-US" sz="1600" b="0" i="0" u="none" strike="noStrike" kern="0" cap="none" spc="200" normalizeH="0" baseline="0" noProof="0" dirty="0">
                <a:ln>
                  <a:noFill/>
                </a:ln>
                <a:solidFill>
                  <a:srgbClr val="7FC7BE"/>
                </a:solidFill>
                <a:effectLst/>
                <a:uLnTx/>
                <a:uFillTx/>
                <a:latin typeface="Inter" panose="02000503000000020004" pitchFamily="2" charset="0"/>
                <a:ea typeface="Inter" panose="02000503000000020004" pitchFamily="2" charset="0"/>
                <a:cs typeface="IBM Plex Sans" pitchFamily="34" charset="-120"/>
              </a:rPr>
              <a:t>SUPERVISED BY</a:t>
            </a:r>
            <a:endParaRPr kumimoji="0" lang="en-US" sz="1600" b="0" i="0" u="none" strike="noStrike" kern="1200" cap="none" spc="0" normalizeH="0" baseline="0" noProof="0" dirty="0">
              <a:ln>
                <a:noFill/>
              </a:ln>
              <a:solidFill>
                <a:prstClr val="black"/>
              </a:solidFill>
              <a:effectLst/>
              <a:uLnTx/>
              <a:uFillTx/>
              <a:latin typeface="Inter" panose="02000503000000020004" pitchFamily="2" charset="0"/>
              <a:ea typeface="Inter" panose="02000503000000020004" pitchFamily="2" charset="0"/>
              <a:cs typeface="+mn-cs"/>
            </a:endParaRPr>
          </a:p>
        </p:txBody>
      </p:sp>
      <p:sp>
        <p:nvSpPr>
          <p:cNvPr id="13" name="Text 10"/>
          <p:cNvSpPr/>
          <p:nvPr/>
        </p:nvSpPr>
        <p:spPr>
          <a:xfrm>
            <a:off x="5979616" y="8788916"/>
            <a:ext cx="4941233" cy="397173"/>
          </a:xfrm>
          <a:prstGeom prst="rect">
            <a:avLst/>
          </a:prstGeom>
          <a:noFill/>
          <a:ln/>
        </p:spPr>
        <p:txBody>
          <a:bodyPr wrap="none" lIns="25400" tIns="25400" rIns="25400" bIns="25400" rtlCol="0" anchor="t">
            <a:normAutofit lnSpcReduction="10000"/>
          </a:bodyPr>
          <a:lstStyle/>
          <a:p>
            <a:pPr marL="0" marR="0" lvl="0" indent="0" algn="l" defTabSz="914400" rtl="0" eaLnBrk="1" fontAlgn="auto" latinLnBrk="0" hangingPunct="1">
              <a:lnSpc>
                <a:spcPct val="120319"/>
              </a:lnSpc>
              <a:spcBef>
                <a:spcPts val="0"/>
              </a:spcBef>
              <a:spcAft>
                <a:spcPts val="0"/>
              </a:spcAft>
              <a:buClrTx/>
              <a:buSzTx/>
              <a:buFontTx/>
              <a:buNone/>
              <a:tabLst/>
              <a:defRPr/>
            </a:pPr>
            <a:r>
              <a:rPr kumimoji="0" lang="en-US" sz="2175" b="1" i="0" u="none"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Archivo" pitchFamily="34" charset="-120"/>
              </a:rPr>
              <a:t>Prof. Isaac Odun-Ayo</a:t>
            </a:r>
            <a:endParaRPr kumimoji="0" lang="en-US" sz="2175" b="0" i="0" u="none" strike="noStrike" kern="1200" cap="none" spc="0" normalizeH="0" baseline="0" noProof="0" dirty="0">
              <a:ln>
                <a:noFill/>
              </a:ln>
              <a:solidFill>
                <a:prstClr val="black"/>
              </a:solidFill>
              <a:effectLst/>
              <a:uLnTx/>
              <a:uFillTx/>
              <a:latin typeface="Inter" panose="02000503000000020004" pitchFamily="2" charset="0"/>
              <a:ea typeface="Inter" panose="02000503000000020004" pitchFamily="2" charset="0"/>
              <a:cs typeface="+mn-cs"/>
            </a:endParaRPr>
          </a:p>
        </p:txBody>
      </p:sp>
      <p:sp>
        <p:nvSpPr>
          <p:cNvPr id="14" name="Text 11"/>
          <p:cNvSpPr/>
          <p:nvPr/>
        </p:nvSpPr>
        <p:spPr>
          <a:xfrm>
            <a:off x="5979616" y="9205139"/>
            <a:ext cx="4941233" cy="333772"/>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5852"/>
              </a:lnSpc>
              <a:spcBef>
                <a:spcPts val="0"/>
              </a:spcBef>
              <a:spcAft>
                <a:spcPts val="0"/>
              </a:spcAft>
              <a:buClrTx/>
              <a:buSzTx/>
              <a:buFontTx/>
              <a:buNone/>
              <a:tabLst/>
              <a:defRPr/>
            </a:pPr>
            <a:r>
              <a:rPr kumimoji="0" lang="en-US" sz="1725" b="0" i="0" u="none" strike="noStrike" kern="1200" cap="none" spc="0" normalizeH="0" baseline="0" noProof="0" dirty="0">
                <a:ln>
                  <a:noFill/>
                </a:ln>
                <a:solidFill>
                  <a:srgbClr val="B8D6D1"/>
                </a:solidFill>
                <a:effectLst/>
                <a:uLnTx/>
                <a:uFillTx/>
                <a:latin typeface="Inter" panose="02000503000000020004" pitchFamily="2" charset="0"/>
                <a:ea typeface="Inter" panose="02000503000000020004" pitchFamily="2" charset="0"/>
                <a:cs typeface="IBM Plex Sans" pitchFamily="34" charset="-120"/>
              </a:rPr>
              <a:t>Project Supervisor &amp; Head of Department</a:t>
            </a:r>
            <a:endParaRPr kumimoji="0" lang="en-US" sz="1725" b="0" i="0" u="none" strike="noStrike" kern="1200" cap="none" spc="0" normalizeH="0" baseline="0" noProof="0" dirty="0">
              <a:ln>
                <a:noFill/>
              </a:ln>
              <a:solidFill>
                <a:prstClr val="black"/>
              </a:solidFill>
              <a:effectLst/>
              <a:uLnTx/>
              <a:uFillTx/>
              <a:latin typeface="Inter" panose="02000503000000020004" pitchFamily="2" charset="0"/>
              <a:ea typeface="Inter" panose="02000503000000020004" pitchFamily="2" charset="0"/>
              <a:cs typeface="+mn-cs"/>
            </a:endParaRPr>
          </a:p>
        </p:txBody>
      </p:sp>
      <p:sp>
        <p:nvSpPr>
          <p:cNvPr id="21" name="Shape 18"/>
          <p:cNvSpPr/>
          <p:nvPr/>
        </p:nvSpPr>
        <p:spPr>
          <a:xfrm>
            <a:off x="11119347" y="0"/>
            <a:ext cx="7168654" cy="10287000"/>
          </a:xfrm>
          <a:prstGeom prst="rect">
            <a:avLst/>
          </a:prstGeom>
          <a:solidFill>
            <a:srgbClr val="0033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12785490" y="807142"/>
            <a:ext cx="4076608" cy="8731769"/>
          </a:xfrm>
          <a:prstGeom prst="roundRect">
            <a:avLst>
              <a:gd name="adj" fmla="val 11892"/>
            </a:avLst>
          </a:prstGeom>
          <a:solidFill>
            <a:srgbClr val="0E151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3" name="Image 1" descr="preencoded.png"/>
          <p:cNvPicPr>
            <a:picLocks noChangeAspect="1"/>
          </p:cNvPicPr>
          <p:nvPr/>
        </p:nvPicPr>
        <p:blipFill>
          <a:blip r:embed="rId3"/>
          <a:stretch>
            <a:fillRect/>
          </a:stretch>
        </p:blipFill>
        <p:spPr>
          <a:xfrm>
            <a:off x="12935619" y="957272"/>
            <a:ext cx="3812179" cy="8467339"/>
          </a:xfrm>
          <a:prstGeom prst="roundRect">
            <a:avLst>
              <a:gd name="adj" fmla="val 8703"/>
            </a:avLst>
          </a:prstGeom>
        </p:spPr>
      </p:pic>
      <p:sp>
        <p:nvSpPr>
          <p:cNvPr id="27" name="TextBox 26">
            <a:extLst>
              <a:ext uri="{FF2B5EF4-FFF2-40B4-BE49-F238E27FC236}">
                <a16:creationId xmlns:a16="http://schemas.microsoft.com/office/drawing/2014/main" id="{D396DD00-DD1A-8961-31F0-CD10A019E0B3}"/>
              </a:ext>
            </a:extLst>
          </p:cNvPr>
          <p:cNvSpPr txBox="1"/>
          <p:nvPr/>
        </p:nvSpPr>
        <p:spPr>
          <a:xfrm>
            <a:off x="895148" y="6180429"/>
            <a:ext cx="9144000" cy="1169294"/>
          </a:xfrm>
          <a:prstGeom prst="rect">
            <a:avLst/>
          </a:prstGeom>
          <a:noFill/>
        </p:spPr>
        <p:txBody>
          <a:bodyPr wrap="square">
            <a:spAutoFit/>
          </a:bodyPr>
          <a:lstStyle/>
          <a:p>
            <a:pPr marL="0" marR="0" lvl="0" indent="0" algn="l" defTabSz="914400" rtl="0" eaLnBrk="1" fontAlgn="auto" latinLnBrk="0" hangingPunct="1">
              <a:lnSpc>
                <a:spcPct val="120319"/>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Archivo" pitchFamily="34" charset="-120"/>
              </a:rPr>
              <a:t>Department of Computer Sciences</a:t>
            </a:r>
            <a:endParaRPr kumimoji="0" lang="en-US" sz="2000" b="0" i="0" u="none" strike="noStrike" kern="1200" cap="none" spc="0" normalizeH="0" baseline="0" noProof="0" dirty="0">
              <a:ln>
                <a:noFill/>
              </a:ln>
              <a:solidFill>
                <a:srgbClr val="8FB3A6">
                  <a:alpha val="98000"/>
                </a:srgbClr>
              </a:solidFill>
              <a:effectLst/>
              <a:uLnTx/>
              <a:uFillTx/>
              <a:latin typeface="Inter" pitchFamily="34" charset="0"/>
              <a:ea typeface="Inter" pitchFamily="34" charset="-122"/>
              <a:cs typeface="Inter" pitchFamily="34" charset="-120"/>
            </a:endParaRPr>
          </a:p>
          <a:p>
            <a:pPr marL="0" marR="0" lvl="0" indent="0" algn="l" defTabSz="914400" rtl="0" eaLnBrk="1" fontAlgn="auto" latinLnBrk="0" hangingPunct="1">
              <a:lnSpc>
                <a:spcPct val="120319"/>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FC7BE"/>
                </a:solidFill>
                <a:effectLst/>
                <a:uLnTx/>
                <a:uFillTx/>
                <a:latin typeface="Inter" pitchFamily="34" charset="0"/>
                <a:ea typeface="Inter" pitchFamily="34" charset="-122"/>
                <a:cs typeface="Inter" pitchFamily="34" charset="-120"/>
              </a:rPr>
              <a:t>Chrisland University, Abeokuta</a:t>
            </a:r>
          </a:p>
          <a:p>
            <a:pPr marL="0" marR="0" lvl="0" indent="0" algn="l" defTabSz="914400" rtl="0" eaLnBrk="1" fontAlgn="auto" latinLnBrk="0" hangingPunct="1">
              <a:lnSpc>
                <a:spcPct val="120319"/>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Archivo" pitchFamily="34" charset="-120"/>
              </a:rPr>
              <a:t>August 2026</a:t>
            </a:r>
            <a:endParaRPr kumimoji="0" lang="en-US" sz="2000" b="0" i="0" u="none" strike="noStrike" kern="1200" cap="none" spc="0" normalizeH="0" baseline="0" noProof="0" dirty="0">
              <a:ln>
                <a:noFill/>
              </a:ln>
              <a:solidFill>
                <a:prstClr val="black"/>
              </a:solidFill>
              <a:effectLst/>
              <a:uLnTx/>
              <a:uFillTx/>
              <a:latin typeface="Inter" panose="02000503000000020004" pitchFamily="2" charset="0"/>
              <a:ea typeface="Inter" panose="02000503000000020004" pitchFamily="2" charset="0"/>
              <a:cs typeface="+mn-cs"/>
            </a:endParaRP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609600"/>
            <a:ext cx="814388" cy="247650"/>
          </a:xfrm>
          <a:prstGeom prst="rect">
            <a:avLst/>
          </a:prstGeom>
        </p:spPr>
      </p:pic>
      <p:sp>
        <p:nvSpPr>
          <p:cNvPr id="4" name="Text 1"/>
          <p:cNvSpPr/>
          <p:nvPr/>
        </p:nvSpPr>
        <p:spPr>
          <a:xfrm>
            <a:off x="857250" y="1028700"/>
            <a:ext cx="1823085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What this presentation covers</a:t>
            </a:r>
            <a:endParaRPr lang="en-US" sz="3975" dirty="0"/>
          </a:p>
        </p:txBody>
      </p:sp>
      <p:sp>
        <p:nvSpPr>
          <p:cNvPr id="5" name="Shape 2"/>
          <p:cNvSpPr/>
          <p:nvPr/>
        </p:nvSpPr>
        <p:spPr>
          <a:xfrm>
            <a:off x="857250" y="3244949"/>
            <a:ext cx="8096250" cy="891778"/>
          </a:xfrm>
          <a:prstGeom prst="roundRect">
            <a:avLst>
              <a:gd name="adj" fmla="val 17089"/>
            </a:avLst>
          </a:prstGeom>
          <a:solidFill>
            <a:srgbClr val="FFFFFF"/>
          </a:solidFill>
          <a:ln w="6350">
            <a:solidFill>
              <a:srgbClr val="E1EEEC"/>
            </a:solidFill>
            <a:prstDash val="solid"/>
          </a:ln>
        </p:spPr>
      </p:sp>
      <p:sp>
        <p:nvSpPr>
          <p:cNvPr id="6" name="Text 3"/>
          <p:cNvSpPr/>
          <p:nvPr/>
        </p:nvSpPr>
        <p:spPr>
          <a:xfrm>
            <a:off x="1149350" y="3523159"/>
            <a:ext cx="533400" cy="373360"/>
          </a:xfrm>
          <a:prstGeom prst="rect">
            <a:avLst/>
          </a:prstGeom>
          <a:noFill/>
          <a:ln/>
        </p:spPr>
        <p:txBody>
          <a:bodyPr wrap="square" lIns="25400" tIns="25400" rIns="25400" bIns="25400" rtlCol="0" anchor="t">
            <a:normAutofit fontScale="92500" lnSpcReduction="10000"/>
          </a:bodyPr>
          <a:lstStyle/>
          <a:p>
            <a:pPr marL="0" indent="0" algn="l">
              <a:lnSpc>
                <a:spcPct val="101538"/>
              </a:lnSpc>
              <a:buNone/>
            </a:pPr>
            <a:r>
              <a:rPr lang="en-US" sz="2400" b="1" dirty="0">
                <a:solidFill>
                  <a:srgbClr val="0C7A70"/>
                </a:solidFill>
                <a:latin typeface="Inter" panose="02000503000000020004" pitchFamily="2" charset="0"/>
                <a:ea typeface="Inter" panose="02000503000000020004" pitchFamily="2" charset="0"/>
                <a:cs typeface="Archivo" pitchFamily="34" charset="-120"/>
              </a:rPr>
              <a:t>01</a:t>
            </a:r>
            <a:endParaRPr lang="en-US" sz="2400" dirty="0"/>
          </a:p>
        </p:txBody>
      </p:sp>
      <p:sp>
        <p:nvSpPr>
          <p:cNvPr id="7" name="Text 4"/>
          <p:cNvSpPr/>
          <p:nvPr/>
        </p:nvSpPr>
        <p:spPr>
          <a:xfrm>
            <a:off x="1835150" y="3479494"/>
            <a:ext cx="2470180"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Opening context</a:t>
            </a:r>
            <a:endParaRPr lang="en-US" sz="2325" dirty="0"/>
          </a:p>
        </p:txBody>
      </p:sp>
      <p:sp>
        <p:nvSpPr>
          <p:cNvPr id="8" name="Shape 5"/>
          <p:cNvSpPr/>
          <p:nvPr/>
        </p:nvSpPr>
        <p:spPr>
          <a:xfrm>
            <a:off x="9334500" y="3244949"/>
            <a:ext cx="8096250" cy="891778"/>
          </a:xfrm>
          <a:prstGeom prst="roundRect">
            <a:avLst>
              <a:gd name="adj" fmla="val 17089"/>
            </a:avLst>
          </a:prstGeom>
          <a:solidFill>
            <a:srgbClr val="FFFFFF"/>
          </a:solidFill>
          <a:ln w="6350">
            <a:solidFill>
              <a:srgbClr val="E1EEEC"/>
            </a:solidFill>
            <a:prstDash val="solid"/>
          </a:ln>
        </p:spPr>
      </p:sp>
      <p:sp>
        <p:nvSpPr>
          <p:cNvPr id="9" name="Text 6"/>
          <p:cNvSpPr/>
          <p:nvPr/>
        </p:nvSpPr>
        <p:spPr>
          <a:xfrm>
            <a:off x="9626600" y="3523159"/>
            <a:ext cx="533400" cy="373360"/>
          </a:xfrm>
          <a:prstGeom prst="rect">
            <a:avLst/>
          </a:prstGeom>
          <a:noFill/>
          <a:ln/>
        </p:spPr>
        <p:txBody>
          <a:bodyPr wrap="square" lIns="25400" tIns="25400" rIns="25400" bIns="25400" rtlCol="0" anchor="t">
            <a:normAutofit fontScale="92500" lnSpcReduction="10000"/>
          </a:bodyPr>
          <a:lstStyle/>
          <a:p>
            <a:pPr marL="0" indent="0" algn="l">
              <a:lnSpc>
                <a:spcPct val="101538"/>
              </a:lnSpc>
              <a:buNone/>
            </a:pPr>
            <a:r>
              <a:rPr lang="en-US" sz="2400" b="1" dirty="0">
                <a:solidFill>
                  <a:srgbClr val="0C7A70"/>
                </a:solidFill>
                <a:latin typeface="Inter" panose="02000503000000020004" pitchFamily="2" charset="0"/>
                <a:ea typeface="Inter" panose="02000503000000020004" pitchFamily="2" charset="0"/>
                <a:cs typeface="Archivo" pitchFamily="34" charset="-120"/>
              </a:rPr>
              <a:t>06</a:t>
            </a:r>
            <a:endParaRPr lang="en-US" sz="2400" dirty="0"/>
          </a:p>
        </p:txBody>
      </p:sp>
      <p:sp>
        <p:nvSpPr>
          <p:cNvPr id="10" name="Text 7"/>
          <p:cNvSpPr/>
          <p:nvPr/>
        </p:nvSpPr>
        <p:spPr>
          <a:xfrm>
            <a:off x="10312401" y="3479494"/>
            <a:ext cx="3352691"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Review of related work</a:t>
            </a:r>
            <a:endParaRPr lang="en-US" sz="2325" dirty="0"/>
          </a:p>
        </p:txBody>
      </p:sp>
      <p:sp>
        <p:nvSpPr>
          <p:cNvPr id="11" name="Shape 8"/>
          <p:cNvSpPr/>
          <p:nvPr/>
        </p:nvSpPr>
        <p:spPr>
          <a:xfrm>
            <a:off x="857250" y="4308177"/>
            <a:ext cx="8096250" cy="891778"/>
          </a:xfrm>
          <a:prstGeom prst="roundRect">
            <a:avLst>
              <a:gd name="adj" fmla="val 17089"/>
            </a:avLst>
          </a:prstGeom>
          <a:solidFill>
            <a:srgbClr val="FFFFFF"/>
          </a:solidFill>
          <a:ln w="6350">
            <a:solidFill>
              <a:srgbClr val="E1EEEC"/>
            </a:solidFill>
            <a:prstDash val="solid"/>
          </a:ln>
        </p:spPr>
      </p:sp>
      <p:sp>
        <p:nvSpPr>
          <p:cNvPr id="12" name="Text 9"/>
          <p:cNvSpPr/>
          <p:nvPr/>
        </p:nvSpPr>
        <p:spPr>
          <a:xfrm>
            <a:off x="1149350" y="4586387"/>
            <a:ext cx="533400" cy="373360"/>
          </a:xfrm>
          <a:prstGeom prst="rect">
            <a:avLst/>
          </a:prstGeom>
          <a:noFill/>
          <a:ln/>
        </p:spPr>
        <p:txBody>
          <a:bodyPr wrap="square" lIns="25400" tIns="25400" rIns="25400" bIns="25400" rtlCol="0" anchor="t">
            <a:normAutofit fontScale="92500" lnSpcReduction="10000"/>
          </a:bodyPr>
          <a:lstStyle/>
          <a:p>
            <a:pPr marL="0" indent="0" algn="l">
              <a:lnSpc>
                <a:spcPct val="101538"/>
              </a:lnSpc>
              <a:buNone/>
            </a:pPr>
            <a:r>
              <a:rPr lang="en-US" sz="2400" b="1" dirty="0">
                <a:solidFill>
                  <a:srgbClr val="0C7A70"/>
                </a:solidFill>
                <a:latin typeface="Inter" panose="02000503000000020004" pitchFamily="2" charset="0"/>
                <a:ea typeface="Inter" panose="02000503000000020004" pitchFamily="2" charset="0"/>
                <a:cs typeface="Archivo" pitchFamily="34" charset="-120"/>
              </a:rPr>
              <a:t>02</a:t>
            </a:r>
            <a:endParaRPr lang="en-US" sz="2400" dirty="0"/>
          </a:p>
        </p:txBody>
      </p:sp>
      <p:sp>
        <p:nvSpPr>
          <p:cNvPr id="13" name="Text 10"/>
          <p:cNvSpPr/>
          <p:nvPr/>
        </p:nvSpPr>
        <p:spPr>
          <a:xfrm>
            <a:off x="1835150" y="4542722"/>
            <a:ext cx="3629690"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Background of the study</a:t>
            </a:r>
            <a:endParaRPr lang="en-US" sz="2325" dirty="0"/>
          </a:p>
        </p:txBody>
      </p:sp>
      <p:sp>
        <p:nvSpPr>
          <p:cNvPr id="14" name="Shape 11"/>
          <p:cNvSpPr/>
          <p:nvPr/>
        </p:nvSpPr>
        <p:spPr>
          <a:xfrm>
            <a:off x="9334500" y="4308177"/>
            <a:ext cx="8096250" cy="891778"/>
          </a:xfrm>
          <a:prstGeom prst="roundRect">
            <a:avLst>
              <a:gd name="adj" fmla="val 17089"/>
            </a:avLst>
          </a:prstGeom>
          <a:solidFill>
            <a:srgbClr val="FFFFFF"/>
          </a:solidFill>
          <a:ln w="6350">
            <a:solidFill>
              <a:srgbClr val="E1EEEC"/>
            </a:solidFill>
            <a:prstDash val="solid"/>
          </a:ln>
        </p:spPr>
      </p:sp>
      <p:sp>
        <p:nvSpPr>
          <p:cNvPr id="15" name="Text 12"/>
          <p:cNvSpPr/>
          <p:nvPr/>
        </p:nvSpPr>
        <p:spPr>
          <a:xfrm>
            <a:off x="9626600" y="4586387"/>
            <a:ext cx="533400" cy="373360"/>
          </a:xfrm>
          <a:prstGeom prst="rect">
            <a:avLst/>
          </a:prstGeom>
          <a:noFill/>
          <a:ln/>
        </p:spPr>
        <p:txBody>
          <a:bodyPr wrap="square" lIns="25400" tIns="25400" rIns="25400" bIns="25400" rtlCol="0" anchor="t">
            <a:normAutofit fontScale="92500" lnSpcReduction="10000"/>
          </a:bodyPr>
          <a:lstStyle/>
          <a:p>
            <a:pPr marL="0" indent="0" algn="l">
              <a:lnSpc>
                <a:spcPct val="101538"/>
              </a:lnSpc>
              <a:buNone/>
            </a:pPr>
            <a:r>
              <a:rPr lang="en-US" sz="2400" b="1" dirty="0">
                <a:solidFill>
                  <a:srgbClr val="0C7A70"/>
                </a:solidFill>
                <a:latin typeface="Inter" panose="02000503000000020004" pitchFamily="2" charset="0"/>
                <a:ea typeface="Inter" panose="02000503000000020004" pitchFamily="2" charset="0"/>
                <a:cs typeface="Archivo" pitchFamily="34" charset="-120"/>
              </a:rPr>
              <a:t>07</a:t>
            </a:r>
            <a:endParaRPr lang="en-US" sz="2400" dirty="0"/>
          </a:p>
        </p:txBody>
      </p:sp>
      <p:sp>
        <p:nvSpPr>
          <p:cNvPr id="16" name="Text 13"/>
          <p:cNvSpPr/>
          <p:nvPr/>
        </p:nvSpPr>
        <p:spPr>
          <a:xfrm>
            <a:off x="10312401" y="4542722"/>
            <a:ext cx="5361206"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Existing systems and research gaps</a:t>
            </a:r>
            <a:endParaRPr lang="en-US" sz="2325" dirty="0"/>
          </a:p>
        </p:txBody>
      </p:sp>
      <p:sp>
        <p:nvSpPr>
          <p:cNvPr id="17" name="Shape 14"/>
          <p:cNvSpPr/>
          <p:nvPr/>
        </p:nvSpPr>
        <p:spPr>
          <a:xfrm>
            <a:off x="857250" y="5371406"/>
            <a:ext cx="8096250" cy="891778"/>
          </a:xfrm>
          <a:prstGeom prst="roundRect">
            <a:avLst>
              <a:gd name="adj" fmla="val 17089"/>
            </a:avLst>
          </a:prstGeom>
          <a:solidFill>
            <a:srgbClr val="FFFFFF"/>
          </a:solidFill>
          <a:ln w="6350">
            <a:solidFill>
              <a:srgbClr val="E1EEEC"/>
            </a:solidFill>
            <a:prstDash val="solid"/>
          </a:ln>
        </p:spPr>
      </p:sp>
      <p:sp>
        <p:nvSpPr>
          <p:cNvPr id="18" name="Text 15"/>
          <p:cNvSpPr/>
          <p:nvPr/>
        </p:nvSpPr>
        <p:spPr>
          <a:xfrm>
            <a:off x="1149350" y="5649615"/>
            <a:ext cx="533400" cy="373360"/>
          </a:xfrm>
          <a:prstGeom prst="rect">
            <a:avLst/>
          </a:prstGeom>
          <a:noFill/>
          <a:ln/>
        </p:spPr>
        <p:txBody>
          <a:bodyPr wrap="square" lIns="25400" tIns="25400" rIns="25400" bIns="25400" rtlCol="0" anchor="t">
            <a:normAutofit fontScale="92500" lnSpcReduction="10000"/>
          </a:bodyPr>
          <a:lstStyle/>
          <a:p>
            <a:pPr marL="0" indent="0" algn="l">
              <a:lnSpc>
                <a:spcPct val="101538"/>
              </a:lnSpc>
              <a:buNone/>
            </a:pPr>
            <a:r>
              <a:rPr lang="en-US" sz="2400" b="1" dirty="0">
                <a:solidFill>
                  <a:srgbClr val="0C7A70"/>
                </a:solidFill>
                <a:latin typeface="Inter" panose="02000503000000020004" pitchFamily="2" charset="0"/>
                <a:ea typeface="Inter" panose="02000503000000020004" pitchFamily="2" charset="0"/>
                <a:cs typeface="Archivo" pitchFamily="34" charset="-120"/>
              </a:rPr>
              <a:t>03</a:t>
            </a:r>
            <a:endParaRPr lang="en-US" sz="2400" dirty="0"/>
          </a:p>
        </p:txBody>
      </p:sp>
      <p:sp>
        <p:nvSpPr>
          <p:cNvPr id="19" name="Text 16"/>
          <p:cNvSpPr/>
          <p:nvPr/>
        </p:nvSpPr>
        <p:spPr>
          <a:xfrm>
            <a:off x="1835150" y="5605950"/>
            <a:ext cx="3736538"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Statement of the problem</a:t>
            </a:r>
            <a:endParaRPr lang="en-US" sz="2325" dirty="0"/>
          </a:p>
        </p:txBody>
      </p:sp>
      <p:sp>
        <p:nvSpPr>
          <p:cNvPr id="20" name="Shape 17"/>
          <p:cNvSpPr/>
          <p:nvPr/>
        </p:nvSpPr>
        <p:spPr>
          <a:xfrm>
            <a:off x="9334500" y="5371406"/>
            <a:ext cx="8096250" cy="891778"/>
          </a:xfrm>
          <a:prstGeom prst="roundRect">
            <a:avLst>
              <a:gd name="adj" fmla="val 17089"/>
            </a:avLst>
          </a:prstGeom>
          <a:solidFill>
            <a:srgbClr val="FFFFFF"/>
          </a:solidFill>
          <a:ln w="6350">
            <a:solidFill>
              <a:srgbClr val="E1EEEC"/>
            </a:solidFill>
            <a:prstDash val="solid"/>
          </a:ln>
        </p:spPr>
      </p:sp>
      <p:sp>
        <p:nvSpPr>
          <p:cNvPr id="21" name="Text 18"/>
          <p:cNvSpPr/>
          <p:nvPr/>
        </p:nvSpPr>
        <p:spPr>
          <a:xfrm>
            <a:off x="9626600" y="5649615"/>
            <a:ext cx="533400" cy="373360"/>
          </a:xfrm>
          <a:prstGeom prst="rect">
            <a:avLst/>
          </a:prstGeom>
          <a:noFill/>
          <a:ln/>
        </p:spPr>
        <p:txBody>
          <a:bodyPr wrap="square" lIns="25400" tIns="25400" rIns="25400" bIns="25400" rtlCol="0" anchor="t">
            <a:normAutofit fontScale="92500" lnSpcReduction="10000"/>
          </a:bodyPr>
          <a:lstStyle/>
          <a:p>
            <a:pPr marL="0" indent="0" algn="l">
              <a:lnSpc>
                <a:spcPct val="101538"/>
              </a:lnSpc>
              <a:buNone/>
            </a:pPr>
            <a:r>
              <a:rPr lang="en-US" sz="2400" b="1" dirty="0">
                <a:solidFill>
                  <a:srgbClr val="0C7A70"/>
                </a:solidFill>
                <a:latin typeface="Inter" panose="02000503000000020004" pitchFamily="2" charset="0"/>
                <a:ea typeface="Inter" panose="02000503000000020004" pitchFamily="2" charset="0"/>
                <a:cs typeface="Archivo" pitchFamily="34" charset="-120"/>
              </a:rPr>
              <a:t>08</a:t>
            </a:r>
            <a:endParaRPr lang="en-US" sz="2400" dirty="0"/>
          </a:p>
        </p:txBody>
      </p:sp>
      <p:sp>
        <p:nvSpPr>
          <p:cNvPr id="22" name="Text 19"/>
          <p:cNvSpPr/>
          <p:nvPr/>
        </p:nvSpPr>
        <p:spPr>
          <a:xfrm>
            <a:off x="10312401" y="5605950"/>
            <a:ext cx="4873347"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System design and methodology</a:t>
            </a:r>
            <a:endParaRPr lang="en-US" sz="2325" dirty="0"/>
          </a:p>
        </p:txBody>
      </p:sp>
      <p:sp>
        <p:nvSpPr>
          <p:cNvPr id="23" name="Shape 20"/>
          <p:cNvSpPr/>
          <p:nvPr/>
        </p:nvSpPr>
        <p:spPr>
          <a:xfrm>
            <a:off x="857250" y="6434634"/>
            <a:ext cx="8096250" cy="891778"/>
          </a:xfrm>
          <a:prstGeom prst="roundRect">
            <a:avLst>
              <a:gd name="adj" fmla="val 17089"/>
            </a:avLst>
          </a:prstGeom>
          <a:solidFill>
            <a:srgbClr val="FFFFFF"/>
          </a:solidFill>
          <a:ln w="6350">
            <a:solidFill>
              <a:srgbClr val="E1EEEC"/>
            </a:solidFill>
            <a:prstDash val="solid"/>
          </a:ln>
        </p:spPr>
      </p:sp>
      <p:sp>
        <p:nvSpPr>
          <p:cNvPr id="24" name="Text 21"/>
          <p:cNvSpPr/>
          <p:nvPr/>
        </p:nvSpPr>
        <p:spPr>
          <a:xfrm>
            <a:off x="1149350" y="6712843"/>
            <a:ext cx="533400" cy="373360"/>
          </a:xfrm>
          <a:prstGeom prst="rect">
            <a:avLst/>
          </a:prstGeom>
          <a:noFill/>
          <a:ln/>
        </p:spPr>
        <p:txBody>
          <a:bodyPr wrap="square" lIns="25400" tIns="25400" rIns="25400" bIns="25400" rtlCol="0" anchor="t">
            <a:normAutofit fontScale="92500" lnSpcReduction="10000"/>
          </a:bodyPr>
          <a:lstStyle/>
          <a:p>
            <a:pPr marL="0" indent="0" algn="l">
              <a:lnSpc>
                <a:spcPct val="101538"/>
              </a:lnSpc>
              <a:buNone/>
            </a:pPr>
            <a:r>
              <a:rPr lang="en-US" sz="2400" b="1" dirty="0">
                <a:solidFill>
                  <a:srgbClr val="0C7A70"/>
                </a:solidFill>
                <a:latin typeface="Inter" panose="02000503000000020004" pitchFamily="2" charset="0"/>
                <a:ea typeface="Inter" panose="02000503000000020004" pitchFamily="2" charset="0"/>
                <a:cs typeface="Archivo" pitchFamily="34" charset="-120"/>
              </a:rPr>
              <a:t>04</a:t>
            </a:r>
            <a:endParaRPr lang="en-US" sz="2400" dirty="0"/>
          </a:p>
        </p:txBody>
      </p:sp>
      <p:sp>
        <p:nvSpPr>
          <p:cNvPr id="25" name="Text 22"/>
          <p:cNvSpPr/>
          <p:nvPr/>
        </p:nvSpPr>
        <p:spPr>
          <a:xfrm>
            <a:off x="1835150" y="6669179"/>
            <a:ext cx="2825542"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Aim and objectives</a:t>
            </a:r>
            <a:endParaRPr lang="en-US" sz="2325" dirty="0"/>
          </a:p>
        </p:txBody>
      </p:sp>
      <p:sp>
        <p:nvSpPr>
          <p:cNvPr id="26" name="Shape 23"/>
          <p:cNvSpPr/>
          <p:nvPr/>
        </p:nvSpPr>
        <p:spPr>
          <a:xfrm>
            <a:off x="9334500" y="6434634"/>
            <a:ext cx="8096250" cy="891778"/>
          </a:xfrm>
          <a:prstGeom prst="roundRect">
            <a:avLst>
              <a:gd name="adj" fmla="val 17089"/>
            </a:avLst>
          </a:prstGeom>
          <a:solidFill>
            <a:srgbClr val="FFFFFF"/>
          </a:solidFill>
          <a:ln w="6350">
            <a:solidFill>
              <a:srgbClr val="E1EEEC"/>
            </a:solidFill>
            <a:prstDash val="solid"/>
          </a:ln>
        </p:spPr>
      </p:sp>
      <p:sp>
        <p:nvSpPr>
          <p:cNvPr id="27" name="Text 24"/>
          <p:cNvSpPr/>
          <p:nvPr/>
        </p:nvSpPr>
        <p:spPr>
          <a:xfrm>
            <a:off x="9626600" y="6712843"/>
            <a:ext cx="533400" cy="373360"/>
          </a:xfrm>
          <a:prstGeom prst="rect">
            <a:avLst/>
          </a:prstGeom>
          <a:noFill/>
          <a:ln/>
        </p:spPr>
        <p:txBody>
          <a:bodyPr wrap="square" lIns="25400" tIns="25400" rIns="25400" bIns="25400" rtlCol="0" anchor="t">
            <a:normAutofit fontScale="92500" lnSpcReduction="10000"/>
          </a:bodyPr>
          <a:lstStyle/>
          <a:p>
            <a:pPr marL="0" indent="0" algn="l">
              <a:lnSpc>
                <a:spcPct val="101538"/>
              </a:lnSpc>
              <a:buNone/>
            </a:pPr>
            <a:r>
              <a:rPr lang="en-US" sz="2400" b="1" dirty="0">
                <a:solidFill>
                  <a:srgbClr val="0C7A70"/>
                </a:solidFill>
                <a:latin typeface="Inter" panose="02000503000000020004" pitchFamily="2" charset="0"/>
                <a:ea typeface="Inter" panose="02000503000000020004" pitchFamily="2" charset="0"/>
                <a:cs typeface="Archivo" pitchFamily="34" charset="-120"/>
              </a:rPr>
              <a:t>09</a:t>
            </a:r>
            <a:endParaRPr lang="en-US" sz="2400" dirty="0"/>
          </a:p>
        </p:txBody>
      </p:sp>
      <p:sp>
        <p:nvSpPr>
          <p:cNvPr id="28" name="Text 25"/>
          <p:cNvSpPr/>
          <p:nvPr/>
        </p:nvSpPr>
        <p:spPr>
          <a:xfrm>
            <a:off x="10312401" y="6669179"/>
            <a:ext cx="4043224"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Implementation and results</a:t>
            </a:r>
            <a:endParaRPr lang="en-US" sz="2325" dirty="0"/>
          </a:p>
        </p:txBody>
      </p:sp>
      <p:sp>
        <p:nvSpPr>
          <p:cNvPr id="29" name="Shape 26"/>
          <p:cNvSpPr/>
          <p:nvPr/>
        </p:nvSpPr>
        <p:spPr>
          <a:xfrm>
            <a:off x="857250" y="7497862"/>
            <a:ext cx="8096250" cy="891778"/>
          </a:xfrm>
          <a:prstGeom prst="roundRect">
            <a:avLst>
              <a:gd name="adj" fmla="val 17089"/>
            </a:avLst>
          </a:prstGeom>
          <a:solidFill>
            <a:srgbClr val="FFFFFF"/>
          </a:solidFill>
          <a:ln w="6350">
            <a:solidFill>
              <a:srgbClr val="E1EEEC"/>
            </a:solidFill>
            <a:prstDash val="solid"/>
          </a:ln>
        </p:spPr>
      </p:sp>
      <p:sp>
        <p:nvSpPr>
          <p:cNvPr id="30" name="Text 27"/>
          <p:cNvSpPr/>
          <p:nvPr/>
        </p:nvSpPr>
        <p:spPr>
          <a:xfrm>
            <a:off x="1149350" y="7776071"/>
            <a:ext cx="533400" cy="373360"/>
          </a:xfrm>
          <a:prstGeom prst="rect">
            <a:avLst/>
          </a:prstGeom>
          <a:noFill/>
          <a:ln/>
        </p:spPr>
        <p:txBody>
          <a:bodyPr wrap="square" lIns="25400" tIns="25400" rIns="25400" bIns="25400" rtlCol="0" anchor="t">
            <a:normAutofit fontScale="92500" lnSpcReduction="10000"/>
          </a:bodyPr>
          <a:lstStyle/>
          <a:p>
            <a:pPr marL="0" indent="0" algn="l">
              <a:lnSpc>
                <a:spcPct val="101538"/>
              </a:lnSpc>
              <a:buNone/>
            </a:pPr>
            <a:r>
              <a:rPr lang="en-US" sz="2400" b="1" dirty="0">
                <a:solidFill>
                  <a:srgbClr val="0C7A70"/>
                </a:solidFill>
                <a:latin typeface="Inter" panose="02000503000000020004" pitchFamily="2" charset="0"/>
                <a:ea typeface="Inter" panose="02000503000000020004" pitchFamily="2" charset="0"/>
                <a:cs typeface="Archivo" pitchFamily="34" charset="-120"/>
              </a:rPr>
              <a:t>05</a:t>
            </a:r>
            <a:endParaRPr lang="en-US" sz="2400" dirty="0"/>
          </a:p>
        </p:txBody>
      </p:sp>
      <p:sp>
        <p:nvSpPr>
          <p:cNvPr id="31" name="Text 28"/>
          <p:cNvSpPr/>
          <p:nvPr/>
        </p:nvSpPr>
        <p:spPr>
          <a:xfrm>
            <a:off x="1835150" y="7732407"/>
            <a:ext cx="3645297" cy="421878"/>
          </a:xfrm>
          <a:prstGeom prst="rect">
            <a:avLst/>
          </a:prstGeom>
          <a:noFill/>
          <a:ln/>
        </p:spPr>
        <p:txBody>
          <a:bodyPr wrap="square" lIns="25400" tIns="25400" rIns="25400" bIns="25400" rtlCol="0" anchor="t">
            <a:normAutofit fontScale="92500"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Significance of the study</a:t>
            </a:r>
            <a:endParaRPr lang="en-US" sz="2325" dirty="0"/>
          </a:p>
        </p:txBody>
      </p:sp>
      <p:sp>
        <p:nvSpPr>
          <p:cNvPr id="35" name="Shape 23">
            <a:extLst>
              <a:ext uri="{FF2B5EF4-FFF2-40B4-BE49-F238E27FC236}">
                <a16:creationId xmlns:a16="http://schemas.microsoft.com/office/drawing/2014/main" id="{B46EA89F-4014-3126-2E9F-9F9845E6C528}"/>
              </a:ext>
            </a:extLst>
          </p:cNvPr>
          <p:cNvSpPr/>
          <p:nvPr/>
        </p:nvSpPr>
        <p:spPr>
          <a:xfrm>
            <a:off x="9334500" y="7497465"/>
            <a:ext cx="8096250" cy="891778"/>
          </a:xfrm>
          <a:prstGeom prst="roundRect">
            <a:avLst>
              <a:gd name="adj" fmla="val 17089"/>
            </a:avLst>
          </a:prstGeom>
          <a:solidFill>
            <a:srgbClr val="FFFFFF"/>
          </a:solidFill>
          <a:ln w="6350">
            <a:solidFill>
              <a:srgbClr val="E1EEEC"/>
            </a:solidFill>
            <a:prstDash val="solid"/>
          </a:ln>
        </p:spPr>
      </p:sp>
      <p:sp>
        <p:nvSpPr>
          <p:cNvPr id="36" name="Text 24">
            <a:extLst>
              <a:ext uri="{FF2B5EF4-FFF2-40B4-BE49-F238E27FC236}">
                <a16:creationId xmlns:a16="http://schemas.microsoft.com/office/drawing/2014/main" id="{2F31787A-DC0A-DD39-9AED-21034D41836C}"/>
              </a:ext>
            </a:extLst>
          </p:cNvPr>
          <p:cNvSpPr/>
          <p:nvPr/>
        </p:nvSpPr>
        <p:spPr>
          <a:xfrm>
            <a:off x="9626600" y="7775674"/>
            <a:ext cx="533400" cy="373360"/>
          </a:xfrm>
          <a:prstGeom prst="rect">
            <a:avLst/>
          </a:prstGeom>
          <a:noFill/>
          <a:ln/>
        </p:spPr>
        <p:txBody>
          <a:bodyPr wrap="square" lIns="25400" tIns="25400" rIns="25400" bIns="25400" rtlCol="0" anchor="t">
            <a:normAutofit fontScale="92500" lnSpcReduction="10000"/>
          </a:bodyPr>
          <a:lstStyle/>
          <a:p>
            <a:pPr marL="0" indent="0" algn="l">
              <a:lnSpc>
                <a:spcPct val="101538"/>
              </a:lnSpc>
              <a:buNone/>
            </a:pPr>
            <a:r>
              <a:rPr lang="en-GB" sz="2400" b="1" dirty="0">
                <a:solidFill>
                  <a:srgbClr val="0C7A70"/>
                </a:solidFill>
                <a:latin typeface="Inter" panose="02000503000000020004" pitchFamily="2" charset="0"/>
                <a:ea typeface="Inter" panose="02000503000000020004" pitchFamily="2" charset="0"/>
              </a:rPr>
              <a:t>1</a:t>
            </a:r>
            <a:r>
              <a:rPr lang="en-US" sz="2400" b="1" dirty="0">
                <a:solidFill>
                  <a:srgbClr val="0C7A70"/>
                </a:solidFill>
                <a:latin typeface="Inter" panose="02000503000000020004" pitchFamily="2" charset="0"/>
                <a:ea typeface="Inter" panose="02000503000000020004" pitchFamily="2" charset="0"/>
              </a:rPr>
              <a:t>0</a:t>
            </a:r>
            <a:endParaRPr lang="en-US" sz="2400" dirty="0"/>
          </a:p>
        </p:txBody>
      </p:sp>
      <p:sp>
        <p:nvSpPr>
          <p:cNvPr id="37" name="Text 25">
            <a:extLst>
              <a:ext uri="{FF2B5EF4-FFF2-40B4-BE49-F238E27FC236}">
                <a16:creationId xmlns:a16="http://schemas.microsoft.com/office/drawing/2014/main" id="{C0BD5254-DDEE-1778-24A4-9531ADEFB9B7}"/>
              </a:ext>
            </a:extLst>
          </p:cNvPr>
          <p:cNvSpPr/>
          <p:nvPr/>
        </p:nvSpPr>
        <p:spPr>
          <a:xfrm>
            <a:off x="10312400" y="7719714"/>
            <a:ext cx="5594349" cy="535285"/>
          </a:xfrm>
          <a:prstGeom prst="rect">
            <a:avLst/>
          </a:prstGeom>
          <a:noFill/>
          <a:ln/>
        </p:spPr>
        <p:txBody>
          <a:bodyPr wrap="square" lIns="25400" tIns="25400" rIns="25400" bIns="25400" rtlCol="0" anchor="t">
            <a:normAutofit/>
          </a:bodyPr>
          <a:lstStyle/>
          <a:p>
            <a:pPr marL="0" indent="0" algn="l">
              <a:lnSpc>
                <a:spcPct val="118529"/>
              </a:lnSpc>
              <a:buNone/>
            </a:pPr>
            <a:r>
              <a:rPr lang="en-US" sz="2330" b="1" dirty="0">
                <a:solidFill>
                  <a:srgbClr val="152428"/>
                </a:solidFill>
                <a:latin typeface="Inter" panose="02000503000000020004" pitchFamily="2" charset="0"/>
                <a:ea typeface="Inter" panose="02000503000000020004" pitchFamily="2" charset="0"/>
                <a:cs typeface="Archivo" pitchFamily="34" charset="-120"/>
              </a:rPr>
              <a:t>Conclusion and recommendations</a:t>
            </a:r>
          </a:p>
        </p:txBody>
      </p:sp>
      <p:sp>
        <p:nvSpPr>
          <p:cNvPr id="42" name="Shape 0">
            <a:extLst>
              <a:ext uri="{FF2B5EF4-FFF2-40B4-BE49-F238E27FC236}">
                <a16:creationId xmlns:a16="http://schemas.microsoft.com/office/drawing/2014/main" id="{E68A074C-AF6C-1120-C86B-F6F4AA3A6FEF}"/>
              </a:ext>
            </a:extLst>
          </p:cNvPr>
          <p:cNvSpPr/>
          <p:nvPr/>
        </p:nvSpPr>
        <p:spPr>
          <a:xfrm>
            <a:off x="914400" y="710826"/>
            <a:ext cx="133350" cy="133350"/>
          </a:xfrm>
          <a:prstGeom prst="rect">
            <a:avLst/>
          </a:prstGeom>
          <a:solidFill>
            <a:srgbClr val="0B5C4A"/>
          </a:solidFill>
          <a:ln/>
        </p:spPr>
      </p:sp>
      <p:sp>
        <p:nvSpPr>
          <p:cNvPr id="43" name="Text 1">
            <a:extLst>
              <a:ext uri="{FF2B5EF4-FFF2-40B4-BE49-F238E27FC236}">
                <a16:creationId xmlns:a16="http://schemas.microsoft.com/office/drawing/2014/main" id="{6B661E00-FDD0-315B-9BA0-05E003A3093B}"/>
              </a:ext>
            </a:extLst>
          </p:cNvPr>
          <p:cNvSpPr/>
          <p:nvPr/>
        </p:nvSpPr>
        <p:spPr>
          <a:xfrm>
            <a:off x="1219200" y="574114"/>
            <a:ext cx="3937000"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US" sz="2400" dirty="0">
                <a:solidFill>
                  <a:srgbClr val="0B5C4A"/>
                </a:solidFill>
                <a:latin typeface="Inter" pitchFamily="34" charset="0"/>
                <a:ea typeface="Inter" pitchFamily="34" charset="-122"/>
                <a:cs typeface="Inter" pitchFamily="34" charset="-120"/>
              </a:rPr>
              <a:t>PRESENTATION OUTLINE</a:t>
            </a:r>
            <a:endParaRPr lang="en-US" sz="2400" dirty="0"/>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609600"/>
            <a:ext cx="814388" cy="247650"/>
          </a:xfrm>
          <a:prstGeom prst="rect">
            <a:avLst/>
          </a:prstGeom>
        </p:spPr>
      </p:pic>
      <p:sp>
        <p:nvSpPr>
          <p:cNvPr id="4" name="Text 1"/>
          <p:cNvSpPr/>
          <p:nvPr/>
        </p:nvSpPr>
        <p:spPr>
          <a:xfrm>
            <a:off x="857250" y="1028700"/>
            <a:ext cx="14912340" cy="1209278"/>
          </a:xfrm>
          <a:prstGeom prst="rect">
            <a:avLst/>
          </a:prstGeom>
          <a:noFill/>
          <a:ln/>
        </p:spPr>
        <p:txBody>
          <a:bodyPr wrap="square" lIns="25400" tIns="25400" rIns="25400" bIns="25400" rtlCol="0" anchor="t">
            <a:normAutofit fontScale="92500" lnSpcReduction="100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One patient in every thirty is harmed by the medicines meant to help them</a:t>
            </a:r>
            <a:endParaRPr lang="en-US" sz="3975" dirty="0"/>
          </a:p>
        </p:txBody>
      </p:sp>
      <p:sp>
        <p:nvSpPr>
          <p:cNvPr id="5" name="Shape 2"/>
          <p:cNvSpPr/>
          <p:nvPr/>
        </p:nvSpPr>
        <p:spPr>
          <a:xfrm>
            <a:off x="857250" y="2580878"/>
            <a:ext cx="5346700" cy="6502202"/>
          </a:xfrm>
          <a:prstGeom prst="roundRect">
            <a:avLst>
              <a:gd name="adj" fmla="val 3563"/>
            </a:avLst>
          </a:prstGeom>
          <a:solidFill>
            <a:srgbClr val="FFFFFF"/>
          </a:solidFill>
          <a:ln/>
        </p:spPr>
      </p:sp>
      <p:sp>
        <p:nvSpPr>
          <p:cNvPr id="6" name="Shape 3"/>
          <p:cNvSpPr/>
          <p:nvPr/>
        </p:nvSpPr>
        <p:spPr>
          <a:xfrm>
            <a:off x="857250" y="9076730"/>
            <a:ext cx="5346700" cy="9525"/>
          </a:xfrm>
          <a:prstGeom prst="rect">
            <a:avLst/>
          </a:prstGeom>
          <a:solidFill>
            <a:srgbClr val="E1EEEC"/>
          </a:solidFill>
          <a:ln/>
        </p:spPr>
      </p:sp>
      <p:sp>
        <p:nvSpPr>
          <p:cNvPr id="7" name="Shape 4"/>
          <p:cNvSpPr/>
          <p:nvPr/>
        </p:nvSpPr>
        <p:spPr>
          <a:xfrm>
            <a:off x="857250" y="2580878"/>
            <a:ext cx="5346700" cy="44450"/>
          </a:xfrm>
          <a:prstGeom prst="rect">
            <a:avLst/>
          </a:prstGeom>
          <a:solidFill>
            <a:srgbClr val="016359"/>
          </a:solidFill>
          <a:ln/>
        </p:spPr>
      </p:sp>
      <p:sp>
        <p:nvSpPr>
          <p:cNvPr id="8" name="Shape 5"/>
          <p:cNvSpPr/>
          <p:nvPr/>
        </p:nvSpPr>
        <p:spPr>
          <a:xfrm>
            <a:off x="857250" y="2580878"/>
            <a:ext cx="9525" cy="6502202"/>
          </a:xfrm>
          <a:prstGeom prst="rect">
            <a:avLst/>
          </a:prstGeom>
          <a:solidFill>
            <a:srgbClr val="E1EEEC"/>
          </a:solidFill>
          <a:ln/>
        </p:spPr>
      </p:sp>
      <p:sp>
        <p:nvSpPr>
          <p:cNvPr id="9" name="Shape 6"/>
          <p:cNvSpPr/>
          <p:nvPr/>
        </p:nvSpPr>
        <p:spPr>
          <a:xfrm>
            <a:off x="6197600" y="2580878"/>
            <a:ext cx="9525" cy="6502202"/>
          </a:xfrm>
          <a:prstGeom prst="rect">
            <a:avLst/>
          </a:prstGeom>
          <a:solidFill>
            <a:srgbClr val="E1EEEC"/>
          </a:solidFill>
          <a:ln/>
        </p:spPr>
      </p:sp>
      <p:sp>
        <p:nvSpPr>
          <p:cNvPr id="10" name="Text 7"/>
          <p:cNvSpPr/>
          <p:nvPr/>
        </p:nvSpPr>
        <p:spPr>
          <a:xfrm>
            <a:off x="1244600" y="4584204"/>
            <a:ext cx="5029200" cy="762000"/>
          </a:xfrm>
          <a:prstGeom prst="rect">
            <a:avLst/>
          </a:prstGeom>
          <a:noFill/>
          <a:ln/>
        </p:spPr>
        <p:txBody>
          <a:bodyPr wrap="square" lIns="25400" tIns="25400" rIns="25400" bIns="25400" rtlCol="0" anchor="t">
            <a:normAutofit fontScale="92500" lnSpcReduction="10000"/>
          </a:bodyPr>
          <a:lstStyle/>
          <a:p>
            <a:pPr marL="0" indent="0" algn="l">
              <a:lnSpc>
                <a:spcPct val="91935"/>
              </a:lnSpc>
              <a:buNone/>
            </a:pPr>
            <a:r>
              <a:rPr lang="en-US" sz="5700" b="1" kern="0" spc="-171" dirty="0">
                <a:solidFill>
                  <a:srgbClr val="016359"/>
                </a:solidFill>
                <a:latin typeface="Inter" panose="02000503000000020004" pitchFamily="2" charset="0"/>
                <a:ea typeface="Inter" panose="02000503000000020004" pitchFamily="2" charset="0"/>
                <a:cs typeface="Archivo" pitchFamily="34" charset="-120"/>
              </a:rPr>
              <a:t>1 in 30</a:t>
            </a:r>
            <a:endParaRPr lang="en-US" sz="5700" dirty="0"/>
          </a:p>
        </p:txBody>
      </p:sp>
      <p:sp>
        <p:nvSpPr>
          <p:cNvPr id="11" name="Text 8"/>
          <p:cNvSpPr/>
          <p:nvPr/>
        </p:nvSpPr>
        <p:spPr>
          <a:xfrm>
            <a:off x="1244600" y="5517654"/>
            <a:ext cx="4709160" cy="1638300"/>
          </a:xfrm>
          <a:prstGeom prst="rect">
            <a:avLst/>
          </a:prstGeom>
          <a:noFill/>
          <a:ln/>
        </p:spPr>
        <p:txBody>
          <a:bodyPr wrap="square" lIns="25400" tIns="25400" rIns="25400" bIns="25400" rtlCol="0" anchor="t">
            <a:normAutofit/>
          </a:bodyPr>
          <a:lstStyle/>
          <a:p>
            <a:pPr marL="0" indent="0" algn="l">
              <a:lnSpc>
                <a:spcPct val="114545"/>
              </a:lnSpc>
              <a:buNone/>
            </a:pPr>
            <a:r>
              <a:rPr lang="en-US" sz="2100" dirty="0">
                <a:solidFill>
                  <a:srgbClr val="33464B"/>
                </a:solidFill>
                <a:latin typeface="Inter" panose="02000503000000020004" pitchFamily="2" charset="0"/>
                <a:ea typeface="Inter" panose="02000503000000020004" pitchFamily="2" charset="0"/>
                <a:cs typeface="IBM Plex Sans" pitchFamily="34" charset="-120"/>
              </a:rPr>
              <a:t>patients experience medication-related harm. More than a quarter of those cases are severe or life-threatening.</a:t>
            </a:r>
            <a:endParaRPr lang="en-US" sz="2100" dirty="0"/>
          </a:p>
        </p:txBody>
      </p:sp>
      <p:sp>
        <p:nvSpPr>
          <p:cNvPr id="12" name="Shape 9"/>
          <p:cNvSpPr/>
          <p:nvPr/>
        </p:nvSpPr>
        <p:spPr>
          <a:xfrm>
            <a:off x="6470650" y="2580878"/>
            <a:ext cx="5346700" cy="6502202"/>
          </a:xfrm>
          <a:prstGeom prst="roundRect">
            <a:avLst>
              <a:gd name="adj" fmla="val 3563"/>
            </a:avLst>
          </a:prstGeom>
          <a:solidFill>
            <a:srgbClr val="FFFFFF"/>
          </a:solidFill>
          <a:ln/>
        </p:spPr>
      </p:sp>
      <p:sp>
        <p:nvSpPr>
          <p:cNvPr id="13" name="Shape 10"/>
          <p:cNvSpPr/>
          <p:nvPr/>
        </p:nvSpPr>
        <p:spPr>
          <a:xfrm>
            <a:off x="6470650" y="9076730"/>
            <a:ext cx="5346700" cy="9525"/>
          </a:xfrm>
          <a:prstGeom prst="rect">
            <a:avLst/>
          </a:prstGeom>
          <a:solidFill>
            <a:srgbClr val="E1EEEC"/>
          </a:solidFill>
          <a:ln/>
        </p:spPr>
      </p:sp>
      <p:sp>
        <p:nvSpPr>
          <p:cNvPr id="14" name="Shape 11"/>
          <p:cNvSpPr/>
          <p:nvPr/>
        </p:nvSpPr>
        <p:spPr>
          <a:xfrm>
            <a:off x="6470650" y="2580878"/>
            <a:ext cx="5346700" cy="44450"/>
          </a:xfrm>
          <a:prstGeom prst="rect">
            <a:avLst/>
          </a:prstGeom>
          <a:solidFill>
            <a:srgbClr val="016359"/>
          </a:solidFill>
          <a:ln/>
        </p:spPr>
      </p:sp>
      <p:sp>
        <p:nvSpPr>
          <p:cNvPr id="15" name="Shape 12"/>
          <p:cNvSpPr/>
          <p:nvPr/>
        </p:nvSpPr>
        <p:spPr>
          <a:xfrm>
            <a:off x="6470650" y="2580878"/>
            <a:ext cx="9525" cy="6502202"/>
          </a:xfrm>
          <a:prstGeom prst="rect">
            <a:avLst/>
          </a:prstGeom>
          <a:solidFill>
            <a:srgbClr val="E1EEEC"/>
          </a:solidFill>
          <a:ln/>
        </p:spPr>
      </p:sp>
      <p:sp>
        <p:nvSpPr>
          <p:cNvPr id="16" name="Shape 13"/>
          <p:cNvSpPr/>
          <p:nvPr/>
        </p:nvSpPr>
        <p:spPr>
          <a:xfrm>
            <a:off x="11811001" y="2580878"/>
            <a:ext cx="9525" cy="6502202"/>
          </a:xfrm>
          <a:prstGeom prst="rect">
            <a:avLst/>
          </a:prstGeom>
          <a:solidFill>
            <a:srgbClr val="E1EEEC"/>
          </a:solidFill>
          <a:ln/>
        </p:spPr>
      </p:sp>
      <p:sp>
        <p:nvSpPr>
          <p:cNvPr id="17" name="Text 14"/>
          <p:cNvSpPr/>
          <p:nvPr/>
        </p:nvSpPr>
        <p:spPr>
          <a:xfrm>
            <a:off x="6858000" y="4784229"/>
            <a:ext cx="5029200" cy="762000"/>
          </a:xfrm>
          <a:prstGeom prst="rect">
            <a:avLst/>
          </a:prstGeom>
          <a:noFill/>
          <a:ln/>
        </p:spPr>
        <p:txBody>
          <a:bodyPr wrap="square" lIns="25400" tIns="25400" rIns="25400" bIns="25400" rtlCol="0" anchor="t">
            <a:normAutofit fontScale="92500" lnSpcReduction="10000"/>
          </a:bodyPr>
          <a:lstStyle/>
          <a:p>
            <a:pPr marL="0" indent="0" algn="l">
              <a:lnSpc>
                <a:spcPct val="91935"/>
              </a:lnSpc>
              <a:buNone/>
            </a:pPr>
            <a:r>
              <a:rPr lang="en-US" sz="5700" b="1" kern="0" spc="-171" dirty="0">
                <a:solidFill>
                  <a:srgbClr val="016359"/>
                </a:solidFill>
                <a:latin typeface="Inter" panose="02000503000000020004" pitchFamily="2" charset="0"/>
                <a:ea typeface="Inter" panose="02000503000000020004" pitchFamily="2" charset="0"/>
                <a:cs typeface="Archivo" pitchFamily="34" charset="-120"/>
              </a:rPr>
              <a:t>$42bn</a:t>
            </a:r>
            <a:endParaRPr lang="en-US" sz="5700" dirty="0"/>
          </a:p>
        </p:txBody>
      </p:sp>
      <p:sp>
        <p:nvSpPr>
          <p:cNvPr id="18" name="Text 15"/>
          <p:cNvSpPr/>
          <p:nvPr/>
        </p:nvSpPr>
        <p:spPr>
          <a:xfrm>
            <a:off x="6858000" y="5717679"/>
            <a:ext cx="4709160" cy="1238250"/>
          </a:xfrm>
          <a:prstGeom prst="rect">
            <a:avLst/>
          </a:prstGeom>
          <a:noFill/>
          <a:ln/>
        </p:spPr>
        <p:txBody>
          <a:bodyPr wrap="square" lIns="25400" tIns="25400" rIns="25400" bIns="25400" rtlCol="0" anchor="t">
            <a:normAutofit/>
          </a:bodyPr>
          <a:lstStyle/>
          <a:p>
            <a:pPr marL="0" indent="0" algn="l">
              <a:lnSpc>
                <a:spcPct val="114545"/>
              </a:lnSpc>
              <a:buNone/>
            </a:pPr>
            <a:r>
              <a:rPr lang="en-US" sz="2100" dirty="0">
                <a:solidFill>
                  <a:srgbClr val="33464B"/>
                </a:solidFill>
                <a:latin typeface="Inter" panose="02000503000000020004" pitchFamily="2" charset="0"/>
                <a:ea typeface="Inter" panose="02000503000000020004" pitchFamily="2" charset="0"/>
                <a:cs typeface="IBM Plex Sans" pitchFamily="34" charset="-120"/>
              </a:rPr>
              <a:t>is lost each year to unsafe medication practice, close to one per cent of global health spending.</a:t>
            </a:r>
            <a:endParaRPr lang="en-US" sz="2100" dirty="0"/>
          </a:p>
        </p:txBody>
      </p:sp>
      <p:sp>
        <p:nvSpPr>
          <p:cNvPr id="19" name="Shape 16"/>
          <p:cNvSpPr/>
          <p:nvPr/>
        </p:nvSpPr>
        <p:spPr>
          <a:xfrm>
            <a:off x="12084051" y="2580878"/>
            <a:ext cx="5346700" cy="6502202"/>
          </a:xfrm>
          <a:prstGeom prst="roundRect">
            <a:avLst>
              <a:gd name="adj" fmla="val 3563"/>
            </a:avLst>
          </a:prstGeom>
          <a:solidFill>
            <a:srgbClr val="FFFFFF"/>
          </a:solidFill>
          <a:ln/>
        </p:spPr>
      </p:sp>
      <p:sp>
        <p:nvSpPr>
          <p:cNvPr id="20" name="Shape 17"/>
          <p:cNvSpPr/>
          <p:nvPr/>
        </p:nvSpPr>
        <p:spPr>
          <a:xfrm>
            <a:off x="12084051" y="9076730"/>
            <a:ext cx="5346700" cy="9525"/>
          </a:xfrm>
          <a:prstGeom prst="rect">
            <a:avLst/>
          </a:prstGeom>
          <a:solidFill>
            <a:srgbClr val="E1EEEC"/>
          </a:solidFill>
          <a:ln/>
        </p:spPr>
      </p:sp>
      <p:sp>
        <p:nvSpPr>
          <p:cNvPr id="21" name="Shape 18"/>
          <p:cNvSpPr/>
          <p:nvPr/>
        </p:nvSpPr>
        <p:spPr>
          <a:xfrm>
            <a:off x="12084051" y="2580878"/>
            <a:ext cx="5346700" cy="44450"/>
          </a:xfrm>
          <a:prstGeom prst="rect">
            <a:avLst/>
          </a:prstGeom>
          <a:solidFill>
            <a:srgbClr val="D93639"/>
          </a:solidFill>
          <a:ln/>
        </p:spPr>
      </p:sp>
      <p:sp>
        <p:nvSpPr>
          <p:cNvPr id="22" name="Shape 19"/>
          <p:cNvSpPr/>
          <p:nvPr/>
        </p:nvSpPr>
        <p:spPr>
          <a:xfrm>
            <a:off x="12084051" y="2580878"/>
            <a:ext cx="9525" cy="6502202"/>
          </a:xfrm>
          <a:prstGeom prst="rect">
            <a:avLst/>
          </a:prstGeom>
          <a:solidFill>
            <a:srgbClr val="E1EEEC"/>
          </a:solidFill>
          <a:ln/>
        </p:spPr>
      </p:sp>
      <p:sp>
        <p:nvSpPr>
          <p:cNvPr id="23" name="Shape 20"/>
          <p:cNvSpPr/>
          <p:nvPr/>
        </p:nvSpPr>
        <p:spPr>
          <a:xfrm>
            <a:off x="17424401" y="2580878"/>
            <a:ext cx="9525" cy="6502202"/>
          </a:xfrm>
          <a:prstGeom prst="rect">
            <a:avLst/>
          </a:prstGeom>
          <a:solidFill>
            <a:srgbClr val="E1EEEC"/>
          </a:solidFill>
          <a:ln/>
        </p:spPr>
      </p:sp>
      <p:sp>
        <p:nvSpPr>
          <p:cNvPr id="24" name="Text 21"/>
          <p:cNvSpPr/>
          <p:nvPr/>
        </p:nvSpPr>
        <p:spPr>
          <a:xfrm>
            <a:off x="12471400" y="4784229"/>
            <a:ext cx="5029200" cy="762000"/>
          </a:xfrm>
          <a:prstGeom prst="rect">
            <a:avLst/>
          </a:prstGeom>
          <a:noFill/>
          <a:ln/>
        </p:spPr>
        <p:txBody>
          <a:bodyPr wrap="square" lIns="25400" tIns="25400" rIns="25400" bIns="25400" rtlCol="0" anchor="t">
            <a:normAutofit fontScale="92500" lnSpcReduction="10000"/>
          </a:bodyPr>
          <a:lstStyle/>
          <a:p>
            <a:pPr marL="0" indent="0" algn="l">
              <a:lnSpc>
                <a:spcPct val="91935"/>
              </a:lnSpc>
              <a:buNone/>
            </a:pPr>
            <a:r>
              <a:rPr lang="en-US" sz="5700" b="1" kern="0" spc="-171" dirty="0">
                <a:solidFill>
                  <a:srgbClr val="D93639"/>
                </a:solidFill>
                <a:latin typeface="Inter" panose="02000503000000020004" pitchFamily="2" charset="0"/>
                <a:ea typeface="Inter" panose="02000503000000020004" pitchFamily="2" charset="0"/>
                <a:cs typeface="Archivo" pitchFamily="34" charset="-120"/>
              </a:rPr>
              <a:t>50%</a:t>
            </a:r>
            <a:endParaRPr lang="en-US" sz="5700" dirty="0"/>
          </a:p>
        </p:txBody>
      </p:sp>
      <p:sp>
        <p:nvSpPr>
          <p:cNvPr id="25" name="Text 22"/>
          <p:cNvSpPr/>
          <p:nvPr/>
        </p:nvSpPr>
        <p:spPr>
          <a:xfrm>
            <a:off x="12471400" y="5717679"/>
            <a:ext cx="4709160" cy="1238250"/>
          </a:xfrm>
          <a:prstGeom prst="rect">
            <a:avLst/>
          </a:prstGeom>
          <a:noFill/>
          <a:ln/>
        </p:spPr>
        <p:txBody>
          <a:bodyPr wrap="square" lIns="25400" tIns="25400" rIns="25400" bIns="25400" rtlCol="0" anchor="t">
            <a:normAutofit/>
          </a:bodyPr>
          <a:lstStyle/>
          <a:p>
            <a:pPr marL="0" indent="0" algn="l">
              <a:lnSpc>
                <a:spcPct val="114545"/>
              </a:lnSpc>
              <a:buNone/>
            </a:pPr>
            <a:r>
              <a:rPr lang="en-US" sz="2100" dirty="0">
                <a:solidFill>
                  <a:srgbClr val="33464B"/>
                </a:solidFill>
                <a:latin typeface="Inter" panose="02000503000000020004" pitchFamily="2" charset="0"/>
                <a:ea typeface="Inter" panose="02000503000000020004" pitchFamily="2" charset="0"/>
                <a:cs typeface="IBM Plex Sans" pitchFamily="34" charset="-120"/>
              </a:rPr>
              <a:t>of all preventable patient harm is caused by medicines, and most of it is avoidable.</a:t>
            </a:r>
            <a:endParaRPr lang="en-US" sz="2100" dirty="0"/>
          </a:p>
        </p:txBody>
      </p:sp>
      <p:sp>
        <p:nvSpPr>
          <p:cNvPr id="26" name="Text 23"/>
          <p:cNvSpPr/>
          <p:nvPr/>
        </p:nvSpPr>
        <p:spPr>
          <a:xfrm>
            <a:off x="857250" y="9330730"/>
            <a:ext cx="18230850" cy="384770"/>
          </a:xfrm>
          <a:prstGeom prst="rect">
            <a:avLst/>
          </a:prstGeom>
          <a:noFill/>
          <a:ln/>
        </p:spPr>
        <p:txBody>
          <a:bodyPr wrap="square" lIns="25400" tIns="25400" rIns="25400" bIns="25400" rtlCol="0" anchor="t">
            <a:normAutofit/>
          </a:bodyPr>
          <a:lstStyle/>
          <a:p>
            <a:pPr marL="0" indent="0" algn="l">
              <a:lnSpc>
                <a:spcPct val="107059"/>
              </a:lnSpc>
              <a:buNone/>
            </a:pPr>
            <a:r>
              <a:rPr lang="en-US" sz="1950" dirty="0">
                <a:solidFill>
                  <a:srgbClr val="6F7D81"/>
                </a:solidFill>
                <a:latin typeface="Inter" panose="02000503000000020004" pitchFamily="2" charset="0"/>
                <a:ea typeface="Inter" panose="02000503000000020004" pitchFamily="2" charset="0"/>
                <a:cs typeface="IBM Plex Sans" pitchFamily="34" charset="-120"/>
              </a:rPr>
              <a:t>World Health Organisation, 2021 and 2023</a:t>
            </a:r>
            <a:endParaRPr lang="en-US" sz="1950" dirty="0"/>
          </a:p>
        </p:txBody>
      </p:sp>
      <p:sp>
        <p:nvSpPr>
          <p:cNvPr id="27" name="Shape 0">
            <a:extLst>
              <a:ext uri="{FF2B5EF4-FFF2-40B4-BE49-F238E27FC236}">
                <a16:creationId xmlns:a16="http://schemas.microsoft.com/office/drawing/2014/main" id="{DDB9D5F7-987A-3F39-D7DD-0C3F217D5FFE}"/>
              </a:ext>
            </a:extLst>
          </p:cNvPr>
          <p:cNvSpPr/>
          <p:nvPr/>
        </p:nvSpPr>
        <p:spPr>
          <a:xfrm>
            <a:off x="914400" y="710826"/>
            <a:ext cx="133350" cy="133350"/>
          </a:xfrm>
          <a:prstGeom prst="rect">
            <a:avLst/>
          </a:prstGeom>
          <a:solidFill>
            <a:srgbClr val="0B5C4A"/>
          </a:solidFill>
          <a:ln/>
        </p:spPr>
      </p:sp>
      <p:sp>
        <p:nvSpPr>
          <p:cNvPr id="28" name="Text 1">
            <a:extLst>
              <a:ext uri="{FF2B5EF4-FFF2-40B4-BE49-F238E27FC236}">
                <a16:creationId xmlns:a16="http://schemas.microsoft.com/office/drawing/2014/main" id="{A87C4DE0-B7DA-773B-94F9-CD945949773C}"/>
              </a:ext>
            </a:extLst>
          </p:cNvPr>
          <p:cNvSpPr/>
          <p:nvPr/>
        </p:nvSpPr>
        <p:spPr>
          <a:xfrm>
            <a:off x="1219200" y="574114"/>
            <a:ext cx="3937000"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O</a:t>
            </a:r>
            <a:r>
              <a:rPr lang="en-US" sz="2400" dirty="0">
                <a:solidFill>
                  <a:srgbClr val="0B5C4A"/>
                </a:solidFill>
                <a:latin typeface="Inter" pitchFamily="34" charset="0"/>
                <a:ea typeface="Inter" pitchFamily="34" charset="-122"/>
              </a:rPr>
              <a:t>PENING CONTEXT</a:t>
            </a:r>
            <a:endParaRPr lang="en-US" sz="2400" dirty="0"/>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609600"/>
            <a:ext cx="814388" cy="247650"/>
          </a:xfrm>
          <a:prstGeom prst="rect">
            <a:avLst/>
          </a:prstGeom>
        </p:spPr>
      </p:pic>
      <p:sp>
        <p:nvSpPr>
          <p:cNvPr id="4" name="Text 1"/>
          <p:cNvSpPr/>
          <p:nvPr/>
        </p:nvSpPr>
        <p:spPr>
          <a:xfrm>
            <a:off x="857250" y="1028700"/>
            <a:ext cx="1634490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The checking burden grows fastest where the support is thinnest</a:t>
            </a:r>
            <a:endParaRPr lang="en-US" sz="3975" dirty="0"/>
          </a:p>
        </p:txBody>
      </p:sp>
      <p:sp>
        <p:nvSpPr>
          <p:cNvPr id="5" name="Shape 2"/>
          <p:cNvSpPr/>
          <p:nvPr/>
        </p:nvSpPr>
        <p:spPr>
          <a:xfrm>
            <a:off x="857250" y="1919089"/>
            <a:ext cx="8130977" cy="7758311"/>
          </a:xfrm>
          <a:prstGeom prst="roundRect">
            <a:avLst>
              <a:gd name="adj" fmla="val 2455"/>
            </a:avLst>
          </a:prstGeom>
          <a:solidFill>
            <a:srgbClr val="FFFFFF"/>
          </a:solidFill>
          <a:ln w="6350">
            <a:solidFill>
              <a:srgbClr val="E1EEEC"/>
            </a:solidFill>
            <a:prstDash val="solid"/>
          </a:ln>
        </p:spPr>
      </p:sp>
      <p:sp>
        <p:nvSpPr>
          <p:cNvPr id="6" name="Text 3"/>
          <p:cNvSpPr/>
          <p:nvPr/>
        </p:nvSpPr>
        <p:spPr>
          <a:xfrm>
            <a:off x="1206500" y="2249289"/>
            <a:ext cx="8175724"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Pairs a prescriber must check</a:t>
            </a:r>
            <a:endParaRPr lang="en-US" sz="2325" dirty="0"/>
          </a:p>
        </p:txBody>
      </p:sp>
      <p:sp>
        <p:nvSpPr>
          <p:cNvPr id="7" name="Text 4"/>
          <p:cNvSpPr/>
          <p:nvPr/>
        </p:nvSpPr>
        <p:spPr>
          <a:xfrm>
            <a:off x="1206500" y="3604022"/>
            <a:ext cx="1219200" cy="295275"/>
          </a:xfrm>
          <a:prstGeom prst="rect">
            <a:avLst/>
          </a:prstGeom>
          <a:noFill/>
          <a:ln/>
        </p:spPr>
        <p:txBody>
          <a:bodyPr wrap="square" lIns="25400" tIns="25400" rIns="25400" bIns="25400" rtlCol="0" anchor="t">
            <a:normAutofit/>
          </a:bodyPr>
          <a:lstStyle/>
          <a:p>
            <a:pPr marL="0" indent="0" algn="l">
              <a:lnSpc>
                <a:spcPct val="76415"/>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2 drugs</a:t>
            </a:r>
            <a:endParaRPr lang="en-US" sz="2025" dirty="0"/>
          </a:p>
        </p:txBody>
      </p:sp>
      <p:sp>
        <p:nvSpPr>
          <p:cNvPr id="8" name="Shape 5"/>
          <p:cNvSpPr/>
          <p:nvPr/>
        </p:nvSpPr>
        <p:spPr>
          <a:xfrm>
            <a:off x="2540000" y="3599259"/>
            <a:ext cx="114300" cy="266700"/>
          </a:xfrm>
          <a:prstGeom prst="roundRect">
            <a:avLst>
              <a:gd name="adj" fmla="val 41667"/>
            </a:avLst>
          </a:prstGeom>
          <a:solidFill>
            <a:srgbClr val="D1E8E5"/>
          </a:solidFill>
          <a:ln/>
        </p:spPr>
      </p:sp>
      <p:sp>
        <p:nvSpPr>
          <p:cNvPr id="9" name="Text 6"/>
          <p:cNvSpPr/>
          <p:nvPr/>
        </p:nvSpPr>
        <p:spPr>
          <a:xfrm>
            <a:off x="2844800" y="3594497"/>
            <a:ext cx="235347" cy="314325"/>
          </a:xfrm>
          <a:prstGeom prst="rect">
            <a:avLst/>
          </a:prstGeom>
          <a:noFill/>
          <a:ln/>
        </p:spPr>
        <p:txBody>
          <a:bodyPr wrap="square" lIns="25400" tIns="25400" rIns="25400" bIns="25400" rtlCol="0" anchor="t">
            <a:normAutofit fontScale="92500" lnSpcReduction="10000"/>
          </a:bodyPr>
          <a:lstStyle/>
          <a:p>
            <a:pPr marL="0" indent="0" algn="l">
              <a:lnSpc>
                <a:spcPct val="92553"/>
              </a:lnSpc>
              <a:buNone/>
            </a:pPr>
            <a:r>
              <a:rPr lang="en-US" sz="2175" b="1" dirty="0">
                <a:solidFill>
                  <a:srgbClr val="016359"/>
                </a:solidFill>
                <a:latin typeface="Inter" panose="02000503000000020004" pitchFamily="2" charset="0"/>
                <a:ea typeface="Inter" panose="02000503000000020004" pitchFamily="2" charset="0"/>
                <a:cs typeface="Archivo" pitchFamily="34" charset="-120"/>
              </a:rPr>
              <a:t>1</a:t>
            </a:r>
            <a:endParaRPr lang="en-US" sz="2175" dirty="0"/>
          </a:p>
        </p:txBody>
      </p:sp>
      <p:sp>
        <p:nvSpPr>
          <p:cNvPr id="10" name="Text 7"/>
          <p:cNvSpPr/>
          <p:nvPr/>
        </p:nvSpPr>
        <p:spPr>
          <a:xfrm>
            <a:off x="1206500" y="4651276"/>
            <a:ext cx="1219200" cy="295275"/>
          </a:xfrm>
          <a:prstGeom prst="rect">
            <a:avLst/>
          </a:prstGeom>
          <a:noFill/>
          <a:ln/>
        </p:spPr>
        <p:txBody>
          <a:bodyPr wrap="square" lIns="25400" tIns="25400" rIns="25400" bIns="25400" rtlCol="0" anchor="t">
            <a:normAutofit/>
          </a:bodyPr>
          <a:lstStyle/>
          <a:p>
            <a:pPr marL="0" indent="0" algn="l">
              <a:lnSpc>
                <a:spcPct val="76415"/>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5 drugs</a:t>
            </a:r>
            <a:endParaRPr lang="en-US" sz="2025" dirty="0"/>
          </a:p>
        </p:txBody>
      </p:sp>
      <p:sp>
        <p:nvSpPr>
          <p:cNvPr id="11" name="Shape 8"/>
          <p:cNvSpPr/>
          <p:nvPr/>
        </p:nvSpPr>
        <p:spPr>
          <a:xfrm>
            <a:off x="2540000" y="4646513"/>
            <a:ext cx="914400" cy="266700"/>
          </a:xfrm>
          <a:prstGeom prst="roundRect">
            <a:avLst>
              <a:gd name="adj" fmla="val 17857"/>
            </a:avLst>
          </a:prstGeom>
          <a:solidFill>
            <a:srgbClr val="8FCCC4"/>
          </a:solidFill>
          <a:ln/>
        </p:spPr>
      </p:sp>
      <p:sp>
        <p:nvSpPr>
          <p:cNvPr id="12" name="Text 9"/>
          <p:cNvSpPr/>
          <p:nvPr/>
        </p:nvSpPr>
        <p:spPr>
          <a:xfrm>
            <a:off x="3644900" y="4641751"/>
            <a:ext cx="394196" cy="314325"/>
          </a:xfrm>
          <a:prstGeom prst="rect">
            <a:avLst/>
          </a:prstGeom>
          <a:noFill/>
          <a:ln/>
        </p:spPr>
        <p:txBody>
          <a:bodyPr wrap="square" lIns="25400" tIns="25400" rIns="25400" bIns="25400" rtlCol="0" anchor="t">
            <a:normAutofit fontScale="92500" lnSpcReduction="10000"/>
          </a:bodyPr>
          <a:lstStyle/>
          <a:p>
            <a:pPr marL="0" indent="0" algn="l">
              <a:lnSpc>
                <a:spcPct val="92553"/>
              </a:lnSpc>
              <a:buNone/>
            </a:pPr>
            <a:r>
              <a:rPr lang="en-US" sz="2175" b="1" dirty="0">
                <a:solidFill>
                  <a:srgbClr val="016359"/>
                </a:solidFill>
                <a:latin typeface="Inter" panose="02000503000000020004" pitchFamily="2" charset="0"/>
                <a:ea typeface="Inter" panose="02000503000000020004" pitchFamily="2" charset="0"/>
                <a:cs typeface="Archivo" pitchFamily="34" charset="-120"/>
              </a:rPr>
              <a:t>10</a:t>
            </a:r>
            <a:endParaRPr lang="en-US" sz="2175" dirty="0"/>
          </a:p>
        </p:txBody>
      </p:sp>
      <p:sp>
        <p:nvSpPr>
          <p:cNvPr id="13" name="Text 10"/>
          <p:cNvSpPr/>
          <p:nvPr/>
        </p:nvSpPr>
        <p:spPr>
          <a:xfrm>
            <a:off x="1206500" y="5698530"/>
            <a:ext cx="1219200" cy="295275"/>
          </a:xfrm>
          <a:prstGeom prst="rect">
            <a:avLst/>
          </a:prstGeom>
          <a:noFill/>
          <a:ln/>
        </p:spPr>
        <p:txBody>
          <a:bodyPr wrap="square" lIns="25400" tIns="25400" rIns="25400" bIns="25400" rtlCol="0" anchor="t">
            <a:normAutofit/>
          </a:bodyPr>
          <a:lstStyle/>
          <a:p>
            <a:pPr marL="0" indent="0" algn="l">
              <a:lnSpc>
                <a:spcPct val="76415"/>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8 drugs</a:t>
            </a:r>
            <a:endParaRPr lang="en-US" sz="2025" dirty="0"/>
          </a:p>
        </p:txBody>
      </p:sp>
      <p:sp>
        <p:nvSpPr>
          <p:cNvPr id="14" name="Shape 11"/>
          <p:cNvSpPr/>
          <p:nvPr/>
        </p:nvSpPr>
        <p:spPr>
          <a:xfrm>
            <a:off x="2540000" y="5693768"/>
            <a:ext cx="2286000" cy="266700"/>
          </a:xfrm>
          <a:prstGeom prst="roundRect">
            <a:avLst>
              <a:gd name="adj" fmla="val 17857"/>
            </a:avLst>
          </a:prstGeom>
          <a:solidFill>
            <a:srgbClr val="0C7A70"/>
          </a:solidFill>
          <a:ln/>
        </p:spPr>
      </p:sp>
      <p:sp>
        <p:nvSpPr>
          <p:cNvPr id="15" name="Text 12"/>
          <p:cNvSpPr/>
          <p:nvPr/>
        </p:nvSpPr>
        <p:spPr>
          <a:xfrm>
            <a:off x="5016500" y="5689005"/>
            <a:ext cx="394494" cy="314325"/>
          </a:xfrm>
          <a:prstGeom prst="rect">
            <a:avLst/>
          </a:prstGeom>
          <a:noFill/>
          <a:ln/>
        </p:spPr>
        <p:txBody>
          <a:bodyPr wrap="square" lIns="25400" tIns="25400" rIns="25400" bIns="25400" rtlCol="0" anchor="t">
            <a:normAutofit fontScale="92500" lnSpcReduction="10000"/>
          </a:bodyPr>
          <a:lstStyle/>
          <a:p>
            <a:pPr marL="0" indent="0" algn="l">
              <a:lnSpc>
                <a:spcPct val="92553"/>
              </a:lnSpc>
              <a:buNone/>
            </a:pPr>
            <a:r>
              <a:rPr lang="en-US" sz="2175" b="1" dirty="0">
                <a:solidFill>
                  <a:srgbClr val="016359"/>
                </a:solidFill>
                <a:latin typeface="Inter" panose="02000503000000020004" pitchFamily="2" charset="0"/>
                <a:ea typeface="Inter" panose="02000503000000020004" pitchFamily="2" charset="0"/>
                <a:cs typeface="Archivo" pitchFamily="34" charset="-120"/>
              </a:rPr>
              <a:t>28</a:t>
            </a:r>
            <a:endParaRPr lang="en-US" sz="2175" dirty="0"/>
          </a:p>
        </p:txBody>
      </p:sp>
      <p:sp>
        <p:nvSpPr>
          <p:cNvPr id="16" name="Text 13"/>
          <p:cNvSpPr/>
          <p:nvPr/>
        </p:nvSpPr>
        <p:spPr>
          <a:xfrm>
            <a:off x="1206500" y="6745685"/>
            <a:ext cx="1219200" cy="295275"/>
          </a:xfrm>
          <a:prstGeom prst="rect">
            <a:avLst/>
          </a:prstGeom>
          <a:noFill/>
          <a:ln/>
        </p:spPr>
        <p:txBody>
          <a:bodyPr wrap="square" lIns="25400" tIns="25400" rIns="25400" bIns="25400" rtlCol="0" anchor="t">
            <a:normAutofit/>
          </a:bodyPr>
          <a:lstStyle/>
          <a:p>
            <a:pPr marL="0" indent="0" algn="l">
              <a:lnSpc>
                <a:spcPct val="76415"/>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10 drugs</a:t>
            </a:r>
            <a:endParaRPr lang="en-US" sz="2025" dirty="0"/>
          </a:p>
        </p:txBody>
      </p:sp>
      <p:sp>
        <p:nvSpPr>
          <p:cNvPr id="17" name="Shape 14"/>
          <p:cNvSpPr/>
          <p:nvPr/>
        </p:nvSpPr>
        <p:spPr>
          <a:xfrm>
            <a:off x="2540000" y="6740922"/>
            <a:ext cx="3524250" cy="266700"/>
          </a:xfrm>
          <a:prstGeom prst="roundRect">
            <a:avLst>
              <a:gd name="adj" fmla="val 17857"/>
            </a:avLst>
          </a:prstGeom>
          <a:solidFill>
            <a:srgbClr val="D93639"/>
          </a:solidFill>
          <a:ln/>
        </p:spPr>
      </p:sp>
      <p:sp>
        <p:nvSpPr>
          <p:cNvPr id="18" name="Text 15"/>
          <p:cNvSpPr/>
          <p:nvPr/>
        </p:nvSpPr>
        <p:spPr>
          <a:xfrm>
            <a:off x="6254750" y="6736160"/>
            <a:ext cx="394494" cy="314325"/>
          </a:xfrm>
          <a:prstGeom prst="rect">
            <a:avLst/>
          </a:prstGeom>
          <a:noFill/>
          <a:ln/>
        </p:spPr>
        <p:txBody>
          <a:bodyPr wrap="square" lIns="25400" tIns="25400" rIns="25400" bIns="25400" rtlCol="0" anchor="t">
            <a:normAutofit fontScale="92500" lnSpcReduction="10000"/>
          </a:bodyPr>
          <a:lstStyle/>
          <a:p>
            <a:pPr marL="0" indent="0" algn="l">
              <a:lnSpc>
                <a:spcPct val="92553"/>
              </a:lnSpc>
              <a:buNone/>
            </a:pPr>
            <a:r>
              <a:rPr lang="en-US" sz="2175" b="1" dirty="0">
                <a:solidFill>
                  <a:srgbClr val="D93639"/>
                </a:solidFill>
                <a:latin typeface="Inter" panose="02000503000000020004" pitchFamily="2" charset="0"/>
                <a:ea typeface="Inter" panose="02000503000000020004" pitchFamily="2" charset="0"/>
                <a:cs typeface="Archivo" pitchFamily="34" charset="-120"/>
              </a:rPr>
              <a:t>45</a:t>
            </a:r>
            <a:endParaRPr lang="en-US" sz="2175" dirty="0"/>
          </a:p>
        </p:txBody>
      </p:sp>
      <p:sp>
        <p:nvSpPr>
          <p:cNvPr id="19" name="Shape 16"/>
          <p:cNvSpPr/>
          <p:nvPr/>
        </p:nvSpPr>
        <p:spPr>
          <a:xfrm>
            <a:off x="1206500" y="7974013"/>
            <a:ext cx="7432477" cy="9525"/>
          </a:xfrm>
          <a:prstGeom prst="rect">
            <a:avLst/>
          </a:prstGeom>
          <a:solidFill>
            <a:srgbClr val="E1EEEC"/>
          </a:solidFill>
          <a:ln/>
        </p:spPr>
      </p:sp>
      <p:sp>
        <p:nvSpPr>
          <p:cNvPr id="20" name="Text 17"/>
          <p:cNvSpPr/>
          <p:nvPr/>
        </p:nvSpPr>
        <p:spPr>
          <a:xfrm>
            <a:off x="1206500" y="8189913"/>
            <a:ext cx="7655451" cy="1195388"/>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Polypharmacy runs at 37% generally and 45% among older adults. DrugBank 6.0 documents 1.4 million interactions across 11,900 drugs.</a:t>
            </a:r>
            <a:endParaRPr lang="en-US" sz="2025" dirty="0"/>
          </a:p>
        </p:txBody>
      </p:sp>
      <p:sp>
        <p:nvSpPr>
          <p:cNvPr id="21" name="Shape 18"/>
          <p:cNvSpPr/>
          <p:nvPr/>
        </p:nvSpPr>
        <p:spPr>
          <a:xfrm>
            <a:off x="9254927" y="1919089"/>
            <a:ext cx="3992662" cy="2414687"/>
          </a:xfrm>
          <a:prstGeom prst="roundRect">
            <a:avLst>
              <a:gd name="adj" fmla="val 7100"/>
            </a:avLst>
          </a:prstGeom>
          <a:solidFill>
            <a:srgbClr val="FFFFFF"/>
          </a:solidFill>
          <a:ln w="6350">
            <a:solidFill>
              <a:srgbClr val="E1EEEC"/>
            </a:solidFill>
            <a:prstDash val="solid"/>
          </a:ln>
        </p:spPr>
      </p:sp>
      <p:sp>
        <p:nvSpPr>
          <p:cNvPr id="22" name="Text 19"/>
          <p:cNvSpPr/>
          <p:nvPr/>
        </p:nvSpPr>
        <p:spPr>
          <a:xfrm>
            <a:off x="9547027" y="2472035"/>
            <a:ext cx="3749308" cy="495300"/>
          </a:xfrm>
          <a:prstGeom prst="rect">
            <a:avLst/>
          </a:prstGeom>
          <a:noFill/>
          <a:ln/>
        </p:spPr>
        <p:txBody>
          <a:bodyPr wrap="square" lIns="25400" tIns="25400" rIns="25400" bIns="25400" rtlCol="0" anchor="t">
            <a:normAutofit fontScale="92500" lnSpcReduction="10000"/>
          </a:bodyPr>
          <a:lstStyle/>
          <a:p>
            <a:pPr marL="0" indent="0" algn="l">
              <a:lnSpc>
                <a:spcPct val="92308"/>
              </a:lnSpc>
              <a:buNone/>
            </a:pPr>
            <a:r>
              <a:rPr lang="en-US" sz="3600" b="1" kern="0" spc="-108" dirty="0">
                <a:solidFill>
                  <a:srgbClr val="152428"/>
                </a:solidFill>
                <a:latin typeface="Inter" panose="02000503000000020004" pitchFamily="2" charset="0"/>
                <a:ea typeface="Inter" panose="02000503000000020004" pitchFamily="2" charset="0"/>
                <a:cs typeface="Archivo" pitchFamily="34" charset="-120"/>
              </a:rPr>
              <a:t>0.53</a:t>
            </a:r>
            <a:endParaRPr lang="en-US" sz="3600" dirty="0"/>
          </a:p>
        </p:txBody>
      </p:sp>
      <p:sp>
        <p:nvSpPr>
          <p:cNvPr id="23" name="Text 20"/>
          <p:cNvSpPr/>
          <p:nvPr/>
        </p:nvSpPr>
        <p:spPr>
          <a:xfrm>
            <a:off x="9547027" y="3062585"/>
            <a:ext cx="3510716" cy="756245"/>
          </a:xfrm>
          <a:prstGeom prst="rect">
            <a:avLst/>
          </a:prstGeom>
          <a:noFill/>
          <a:ln/>
        </p:spPr>
        <p:txBody>
          <a:bodyPr wrap="square" lIns="25400" tIns="25400" rIns="25400" bIns="25400" rtlCol="0" anchor="t">
            <a:normAutofit/>
          </a:bodyPr>
          <a:lstStyle/>
          <a:p>
            <a:pPr marL="0" indent="0" algn="l">
              <a:lnSpc>
                <a:spcPct val="110882"/>
              </a:lnSpc>
              <a:buNone/>
            </a:pPr>
            <a:r>
              <a:rPr lang="en-US" sz="1950" dirty="0">
                <a:solidFill>
                  <a:srgbClr val="6F7D81"/>
                </a:solidFill>
                <a:latin typeface="Inter" panose="02000503000000020004" pitchFamily="2" charset="0"/>
                <a:ea typeface="Inter" panose="02000503000000020004" pitchFamily="2" charset="0"/>
                <a:cs typeface="IBM Plex Sans" pitchFamily="34" charset="-120"/>
              </a:rPr>
              <a:t>pharmacists per 10,000 people</a:t>
            </a:r>
            <a:endParaRPr lang="en-US" sz="1950" dirty="0"/>
          </a:p>
        </p:txBody>
      </p:sp>
      <p:sp>
        <p:nvSpPr>
          <p:cNvPr id="24" name="Shape 21"/>
          <p:cNvSpPr/>
          <p:nvPr/>
        </p:nvSpPr>
        <p:spPr>
          <a:xfrm>
            <a:off x="13438089" y="1919089"/>
            <a:ext cx="3992662" cy="2414687"/>
          </a:xfrm>
          <a:prstGeom prst="roundRect">
            <a:avLst>
              <a:gd name="adj" fmla="val 7100"/>
            </a:avLst>
          </a:prstGeom>
          <a:solidFill>
            <a:srgbClr val="FFFFFF"/>
          </a:solidFill>
          <a:ln w="6350">
            <a:solidFill>
              <a:srgbClr val="E1EEEC"/>
            </a:solidFill>
            <a:prstDash val="solid"/>
          </a:ln>
        </p:spPr>
      </p:sp>
      <p:sp>
        <p:nvSpPr>
          <p:cNvPr id="25" name="Text 22"/>
          <p:cNvSpPr/>
          <p:nvPr/>
        </p:nvSpPr>
        <p:spPr>
          <a:xfrm>
            <a:off x="13730189" y="2472035"/>
            <a:ext cx="3749308" cy="495300"/>
          </a:xfrm>
          <a:prstGeom prst="rect">
            <a:avLst/>
          </a:prstGeom>
          <a:noFill/>
          <a:ln/>
        </p:spPr>
        <p:txBody>
          <a:bodyPr wrap="square" lIns="25400" tIns="25400" rIns="25400" bIns="25400" rtlCol="0" anchor="t">
            <a:normAutofit fontScale="92500" lnSpcReduction="10000"/>
          </a:bodyPr>
          <a:lstStyle/>
          <a:p>
            <a:pPr marL="0" indent="0" algn="l">
              <a:lnSpc>
                <a:spcPct val="92308"/>
              </a:lnSpc>
              <a:buNone/>
            </a:pPr>
            <a:r>
              <a:rPr lang="en-US" sz="3600" b="1" kern="0" spc="-108" dirty="0">
                <a:solidFill>
                  <a:srgbClr val="152428"/>
                </a:solidFill>
                <a:latin typeface="Inter" panose="02000503000000020004" pitchFamily="2" charset="0"/>
                <a:ea typeface="Inter" panose="02000503000000020004" pitchFamily="2" charset="0"/>
                <a:cs typeface="Archivo" pitchFamily="34" charset="-120"/>
              </a:rPr>
              <a:t>74.7%</a:t>
            </a:r>
            <a:endParaRPr lang="en-US" sz="3600" dirty="0"/>
          </a:p>
        </p:txBody>
      </p:sp>
      <p:sp>
        <p:nvSpPr>
          <p:cNvPr id="26" name="Text 23"/>
          <p:cNvSpPr/>
          <p:nvPr/>
        </p:nvSpPr>
        <p:spPr>
          <a:xfrm>
            <a:off x="13730189" y="3062585"/>
            <a:ext cx="3510716" cy="756245"/>
          </a:xfrm>
          <a:prstGeom prst="rect">
            <a:avLst/>
          </a:prstGeom>
          <a:noFill/>
          <a:ln/>
        </p:spPr>
        <p:txBody>
          <a:bodyPr wrap="square" lIns="25400" tIns="25400" rIns="25400" bIns="25400" rtlCol="0" anchor="t">
            <a:normAutofit/>
          </a:bodyPr>
          <a:lstStyle/>
          <a:p>
            <a:pPr marL="0" indent="0" algn="l">
              <a:lnSpc>
                <a:spcPct val="110882"/>
              </a:lnSpc>
              <a:buNone/>
            </a:pPr>
            <a:r>
              <a:rPr lang="en-US" sz="1950" dirty="0">
                <a:solidFill>
                  <a:srgbClr val="6F7D81"/>
                </a:solidFill>
                <a:latin typeface="Inter" panose="02000503000000020004" pitchFamily="2" charset="0"/>
                <a:ea typeface="Inter" panose="02000503000000020004" pitchFamily="2" charset="0"/>
                <a:cs typeface="IBM Plex Sans" pitchFamily="34" charset="-120"/>
              </a:rPr>
              <a:t>of health spending paid out of pocket</a:t>
            </a:r>
            <a:endParaRPr lang="en-US" sz="1950" dirty="0"/>
          </a:p>
        </p:txBody>
      </p:sp>
      <p:sp>
        <p:nvSpPr>
          <p:cNvPr id="27" name="Shape 24"/>
          <p:cNvSpPr/>
          <p:nvPr/>
        </p:nvSpPr>
        <p:spPr>
          <a:xfrm>
            <a:off x="9254927" y="4524276"/>
            <a:ext cx="3992662" cy="2761159"/>
          </a:xfrm>
          <a:prstGeom prst="roundRect">
            <a:avLst>
              <a:gd name="adj" fmla="val 6209"/>
            </a:avLst>
          </a:prstGeom>
          <a:solidFill>
            <a:srgbClr val="003F39"/>
          </a:solidFill>
          <a:ln/>
        </p:spPr>
      </p:sp>
      <p:sp>
        <p:nvSpPr>
          <p:cNvPr id="28" name="Text 25"/>
          <p:cNvSpPr/>
          <p:nvPr/>
        </p:nvSpPr>
        <p:spPr>
          <a:xfrm>
            <a:off x="9540677" y="5070971"/>
            <a:ext cx="3763278" cy="495300"/>
          </a:xfrm>
          <a:prstGeom prst="rect">
            <a:avLst/>
          </a:prstGeom>
          <a:noFill/>
          <a:ln/>
        </p:spPr>
        <p:txBody>
          <a:bodyPr wrap="square" lIns="25400" tIns="25400" rIns="25400" bIns="25400" rtlCol="0" anchor="t">
            <a:normAutofit fontScale="92500" lnSpcReduction="10000"/>
          </a:bodyPr>
          <a:lstStyle/>
          <a:p>
            <a:pPr marL="0" indent="0" algn="l">
              <a:lnSpc>
                <a:spcPct val="92308"/>
              </a:lnSpc>
              <a:buNone/>
            </a:pPr>
            <a:r>
              <a:rPr lang="en-US" sz="3600" b="1" kern="0" spc="-108" dirty="0">
                <a:solidFill>
                  <a:srgbClr val="FFFFFF"/>
                </a:solidFill>
                <a:latin typeface="Inter" panose="02000503000000020004" pitchFamily="2" charset="0"/>
                <a:ea typeface="Inter" panose="02000503000000020004" pitchFamily="2" charset="0"/>
                <a:cs typeface="Archivo" pitchFamily="34" charset="-120"/>
              </a:rPr>
              <a:t>50.5%</a:t>
            </a:r>
            <a:endParaRPr lang="en-US" sz="3600" dirty="0"/>
          </a:p>
        </p:txBody>
      </p:sp>
      <p:sp>
        <p:nvSpPr>
          <p:cNvPr id="29" name="Text 26"/>
          <p:cNvSpPr/>
          <p:nvPr/>
        </p:nvSpPr>
        <p:spPr>
          <a:xfrm>
            <a:off x="9540677" y="5661521"/>
            <a:ext cx="3523797" cy="1115318"/>
          </a:xfrm>
          <a:prstGeom prst="rect">
            <a:avLst/>
          </a:prstGeom>
          <a:noFill/>
          <a:ln/>
        </p:spPr>
        <p:txBody>
          <a:bodyPr wrap="square" lIns="25400" tIns="25400" rIns="25400" bIns="25400" rtlCol="0" anchor="t">
            <a:normAutofit/>
          </a:bodyPr>
          <a:lstStyle/>
          <a:p>
            <a:pPr marL="0" indent="0" algn="l">
              <a:lnSpc>
                <a:spcPct val="110882"/>
              </a:lnSpc>
              <a:buNone/>
            </a:pPr>
            <a:r>
              <a:rPr lang="en-US" sz="1950" dirty="0">
                <a:solidFill>
                  <a:srgbClr val="B8D6D1"/>
                </a:solidFill>
                <a:latin typeface="Inter" panose="02000503000000020004" pitchFamily="2" charset="0"/>
                <a:ea typeface="Inter" panose="02000503000000020004" pitchFamily="2" charset="0"/>
                <a:cs typeface="IBM Plex Sans" pitchFamily="34" charset="-120"/>
              </a:rPr>
              <a:t>of 430 Benin City admissions carried an interaction on day one</a:t>
            </a:r>
            <a:endParaRPr lang="en-US" sz="1950" dirty="0"/>
          </a:p>
        </p:txBody>
      </p:sp>
      <p:sp>
        <p:nvSpPr>
          <p:cNvPr id="30" name="Shape 27"/>
          <p:cNvSpPr/>
          <p:nvPr/>
        </p:nvSpPr>
        <p:spPr>
          <a:xfrm>
            <a:off x="13438089" y="4524276"/>
            <a:ext cx="3992662" cy="2761159"/>
          </a:xfrm>
          <a:prstGeom prst="roundRect">
            <a:avLst>
              <a:gd name="adj" fmla="val 6209"/>
            </a:avLst>
          </a:prstGeom>
          <a:solidFill>
            <a:srgbClr val="003F39"/>
          </a:solidFill>
          <a:ln/>
        </p:spPr>
      </p:sp>
      <p:sp>
        <p:nvSpPr>
          <p:cNvPr id="31" name="Text 28"/>
          <p:cNvSpPr/>
          <p:nvPr/>
        </p:nvSpPr>
        <p:spPr>
          <a:xfrm>
            <a:off x="13723839" y="5250458"/>
            <a:ext cx="3763278" cy="495300"/>
          </a:xfrm>
          <a:prstGeom prst="rect">
            <a:avLst/>
          </a:prstGeom>
          <a:noFill/>
          <a:ln/>
        </p:spPr>
        <p:txBody>
          <a:bodyPr wrap="square" lIns="25400" tIns="25400" rIns="25400" bIns="25400" rtlCol="0" anchor="t">
            <a:normAutofit fontScale="92500" lnSpcReduction="10000"/>
          </a:bodyPr>
          <a:lstStyle/>
          <a:p>
            <a:pPr marL="0" indent="0" algn="l">
              <a:lnSpc>
                <a:spcPct val="92308"/>
              </a:lnSpc>
              <a:buNone/>
            </a:pPr>
            <a:r>
              <a:rPr lang="en-US" sz="3600" b="1" kern="0" spc="-108" dirty="0">
                <a:solidFill>
                  <a:srgbClr val="FFFFFF"/>
                </a:solidFill>
                <a:latin typeface="Inter" panose="02000503000000020004" pitchFamily="2" charset="0"/>
                <a:ea typeface="Inter" panose="02000503000000020004" pitchFamily="2" charset="0"/>
                <a:cs typeface="Archivo" pitchFamily="34" charset="-120"/>
              </a:rPr>
              <a:t>67.4%</a:t>
            </a:r>
            <a:endParaRPr lang="en-US" sz="3600" dirty="0"/>
          </a:p>
        </p:txBody>
      </p:sp>
      <p:sp>
        <p:nvSpPr>
          <p:cNvPr id="32" name="Text 29"/>
          <p:cNvSpPr/>
          <p:nvPr/>
        </p:nvSpPr>
        <p:spPr>
          <a:xfrm>
            <a:off x="13723839" y="5841008"/>
            <a:ext cx="3523797" cy="756245"/>
          </a:xfrm>
          <a:prstGeom prst="rect">
            <a:avLst/>
          </a:prstGeom>
          <a:noFill/>
          <a:ln/>
        </p:spPr>
        <p:txBody>
          <a:bodyPr wrap="square" lIns="25400" tIns="25400" rIns="25400" bIns="25400" rtlCol="0" anchor="t">
            <a:normAutofit/>
          </a:bodyPr>
          <a:lstStyle/>
          <a:p>
            <a:pPr marL="0" indent="0" algn="l">
              <a:lnSpc>
                <a:spcPct val="110882"/>
              </a:lnSpc>
              <a:buNone/>
            </a:pPr>
            <a:r>
              <a:rPr lang="en-US" sz="1950" dirty="0">
                <a:solidFill>
                  <a:srgbClr val="B8D6D1"/>
                </a:solidFill>
                <a:latin typeface="Inter" panose="02000503000000020004" pitchFamily="2" charset="0"/>
                <a:ea typeface="Inter" panose="02000503000000020004" pitchFamily="2" charset="0"/>
                <a:cs typeface="IBM Plex Sans" pitchFamily="34" charset="-120"/>
              </a:rPr>
              <a:t>carried one by the time they were discharged</a:t>
            </a:r>
            <a:endParaRPr lang="en-US" sz="1950" dirty="0"/>
          </a:p>
        </p:txBody>
      </p:sp>
      <p:sp>
        <p:nvSpPr>
          <p:cNvPr id="33" name="Shape 30"/>
          <p:cNvSpPr/>
          <p:nvPr/>
        </p:nvSpPr>
        <p:spPr>
          <a:xfrm>
            <a:off x="9254927" y="7475934"/>
            <a:ext cx="8175824" cy="2201466"/>
          </a:xfrm>
          <a:prstGeom prst="roundRect">
            <a:avLst>
              <a:gd name="adj" fmla="val 7788"/>
            </a:avLst>
          </a:prstGeom>
          <a:solidFill>
            <a:srgbClr val="FFFFFF"/>
          </a:solidFill>
          <a:ln/>
        </p:spPr>
      </p:sp>
      <p:sp>
        <p:nvSpPr>
          <p:cNvPr id="34" name="Shape 31"/>
          <p:cNvSpPr/>
          <p:nvPr/>
        </p:nvSpPr>
        <p:spPr>
          <a:xfrm>
            <a:off x="9254927" y="9671050"/>
            <a:ext cx="8175824" cy="9525"/>
          </a:xfrm>
          <a:prstGeom prst="rect">
            <a:avLst/>
          </a:prstGeom>
          <a:solidFill>
            <a:srgbClr val="E1EEEC"/>
          </a:solidFill>
          <a:ln/>
        </p:spPr>
      </p:sp>
      <p:sp>
        <p:nvSpPr>
          <p:cNvPr id="35" name="Shape 32"/>
          <p:cNvSpPr/>
          <p:nvPr/>
        </p:nvSpPr>
        <p:spPr>
          <a:xfrm>
            <a:off x="9254927" y="7475934"/>
            <a:ext cx="8175824" cy="9525"/>
          </a:xfrm>
          <a:prstGeom prst="rect">
            <a:avLst/>
          </a:prstGeom>
          <a:solidFill>
            <a:srgbClr val="E1EEEC"/>
          </a:solidFill>
          <a:ln/>
        </p:spPr>
      </p:sp>
      <p:sp>
        <p:nvSpPr>
          <p:cNvPr id="36" name="Shape 33"/>
          <p:cNvSpPr/>
          <p:nvPr/>
        </p:nvSpPr>
        <p:spPr>
          <a:xfrm>
            <a:off x="9254927" y="7475934"/>
            <a:ext cx="57150" cy="2201466"/>
          </a:xfrm>
          <a:prstGeom prst="rect">
            <a:avLst/>
          </a:prstGeom>
          <a:solidFill>
            <a:srgbClr val="016359"/>
          </a:solidFill>
          <a:ln/>
        </p:spPr>
      </p:sp>
      <p:sp>
        <p:nvSpPr>
          <p:cNvPr id="37" name="Shape 34"/>
          <p:cNvSpPr/>
          <p:nvPr/>
        </p:nvSpPr>
        <p:spPr>
          <a:xfrm>
            <a:off x="17424401" y="7475934"/>
            <a:ext cx="9525" cy="2201466"/>
          </a:xfrm>
          <a:prstGeom prst="rect">
            <a:avLst/>
          </a:prstGeom>
          <a:solidFill>
            <a:srgbClr val="E1EEEC"/>
          </a:solidFill>
          <a:ln/>
        </p:spPr>
      </p:sp>
      <p:sp>
        <p:nvSpPr>
          <p:cNvPr id="38" name="Text 35"/>
          <p:cNvSpPr/>
          <p:nvPr/>
        </p:nvSpPr>
        <p:spPr>
          <a:xfrm>
            <a:off x="9635927" y="7748985"/>
            <a:ext cx="8211086"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Web tools fail at the counter</a:t>
            </a:r>
            <a:endParaRPr lang="en-US" sz="2325" dirty="0"/>
          </a:p>
        </p:txBody>
      </p:sp>
      <p:sp>
        <p:nvSpPr>
          <p:cNvPr id="39" name="Text 36"/>
          <p:cNvSpPr/>
          <p:nvPr/>
        </p:nvSpPr>
        <p:spPr>
          <a:xfrm>
            <a:off x="9635927" y="8247063"/>
            <a:ext cx="7688562" cy="1195388"/>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Connectivity in community pharmacies and rural clinics is unreliable, yet 90.7% of Nigerians have mobile access. The phone is already in the room.</a:t>
            </a:r>
            <a:endParaRPr lang="en-US" sz="2025" dirty="0"/>
          </a:p>
        </p:txBody>
      </p:sp>
      <p:sp>
        <p:nvSpPr>
          <p:cNvPr id="40" name="Shape 0">
            <a:extLst>
              <a:ext uri="{FF2B5EF4-FFF2-40B4-BE49-F238E27FC236}">
                <a16:creationId xmlns:a16="http://schemas.microsoft.com/office/drawing/2014/main" id="{DFF0706A-8148-D8FC-0868-BC8F136418B5}"/>
              </a:ext>
            </a:extLst>
          </p:cNvPr>
          <p:cNvSpPr/>
          <p:nvPr/>
        </p:nvSpPr>
        <p:spPr>
          <a:xfrm>
            <a:off x="914400" y="710826"/>
            <a:ext cx="133350" cy="133350"/>
          </a:xfrm>
          <a:prstGeom prst="rect">
            <a:avLst/>
          </a:prstGeom>
          <a:solidFill>
            <a:srgbClr val="0B5C4A"/>
          </a:solidFill>
          <a:ln/>
        </p:spPr>
      </p:sp>
      <p:sp>
        <p:nvSpPr>
          <p:cNvPr id="41" name="Text 1">
            <a:extLst>
              <a:ext uri="{FF2B5EF4-FFF2-40B4-BE49-F238E27FC236}">
                <a16:creationId xmlns:a16="http://schemas.microsoft.com/office/drawing/2014/main" id="{2866E4E8-094F-290F-54C1-769E74766A11}"/>
              </a:ext>
            </a:extLst>
          </p:cNvPr>
          <p:cNvSpPr/>
          <p:nvPr/>
        </p:nvSpPr>
        <p:spPr>
          <a:xfrm>
            <a:off x="1219200" y="574114"/>
            <a:ext cx="5166360"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US" sz="2400" dirty="0">
                <a:solidFill>
                  <a:srgbClr val="0B5C4A"/>
                </a:solidFill>
                <a:latin typeface="Inter" pitchFamily="34" charset="0"/>
                <a:ea typeface="Inter" pitchFamily="34" charset="-122"/>
                <a:cs typeface="Inter" pitchFamily="34" charset="-120"/>
              </a:rPr>
              <a:t>BACKGROUND OF THE STUDY</a:t>
            </a:r>
            <a:endParaRPr lang="en-US" sz="2400" dirty="0"/>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517"/>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609600"/>
            <a:ext cx="814388" cy="247650"/>
          </a:xfrm>
          <a:prstGeom prst="rect">
            <a:avLst/>
          </a:prstGeom>
        </p:spPr>
      </p:pic>
      <p:sp>
        <p:nvSpPr>
          <p:cNvPr id="4" name="Text 1"/>
          <p:cNvSpPr/>
          <p:nvPr/>
        </p:nvSpPr>
        <p:spPr>
          <a:xfrm>
            <a:off x="857250" y="1028700"/>
            <a:ext cx="15697200" cy="1209278"/>
          </a:xfrm>
          <a:prstGeom prst="rect">
            <a:avLst/>
          </a:prstGeom>
          <a:noFill/>
          <a:ln/>
        </p:spPr>
        <p:txBody>
          <a:bodyPr wrap="square" lIns="25400" tIns="25400" rIns="25400" bIns="25400" rtlCol="0" anchor="t">
            <a:normAutofit fontScale="92500" lnSpcReduction="10000"/>
          </a:bodyPr>
          <a:lstStyle/>
          <a:p>
            <a:pPr marL="0" indent="0" algn="l">
              <a:lnSpc>
                <a:spcPct val="106000"/>
              </a:lnSpc>
              <a:buNone/>
            </a:pPr>
            <a:r>
              <a:rPr lang="en-US" sz="3975" b="1" kern="0" spc="-79" dirty="0">
                <a:solidFill>
                  <a:srgbClr val="FFFFFF"/>
                </a:solidFill>
                <a:latin typeface="Inter" panose="02000503000000020004" pitchFamily="2" charset="0"/>
                <a:ea typeface="Inter" panose="02000503000000020004" pitchFamily="2" charset="0"/>
                <a:cs typeface="Archivo" pitchFamily="34" charset="-120"/>
              </a:rPr>
              <a:t>Reliable interaction checking is least available where medication risk is highest</a:t>
            </a:r>
            <a:endParaRPr lang="en-US" sz="3975" dirty="0"/>
          </a:p>
        </p:txBody>
      </p:sp>
      <p:sp>
        <p:nvSpPr>
          <p:cNvPr id="5" name="Shape 2"/>
          <p:cNvSpPr/>
          <p:nvPr/>
        </p:nvSpPr>
        <p:spPr>
          <a:xfrm>
            <a:off x="857250" y="2580878"/>
            <a:ext cx="5346700" cy="5096272"/>
          </a:xfrm>
          <a:prstGeom prst="roundRect">
            <a:avLst>
              <a:gd name="adj" fmla="val 3738"/>
            </a:avLst>
          </a:prstGeom>
          <a:solidFill>
            <a:srgbClr val="152024"/>
          </a:solidFill>
          <a:ln w="6350">
            <a:solidFill>
              <a:srgbClr val="FFFFFF">
                <a:alpha val="12000"/>
              </a:srgbClr>
            </a:solidFill>
            <a:prstDash val="solid"/>
          </a:ln>
        </p:spPr>
      </p:sp>
      <p:sp>
        <p:nvSpPr>
          <p:cNvPr id="6" name="Text 3"/>
          <p:cNvSpPr/>
          <p:nvPr/>
        </p:nvSpPr>
        <p:spPr>
          <a:xfrm>
            <a:off x="1244600" y="3747095"/>
            <a:ext cx="5029200" cy="459085"/>
          </a:xfrm>
          <a:prstGeom prst="rect">
            <a:avLst/>
          </a:prstGeom>
          <a:noFill/>
          <a:ln/>
        </p:spPr>
        <p:txBody>
          <a:bodyPr wrap="square" lIns="25400" tIns="25400" rIns="25400" bIns="25400" rtlCol="0" anchor="t">
            <a:normAutofit lnSpcReduction="10000"/>
          </a:bodyPr>
          <a:lstStyle/>
          <a:p>
            <a:pPr marL="0" indent="0" algn="l">
              <a:lnSpc>
                <a:spcPct val="118393"/>
              </a:lnSpc>
              <a:buNone/>
            </a:pPr>
            <a:r>
              <a:rPr lang="en-US" sz="2550" b="1" dirty="0">
                <a:solidFill>
                  <a:srgbClr val="FF8A8C"/>
                </a:solidFill>
                <a:latin typeface="Inter" panose="02000503000000020004" pitchFamily="2" charset="0"/>
                <a:ea typeface="Inter" panose="02000503000000020004" pitchFamily="2" charset="0"/>
                <a:cs typeface="Archivo" pitchFamily="34" charset="-120"/>
              </a:rPr>
              <a:t>Cost</a:t>
            </a:r>
            <a:endParaRPr lang="en-US" sz="2550" dirty="0"/>
          </a:p>
        </p:txBody>
      </p:sp>
      <p:sp>
        <p:nvSpPr>
          <p:cNvPr id="7" name="Text 4"/>
          <p:cNvSpPr/>
          <p:nvPr/>
        </p:nvSpPr>
        <p:spPr>
          <a:xfrm>
            <a:off x="1244600" y="4377630"/>
            <a:ext cx="4709160" cy="2171303"/>
          </a:xfrm>
          <a:prstGeom prst="rect">
            <a:avLst/>
          </a:prstGeom>
          <a:noFill/>
          <a:ln/>
        </p:spPr>
        <p:txBody>
          <a:bodyPr wrap="square" lIns="25400" tIns="25400" rIns="25400" bIns="25400" rtlCol="0" anchor="t">
            <a:normAutofit fontScale="92500"/>
          </a:bodyPr>
          <a:lstStyle/>
          <a:p>
            <a:pPr marL="0" indent="0" algn="l">
              <a:lnSpc>
                <a:spcPct val="122182"/>
              </a:lnSpc>
              <a:buNone/>
            </a:pPr>
            <a:r>
              <a:rPr lang="en-US" sz="2100" dirty="0">
                <a:solidFill>
                  <a:srgbClr val="C2CFCD"/>
                </a:solidFill>
                <a:latin typeface="Inter" panose="02000503000000020004" pitchFamily="2" charset="0"/>
                <a:ea typeface="Inter" panose="02000503000000020004" pitchFamily="2" charset="0"/>
                <a:cs typeface="IBM Plex Sans" pitchFamily="34" charset="-120"/>
              </a:rPr>
              <a:t>The most accurate platforms are subscription products priced for well-funded hospitals. They are out of reach for most public-sector facilities and individual practitioners in Nigeria.</a:t>
            </a:r>
            <a:endParaRPr lang="en-US" sz="2100" dirty="0"/>
          </a:p>
        </p:txBody>
      </p:sp>
      <p:sp>
        <p:nvSpPr>
          <p:cNvPr id="8" name="Shape 5"/>
          <p:cNvSpPr/>
          <p:nvPr/>
        </p:nvSpPr>
        <p:spPr>
          <a:xfrm>
            <a:off x="6470650" y="2580878"/>
            <a:ext cx="5346700" cy="5096272"/>
          </a:xfrm>
          <a:prstGeom prst="roundRect">
            <a:avLst>
              <a:gd name="adj" fmla="val 3738"/>
            </a:avLst>
          </a:prstGeom>
          <a:solidFill>
            <a:srgbClr val="152024"/>
          </a:solidFill>
          <a:ln w="6350">
            <a:solidFill>
              <a:srgbClr val="FFFFFF">
                <a:alpha val="12000"/>
              </a:srgbClr>
            </a:solidFill>
            <a:prstDash val="solid"/>
          </a:ln>
        </p:spPr>
      </p:sp>
      <p:sp>
        <p:nvSpPr>
          <p:cNvPr id="9" name="Text 6"/>
          <p:cNvSpPr/>
          <p:nvPr/>
        </p:nvSpPr>
        <p:spPr>
          <a:xfrm>
            <a:off x="6858000" y="3747095"/>
            <a:ext cx="5029200" cy="459085"/>
          </a:xfrm>
          <a:prstGeom prst="rect">
            <a:avLst/>
          </a:prstGeom>
          <a:noFill/>
          <a:ln/>
        </p:spPr>
        <p:txBody>
          <a:bodyPr wrap="square" lIns="25400" tIns="25400" rIns="25400" bIns="25400" rtlCol="0" anchor="t">
            <a:normAutofit lnSpcReduction="10000"/>
          </a:bodyPr>
          <a:lstStyle/>
          <a:p>
            <a:pPr marL="0" indent="0" algn="l">
              <a:lnSpc>
                <a:spcPct val="118393"/>
              </a:lnSpc>
              <a:buNone/>
            </a:pPr>
            <a:r>
              <a:rPr lang="en-US" sz="2550" b="1" dirty="0">
                <a:solidFill>
                  <a:srgbClr val="FBBF24"/>
                </a:solidFill>
                <a:latin typeface="Inter" panose="02000503000000020004" pitchFamily="2" charset="0"/>
                <a:ea typeface="Inter" panose="02000503000000020004" pitchFamily="2" charset="0"/>
                <a:cs typeface="Archivo" pitchFamily="34" charset="-120"/>
              </a:rPr>
              <a:t>Connectivity</a:t>
            </a:r>
            <a:endParaRPr lang="en-US" sz="2550" dirty="0"/>
          </a:p>
        </p:txBody>
      </p:sp>
      <p:sp>
        <p:nvSpPr>
          <p:cNvPr id="10" name="Text 7"/>
          <p:cNvSpPr/>
          <p:nvPr/>
        </p:nvSpPr>
        <p:spPr>
          <a:xfrm>
            <a:off x="6858000" y="4377630"/>
            <a:ext cx="4709160" cy="2171303"/>
          </a:xfrm>
          <a:prstGeom prst="rect">
            <a:avLst/>
          </a:prstGeom>
          <a:noFill/>
          <a:ln/>
        </p:spPr>
        <p:txBody>
          <a:bodyPr wrap="square" lIns="25400" tIns="25400" rIns="25400" bIns="25400" rtlCol="0" anchor="t">
            <a:normAutofit/>
          </a:bodyPr>
          <a:lstStyle/>
          <a:p>
            <a:pPr marL="0" indent="0" algn="l">
              <a:lnSpc>
                <a:spcPct val="122182"/>
              </a:lnSpc>
              <a:buNone/>
            </a:pPr>
            <a:r>
              <a:rPr lang="en-US" sz="2100" dirty="0">
                <a:solidFill>
                  <a:srgbClr val="C2CFCD"/>
                </a:solidFill>
                <a:latin typeface="Inter" panose="02000503000000020004" pitchFamily="2" charset="0"/>
                <a:ea typeface="Inter" panose="02000503000000020004" pitchFamily="2" charset="0"/>
                <a:cs typeface="IBM Plex Sans" pitchFamily="34" charset="-120"/>
              </a:rPr>
              <a:t>Free checkers remove the cost barrier but need a live connection for everything they do. At the point of care in a rural clinic, that is exactly when they stop working.</a:t>
            </a:r>
            <a:endParaRPr lang="en-US" sz="2100" dirty="0"/>
          </a:p>
        </p:txBody>
      </p:sp>
      <p:sp>
        <p:nvSpPr>
          <p:cNvPr id="11" name="Shape 8"/>
          <p:cNvSpPr/>
          <p:nvPr/>
        </p:nvSpPr>
        <p:spPr>
          <a:xfrm>
            <a:off x="12084051" y="2580878"/>
            <a:ext cx="5346700" cy="5096272"/>
          </a:xfrm>
          <a:prstGeom prst="roundRect">
            <a:avLst>
              <a:gd name="adj" fmla="val 3738"/>
            </a:avLst>
          </a:prstGeom>
          <a:solidFill>
            <a:srgbClr val="152024"/>
          </a:solidFill>
          <a:ln w="6350">
            <a:solidFill>
              <a:srgbClr val="FFFFFF">
                <a:alpha val="12000"/>
              </a:srgbClr>
            </a:solidFill>
            <a:prstDash val="solid"/>
          </a:ln>
        </p:spPr>
      </p:sp>
      <p:sp>
        <p:nvSpPr>
          <p:cNvPr id="12" name="Text 9"/>
          <p:cNvSpPr/>
          <p:nvPr/>
        </p:nvSpPr>
        <p:spPr>
          <a:xfrm>
            <a:off x="12471400" y="3533775"/>
            <a:ext cx="5029200" cy="459085"/>
          </a:xfrm>
          <a:prstGeom prst="rect">
            <a:avLst/>
          </a:prstGeom>
          <a:noFill/>
          <a:ln/>
        </p:spPr>
        <p:txBody>
          <a:bodyPr wrap="square" lIns="25400" tIns="25400" rIns="25400" bIns="25400" rtlCol="0" anchor="t">
            <a:normAutofit lnSpcReduction="10000"/>
          </a:bodyPr>
          <a:lstStyle/>
          <a:p>
            <a:pPr marL="0" indent="0" algn="l">
              <a:lnSpc>
                <a:spcPct val="118393"/>
              </a:lnSpc>
              <a:buNone/>
            </a:pPr>
            <a:r>
              <a:rPr lang="en-US" sz="2550" b="1" dirty="0">
                <a:solidFill>
                  <a:srgbClr val="4FD1C5"/>
                </a:solidFill>
                <a:latin typeface="Inter" panose="02000503000000020004" pitchFamily="2" charset="0"/>
                <a:ea typeface="Inter" panose="02000503000000020004" pitchFamily="2" charset="0"/>
                <a:cs typeface="Archivo" pitchFamily="34" charset="-120"/>
              </a:rPr>
              <a:t>Translation</a:t>
            </a:r>
            <a:endParaRPr lang="en-US" sz="2550" dirty="0"/>
          </a:p>
        </p:txBody>
      </p:sp>
      <p:sp>
        <p:nvSpPr>
          <p:cNvPr id="13" name="Text 10"/>
          <p:cNvSpPr/>
          <p:nvPr/>
        </p:nvSpPr>
        <p:spPr>
          <a:xfrm>
            <a:off x="12471400" y="4164310"/>
            <a:ext cx="4709160" cy="2597944"/>
          </a:xfrm>
          <a:prstGeom prst="rect">
            <a:avLst/>
          </a:prstGeom>
          <a:noFill/>
          <a:ln/>
        </p:spPr>
        <p:txBody>
          <a:bodyPr wrap="square" lIns="25400" tIns="25400" rIns="25400" bIns="25400" rtlCol="0" anchor="t">
            <a:normAutofit/>
          </a:bodyPr>
          <a:lstStyle/>
          <a:p>
            <a:pPr marL="0" indent="0" algn="l">
              <a:lnSpc>
                <a:spcPct val="122182"/>
              </a:lnSpc>
              <a:buNone/>
            </a:pPr>
            <a:r>
              <a:rPr lang="en-US" sz="2100" dirty="0">
                <a:solidFill>
                  <a:srgbClr val="C2CFCD"/>
                </a:solidFill>
                <a:latin typeface="Inter" panose="02000503000000020004" pitchFamily="2" charset="0"/>
                <a:ea typeface="Inter" panose="02000503000000020004" pitchFamily="2" charset="0"/>
                <a:cs typeface="IBM Plex Sans" pitchFamily="34" charset="-120"/>
              </a:rPr>
              <a:t>Machine learning classifies interactions well in published work, but Wang et al. (2024) found most models stay on benchmarks and never reach an application anyone can open.</a:t>
            </a:r>
            <a:endParaRPr lang="en-US" sz="2100" dirty="0"/>
          </a:p>
        </p:txBody>
      </p:sp>
      <p:sp>
        <p:nvSpPr>
          <p:cNvPr id="14" name="Shape 11"/>
          <p:cNvSpPr/>
          <p:nvPr/>
        </p:nvSpPr>
        <p:spPr>
          <a:xfrm>
            <a:off x="857250" y="8001000"/>
            <a:ext cx="16573500" cy="1676400"/>
          </a:xfrm>
          <a:prstGeom prst="roundRect">
            <a:avLst>
              <a:gd name="adj" fmla="val 11364"/>
            </a:avLst>
          </a:prstGeom>
          <a:solidFill>
            <a:srgbClr val="003F39"/>
          </a:solidFill>
          <a:ln/>
        </p:spPr>
      </p:sp>
      <p:sp>
        <p:nvSpPr>
          <p:cNvPr id="15" name="Text 12"/>
          <p:cNvSpPr/>
          <p:nvPr/>
        </p:nvSpPr>
        <p:spPr>
          <a:xfrm>
            <a:off x="1276350" y="8382000"/>
            <a:ext cx="15893415" cy="952500"/>
          </a:xfrm>
          <a:prstGeom prst="rect">
            <a:avLst/>
          </a:prstGeom>
          <a:noFill/>
          <a:ln/>
        </p:spPr>
        <p:txBody>
          <a:bodyPr wrap="square" lIns="25400" tIns="25400" rIns="25400" bIns="25400" rtlCol="0" anchor="t">
            <a:normAutofit/>
          </a:bodyPr>
          <a:lstStyle/>
          <a:p>
            <a:pPr marL="0" indent="0" algn="l">
              <a:lnSpc>
                <a:spcPct val="116129"/>
              </a:lnSpc>
              <a:buNone/>
            </a:pPr>
            <a:r>
              <a:rPr lang="en-US" sz="2400" dirty="0">
                <a:solidFill>
                  <a:srgbClr val="FFFFFF"/>
                </a:solidFill>
                <a:latin typeface="Inter" panose="02000503000000020004" pitchFamily="2" charset="0"/>
                <a:ea typeface="Inter" panose="02000503000000020004" pitchFamily="2" charset="0"/>
                <a:cs typeface="IBM Plex Sans" pitchFamily="34" charset="-120"/>
              </a:rPr>
              <a:t>No available tool combines offline-first operation, machine learning-based risk prediction and multiple safety checks in one application built for a low-resource setting. </a:t>
            </a:r>
            <a:r>
              <a:rPr lang="en-US" sz="2400" dirty="0">
                <a:solidFill>
                  <a:srgbClr val="7FC7BE"/>
                </a:solidFill>
                <a:latin typeface="Inter" panose="02000503000000020004" pitchFamily="2" charset="0"/>
                <a:ea typeface="Inter" panose="02000503000000020004" pitchFamily="2" charset="0"/>
                <a:cs typeface="IBM Plex Sans" pitchFamily="34" charset="-120"/>
              </a:rPr>
              <a:t>That is the gap this study addresses.</a:t>
            </a:r>
            <a:endParaRPr lang="en-US" sz="2400" dirty="0"/>
          </a:p>
        </p:txBody>
      </p:sp>
      <p:sp>
        <p:nvSpPr>
          <p:cNvPr id="22" name="Shape 0">
            <a:extLst>
              <a:ext uri="{FF2B5EF4-FFF2-40B4-BE49-F238E27FC236}">
                <a16:creationId xmlns:a16="http://schemas.microsoft.com/office/drawing/2014/main" id="{A852238E-D2D5-30E8-B43C-86B2411969F1}"/>
              </a:ext>
            </a:extLst>
          </p:cNvPr>
          <p:cNvSpPr/>
          <p:nvPr/>
        </p:nvSpPr>
        <p:spPr>
          <a:xfrm>
            <a:off x="914400" y="710826"/>
            <a:ext cx="133350" cy="133350"/>
          </a:xfrm>
          <a:prstGeom prst="rect">
            <a:avLst/>
          </a:prstGeom>
          <a:solidFill>
            <a:srgbClr val="4FD1C5"/>
          </a:solidFill>
          <a:ln/>
        </p:spPr>
      </p:sp>
      <p:sp>
        <p:nvSpPr>
          <p:cNvPr id="23" name="Text 1">
            <a:extLst>
              <a:ext uri="{FF2B5EF4-FFF2-40B4-BE49-F238E27FC236}">
                <a16:creationId xmlns:a16="http://schemas.microsoft.com/office/drawing/2014/main" id="{B82C9F7A-88B7-6BE0-2F82-57E6451694AD}"/>
              </a:ext>
            </a:extLst>
          </p:cNvPr>
          <p:cNvSpPr/>
          <p:nvPr/>
        </p:nvSpPr>
        <p:spPr>
          <a:xfrm>
            <a:off x="1219199" y="574114"/>
            <a:ext cx="6434667"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US" sz="2400" dirty="0">
                <a:solidFill>
                  <a:srgbClr val="4FD1C5"/>
                </a:solidFill>
                <a:latin typeface="Inter" pitchFamily="34" charset="0"/>
                <a:ea typeface="Inter" pitchFamily="34" charset="-122"/>
                <a:cs typeface="Inter" pitchFamily="34" charset="-120"/>
              </a:rPr>
              <a:t>STATEMENT OF THE PROBLEM</a:t>
            </a:r>
            <a:endParaRPr lang="en-US" sz="2400" dirty="0">
              <a:solidFill>
                <a:srgbClr val="4FD1C5"/>
              </a:solidFill>
            </a:endParaRP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609600"/>
            <a:ext cx="814388" cy="247650"/>
          </a:xfrm>
          <a:prstGeom prst="rect">
            <a:avLst/>
          </a:prstGeom>
        </p:spPr>
      </p:pic>
      <p:sp>
        <p:nvSpPr>
          <p:cNvPr id="4" name="Shape 1"/>
          <p:cNvSpPr/>
          <p:nvPr/>
        </p:nvSpPr>
        <p:spPr>
          <a:xfrm>
            <a:off x="857250" y="1409700"/>
            <a:ext cx="7069336" cy="8020050"/>
          </a:xfrm>
          <a:prstGeom prst="roundRect">
            <a:avLst>
              <a:gd name="adj" fmla="val 2695"/>
            </a:avLst>
          </a:prstGeom>
          <a:solidFill>
            <a:srgbClr val="003F39"/>
          </a:solidFill>
          <a:ln/>
        </p:spPr>
      </p:sp>
      <p:sp>
        <p:nvSpPr>
          <p:cNvPr id="5" name="Text 2"/>
          <p:cNvSpPr/>
          <p:nvPr/>
        </p:nvSpPr>
        <p:spPr>
          <a:xfrm>
            <a:off x="1257300" y="4177705"/>
            <a:ext cx="6896160" cy="285750"/>
          </a:xfrm>
          <a:prstGeom prst="rect">
            <a:avLst/>
          </a:prstGeom>
          <a:noFill/>
          <a:ln/>
        </p:spPr>
        <p:txBody>
          <a:bodyPr wrap="square" lIns="25400" tIns="25400" rIns="25400" bIns="25400" rtlCol="0" anchor="t">
            <a:normAutofit/>
          </a:bodyPr>
          <a:lstStyle/>
          <a:p>
            <a:pPr marL="0" indent="0" algn="l">
              <a:lnSpc>
                <a:spcPct val="76471"/>
              </a:lnSpc>
              <a:buNone/>
            </a:pPr>
            <a:r>
              <a:rPr lang="en-US" sz="1950" kern="0" spc="312" dirty="0">
                <a:solidFill>
                  <a:srgbClr val="9FDCD4"/>
                </a:solidFill>
                <a:latin typeface="Inter" panose="02000503000000020004" pitchFamily="2" charset="0"/>
                <a:ea typeface="Inter" panose="02000503000000020004" pitchFamily="2" charset="0"/>
                <a:cs typeface="IBM Plex Sans" pitchFamily="34" charset="-120"/>
              </a:rPr>
              <a:t>AIM OF THE STUDY</a:t>
            </a:r>
            <a:endParaRPr lang="en-US" sz="1950" dirty="0"/>
          </a:p>
        </p:txBody>
      </p:sp>
      <p:sp>
        <p:nvSpPr>
          <p:cNvPr id="6" name="Text 3"/>
          <p:cNvSpPr/>
          <p:nvPr/>
        </p:nvSpPr>
        <p:spPr>
          <a:xfrm>
            <a:off x="1257300" y="4673005"/>
            <a:ext cx="6457313" cy="2026841"/>
          </a:xfrm>
          <a:prstGeom prst="rect">
            <a:avLst/>
          </a:prstGeom>
          <a:noFill/>
          <a:ln/>
        </p:spPr>
        <p:txBody>
          <a:bodyPr wrap="square" lIns="25400" tIns="25400" rIns="25400" bIns="25400" rtlCol="0" anchor="t">
            <a:normAutofit/>
          </a:bodyPr>
          <a:lstStyle/>
          <a:p>
            <a:pPr marL="0" indent="0" algn="l">
              <a:lnSpc>
                <a:spcPct val="111857"/>
              </a:lnSpc>
              <a:buNone/>
            </a:pPr>
            <a:r>
              <a:rPr lang="en-US" sz="2700" dirty="0">
                <a:solidFill>
                  <a:srgbClr val="FFFFFF"/>
                </a:solidFill>
                <a:latin typeface="Inter" panose="02000503000000020004" pitchFamily="2" charset="0"/>
                <a:ea typeface="Inter" panose="02000503000000020004" pitchFamily="2" charset="0"/>
                <a:cs typeface="IBM Plex Sans" pitchFamily="34" charset="-120"/>
              </a:rPr>
              <a:t>To build a mobile application that detects drug–drug interactions and grades their risk for patients and healthcare providers.</a:t>
            </a:r>
            <a:endParaRPr lang="en-US" sz="2700" dirty="0"/>
          </a:p>
        </p:txBody>
      </p:sp>
      <p:sp>
        <p:nvSpPr>
          <p:cNvPr id="7" name="Text 4"/>
          <p:cNvSpPr/>
          <p:nvPr/>
        </p:nvSpPr>
        <p:spPr>
          <a:xfrm>
            <a:off x="8231386" y="2311053"/>
            <a:ext cx="2816047"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Specific objectives</a:t>
            </a:r>
            <a:endParaRPr lang="en-US" sz="2325" dirty="0"/>
          </a:p>
        </p:txBody>
      </p:sp>
      <p:sp>
        <p:nvSpPr>
          <p:cNvPr id="8" name="Text 5"/>
          <p:cNvSpPr/>
          <p:nvPr/>
        </p:nvSpPr>
        <p:spPr>
          <a:xfrm>
            <a:off x="15994063" y="2417217"/>
            <a:ext cx="1580356" cy="285750"/>
          </a:xfrm>
          <a:prstGeom prst="rect">
            <a:avLst/>
          </a:prstGeom>
          <a:noFill/>
          <a:ln/>
        </p:spPr>
        <p:txBody>
          <a:bodyPr wrap="square" lIns="25400" tIns="25400" rIns="25400" bIns="25400" rtlCol="0" anchor="t">
            <a:normAutofit fontScale="92500"/>
          </a:bodyPr>
          <a:lstStyle/>
          <a:p>
            <a:pPr marL="0" indent="0" algn="l">
              <a:lnSpc>
                <a:spcPct val="76471"/>
              </a:lnSpc>
              <a:buNone/>
            </a:pPr>
            <a:r>
              <a:rPr lang="en-US" sz="1950" dirty="0">
                <a:solidFill>
                  <a:srgbClr val="6F7D81"/>
                </a:solidFill>
                <a:latin typeface="Inter" panose="02000503000000020004" pitchFamily="2" charset="0"/>
                <a:ea typeface="Inter" panose="02000503000000020004" pitchFamily="2" charset="0"/>
                <a:cs typeface="IBM Plex Sans" pitchFamily="34" charset="-120"/>
              </a:rPr>
              <a:t>Five, in order</a:t>
            </a:r>
            <a:endParaRPr lang="en-US" sz="1950" dirty="0"/>
          </a:p>
        </p:txBody>
      </p:sp>
      <p:sp>
        <p:nvSpPr>
          <p:cNvPr id="9" name="Shape 6"/>
          <p:cNvSpPr/>
          <p:nvPr/>
        </p:nvSpPr>
        <p:spPr>
          <a:xfrm>
            <a:off x="8231386" y="3155851"/>
            <a:ext cx="9199364" cy="894655"/>
          </a:xfrm>
          <a:prstGeom prst="roundRect">
            <a:avLst>
              <a:gd name="adj" fmla="val 17034"/>
            </a:avLst>
          </a:prstGeom>
          <a:solidFill>
            <a:srgbClr val="FFFFFF"/>
          </a:solidFill>
          <a:ln w="6350">
            <a:solidFill>
              <a:srgbClr val="E1EEEC"/>
            </a:solidFill>
            <a:prstDash val="solid"/>
          </a:ln>
        </p:spPr>
      </p:sp>
      <p:sp>
        <p:nvSpPr>
          <p:cNvPr id="10" name="Text 7"/>
          <p:cNvSpPr/>
          <p:nvPr/>
        </p:nvSpPr>
        <p:spPr>
          <a:xfrm>
            <a:off x="8542536" y="3420269"/>
            <a:ext cx="533400" cy="403820"/>
          </a:xfrm>
          <a:prstGeom prst="rect">
            <a:avLst/>
          </a:prstGeom>
          <a:noFill/>
          <a:ln/>
        </p:spPr>
        <p:txBody>
          <a:bodyPr wrap="square" lIns="25400" tIns="25400" rIns="25400" bIns="25400" rtlCol="0" anchor="t">
            <a:normAutofit fontScale="92500"/>
          </a:bodyPr>
          <a:lstStyle/>
          <a:p>
            <a:pPr marL="0" indent="0" algn="l">
              <a:lnSpc>
                <a:spcPct val="110769"/>
              </a:lnSpc>
              <a:buNone/>
            </a:pPr>
            <a:r>
              <a:rPr lang="en-US" sz="2400" b="1" dirty="0">
                <a:solidFill>
                  <a:srgbClr val="0C7A70"/>
                </a:solidFill>
                <a:latin typeface="Inter" panose="02000503000000020004" pitchFamily="2" charset="0"/>
                <a:ea typeface="Inter" panose="02000503000000020004" pitchFamily="2" charset="0"/>
                <a:cs typeface="Archivo" pitchFamily="34" charset="-120"/>
              </a:rPr>
              <a:t>01</a:t>
            </a:r>
            <a:endParaRPr lang="en-US" sz="2400" dirty="0"/>
          </a:p>
        </p:txBody>
      </p:sp>
      <p:sp>
        <p:nvSpPr>
          <p:cNvPr id="11" name="Text 8"/>
          <p:cNvSpPr/>
          <p:nvPr/>
        </p:nvSpPr>
        <p:spPr>
          <a:xfrm>
            <a:off x="9247386" y="3409851"/>
            <a:ext cx="7631768" cy="424755"/>
          </a:xfrm>
          <a:prstGeom prst="rect">
            <a:avLst/>
          </a:prstGeom>
          <a:noFill/>
          <a:ln/>
        </p:spPr>
        <p:txBody>
          <a:bodyPr wrap="square" lIns="25400" tIns="25400" rIns="25400" bIns="25400" rtlCol="0" anchor="t">
            <a:normAutofit/>
          </a:bodyPr>
          <a:lstStyle/>
          <a:p>
            <a:pPr marL="0" indent="0" algn="l">
              <a:lnSpc>
                <a:spcPct val="110727"/>
              </a:lnSpc>
              <a:buNone/>
            </a:pPr>
            <a:r>
              <a:rPr lang="en-US" sz="2100" dirty="0">
                <a:solidFill>
                  <a:srgbClr val="33464B"/>
                </a:solidFill>
                <a:latin typeface="Inter" panose="02000503000000020004" pitchFamily="2" charset="0"/>
                <a:ea typeface="Inter" panose="02000503000000020004" pitchFamily="2" charset="0"/>
                <a:cs typeface="IBM Plex Sans" pitchFamily="34" charset="-120"/>
              </a:rPr>
              <a:t>Build the Flutter application on a bundled offline database</a:t>
            </a:r>
            <a:endParaRPr lang="en-US" sz="2100" dirty="0"/>
          </a:p>
        </p:txBody>
      </p:sp>
      <p:sp>
        <p:nvSpPr>
          <p:cNvPr id="12" name="Shape 9"/>
          <p:cNvSpPr/>
          <p:nvPr/>
        </p:nvSpPr>
        <p:spPr>
          <a:xfrm>
            <a:off x="8231386" y="4202906"/>
            <a:ext cx="9199364" cy="894655"/>
          </a:xfrm>
          <a:prstGeom prst="roundRect">
            <a:avLst>
              <a:gd name="adj" fmla="val 17034"/>
            </a:avLst>
          </a:prstGeom>
          <a:solidFill>
            <a:srgbClr val="FFFFFF"/>
          </a:solidFill>
          <a:ln w="6350">
            <a:solidFill>
              <a:srgbClr val="E1EEEC"/>
            </a:solidFill>
            <a:prstDash val="solid"/>
          </a:ln>
        </p:spPr>
      </p:sp>
      <p:sp>
        <p:nvSpPr>
          <p:cNvPr id="13" name="Text 10"/>
          <p:cNvSpPr/>
          <p:nvPr/>
        </p:nvSpPr>
        <p:spPr>
          <a:xfrm>
            <a:off x="8542536" y="4467324"/>
            <a:ext cx="533400" cy="403820"/>
          </a:xfrm>
          <a:prstGeom prst="rect">
            <a:avLst/>
          </a:prstGeom>
          <a:noFill/>
          <a:ln/>
        </p:spPr>
        <p:txBody>
          <a:bodyPr wrap="square" lIns="25400" tIns="25400" rIns="25400" bIns="25400" rtlCol="0" anchor="t">
            <a:normAutofit fontScale="92500"/>
          </a:bodyPr>
          <a:lstStyle/>
          <a:p>
            <a:pPr marL="0" indent="0" algn="l">
              <a:lnSpc>
                <a:spcPct val="110769"/>
              </a:lnSpc>
              <a:buNone/>
            </a:pPr>
            <a:r>
              <a:rPr lang="en-US" sz="2400" b="1" dirty="0">
                <a:solidFill>
                  <a:srgbClr val="0C7A70"/>
                </a:solidFill>
                <a:latin typeface="Inter" panose="02000503000000020004" pitchFamily="2" charset="0"/>
                <a:ea typeface="Inter" panose="02000503000000020004" pitchFamily="2" charset="0"/>
                <a:cs typeface="Archivo" pitchFamily="34" charset="-120"/>
              </a:rPr>
              <a:t>02</a:t>
            </a:r>
            <a:endParaRPr lang="en-US" sz="2400" dirty="0"/>
          </a:p>
        </p:txBody>
      </p:sp>
      <p:sp>
        <p:nvSpPr>
          <p:cNvPr id="14" name="Text 11"/>
          <p:cNvSpPr/>
          <p:nvPr/>
        </p:nvSpPr>
        <p:spPr>
          <a:xfrm>
            <a:off x="9247386" y="4456906"/>
            <a:ext cx="6725573" cy="424755"/>
          </a:xfrm>
          <a:prstGeom prst="rect">
            <a:avLst/>
          </a:prstGeom>
          <a:noFill/>
          <a:ln/>
        </p:spPr>
        <p:txBody>
          <a:bodyPr wrap="square" lIns="25400" tIns="25400" rIns="25400" bIns="25400" rtlCol="0" anchor="t">
            <a:normAutofit/>
          </a:bodyPr>
          <a:lstStyle/>
          <a:p>
            <a:pPr marL="0" indent="0" algn="l">
              <a:lnSpc>
                <a:spcPct val="110727"/>
              </a:lnSpc>
              <a:buNone/>
            </a:pPr>
            <a:r>
              <a:rPr lang="en-US" sz="2100" dirty="0">
                <a:solidFill>
                  <a:srgbClr val="33464B"/>
                </a:solidFill>
                <a:latin typeface="Inter" panose="02000503000000020004" pitchFamily="2" charset="0"/>
                <a:ea typeface="Inter" panose="02000503000000020004" pitchFamily="2" charset="0"/>
                <a:cs typeface="IBM Plex Sans" pitchFamily="34" charset="-120"/>
              </a:rPr>
              <a:t>Train and compare classifiers that predict a risk tier</a:t>
            </a:r>
            <a:endParaRPr lang="en-US" sz="2100" dirty="0"/>
          </a:p>
        </p:txBody>
      </p:sp>
      <p:sp>
        <p:nvSpPr>
          <p:cNvPr id="15" name="Shape 12"/>
          <p:cNvSpPr/>
          <p:nvPr/>
        </p:nvSpPr>
        <p:spPr>
          <a:xfrm>
            <a:off x="8231386" y="5249962"/>
            <a:ext cx="9199364" cy="894655"/>
          </a:xfrm>
          <a:prstGeom prst="roundRect">
            <a:avLst>
              <a:gd name="adj" fmla="val 17034"/>
            </a:avLst>
          </a:prstGeom>
          <a:solidFill>
            <a:srgbClr val="FFFFFF"/>
          </a:solidFill>
          <a:ln w="6350">
            <a:solidFill>
              <a:srgbClr val="E1EEEC"/>
            </a:solidFill>
            <a:prstDash val="solid"/>
          </a:ln>
        </p:spPr>
      </p:sp>
      <p:sp>
        <p:nvSpPr>
          <p:cNvPr id="16" name="Text 13"/>
          <p:cNvSpPr/>
          <p:nvPr/>
        </p:nvSpPr>
        <p:spPr>
          <a:xfrm>
            <a:off x="8542536" y="5514380"/>
            <a:ext cx="533400" cy="403820"/>
          </a:xfrm>
          <a:prstGeom prst="rect">
            <a:avLst/>
          </a:prstGeom>
          <a:noFill/>
          <a:ln/>
        </p:spPr>
        <p:txBody>
          <a:bodyPr wrap="square" lIns="25400" tIns="25400" rIns="25400" bIns="25400" rtlCol="0" anchor="t">
            <a:normAutofit fontScale="92500"/>
          </a:bodyPr>
          <a:lstStyle/>
          <a:p>
            <a:pPr marL="0" indent="0" algn="l">
              <a:lnSpc>
                <a:spcPct val="110769"/>
              </a:lnSpc>
              <a:buNone/>
            </a:pPr>
            <a:r>
              <a:rPr lang="en-US" sz="2400" b="1" dirty="0">
                <a:solidFill>
                  <a:srgbClr val="0C7A70"/>
                </a:solidFill>
                <a:latin typeface="Inter" panose="02000503000000020004" pitchFamily="2" charset="0"/>
                <a:ea typeface="Inter" panose="02000503000000020004" pitchFamily="2" charset="0"/>
                <a:cs typeface="Archivo" pitchFamily="34" charset="-120"/>
              </a:rPr>
              <a:t>03</a:t>
            </a:r>
            <a:endParaRPr lang="en-US" sz="2400" dirty="0"/>
          </a:p>
        </p:txBody>
      </p:sp>
      <p:sp>
        <p:nvSpPr>
          <p:cNvPr id="17" name="Text 14"/>
          <p:cNvSpPr/>
          <p:nvPr/>
        </p:nvSpPr>
        <p:spPr>
          <a:xfrm>
            <a:off x="9247386" y="5503962"/>
            <a:ext cx="7613323" cy="424755"/>
          </a:xfrm>
          <a:prstGeom prst="rect">
            <a:avLst/>
          </a:prstGeom>
          <a:noFill/>
          <a:ln/>
        </p:spPr>
        <p:txBody>
          <a:bodyPr wrap="square" lIns="25400" tIns="25400" rIns="25400" bIns="25400" rtlCol="0" anchor="t">
            <a:normAutofit/>
          </a:bodyPr>
          <a:lstStyle/>
          <a:p>
            <a:pPr marL="0" indent="0" algn="l">
              <a:lnSpc>
                <a:spcPct val="110727"/>
              </a:lnSpc>
              <a:buNone/>
            </a:pPr>
            <a:r>
              <a:rPr lang="en-US" sz="2100" dirty="0">
                <a:solidFill>
                  <a:srgbClr val="33464B"/>
                </a:solidFill>
                <a:latin typeface="Inter" panose="02000503000000020004" pitchFamily="2" charset="0"/>
                <a:ea typeface="Inter" panose="02000503000000020004" pitchFamily="2" charset="0"/>
                <a:cs typeface="IBM Plex Sans" pitchFamily="34" charset="-120"/>
              </a:rPr>
              <a:t>Integrate food, duplicate therapy, allergy and dose checks</a:t>
            </a:r>
            <a:endParaRPr lang="en-US" sz="2100" dirty="0"/>
          </a:p>
        </p:txBody>
      </p:sp>
      <p:sp>
        <p:nvSpPr>
          <p:cNvPr id="18" name="Shape 15"/>
          <p:cNvSpPr/>
          <p:nvPr/>
        </p:nvSpPr>
        <p:spPr>
          <a:xfrm>
            <a:off x="8231386" y="6297017"/>
            <a:ext cx="9199364" cy="894655"/>
          </a:xfrm>
          <a:prstGeom prst="roundRect">
            <a:avLst>
              <a:gd name="adj" fmla="val 17034"/>
            </a:avLst>
          </a:prstGeom>
          <a:solidFill>
            <a:srgbClr val="FFFFFF"/>
          </a:solidFill>
          <a:ln w="6350">
            <a:solidFill>
              <a:srgbClr val="E1EEEC"/>
            </a:solidFill>
            <a:prstDash val="solid"/>
          </a:ln>
        </p:spPr>
      </p:sp>
      <p:sp>
        <p:nvSpPr>
          <p:cNvPr id="19" name="Text 16"/>
          <p:cNvSpPr/>
          <p:nvPr/>
        </p:nvSpPr>
        <p:spPr>
          <a:xfrm>
            <a:off x="8542536" y="6561436"/>
            <a:ext cx="533400" cy="403820"/>
          </a:xfrm>
          <a:prstGeom prst="rect">
            <a:avLst/>
          </a:prstGeom>
          <a:noFill/>
          <a:ln/>
        </p:spPr>
        <p:txBody>
          <a:bodyPr wrap="square" lIns="25400" tIns="25400" rIns="25400" bIns="25400" rtlCol="0" anchor="t">
            <a:normAutofit fontScale="92500"/>
          </a:bodyPr>
          <a:lstStyle/>
          <a:p>
            <a:pPr marL="0" indent="0" algn="l">
              <a:lnSpc>
                <a:spcPct val="110769"/>
              </a:lnSpc>
              <a:buNone/>
            </a:pPr>
            <a:r>
              <a:rPr lang="en-US" sz="2400" b="1" dirty="0">
                <a:solidFill>
                  <a:srgbClr val="0C7A70"/>
                </a:solidFill>
                <a:latin typeface="Inter" panose="02000503000000020004" pitchFamily="2" charset="0"/>
                <a:ea typeface="Inter" panose="02000503000000020004" pitchFamily="2" charset="0"/>
                <a:cs typeface="Archivo" pitchFamily="34" charset="-120"/>
              </a:rPr>
              <a:t>04</a:t>
            </a:r>
            <a:endParaRPr lang="en-US" sz="2400" dirty="0"/>
          </a:p>
        </p:txBody>
      </p:sp>
      <p:sp>
        <p:nvSpPr>
          <p:cNvPr id="20" name="Text 17"/>
          <p:cNvSpPr/>
          <p:nvPr/>
        </p:nvSpPr>
        <p:spPr>
          <a:xfrm>
            <a:off x="9247386" y="6551018"/>
            <a:ext cx="7325846" cy="424755"/>
          </a:xfrm>
          <a:prstGeom prst="rect">
            <a:avLst/>
          </a:prstGeom>
          <a:noFill/>
          <a:ln/>
        </p:spPr>
        <p:txBody>
          <a:bodyPr wrap="square" lIns="25400" tIns="25400" rIns="25400" bIns="25400" rtlCol="0" anchor="t">
            <a:normAutofit/>
          </a:bodyPr>
          <a:lstStyle/>
          <a:p>
            <a:pPr marL="0" indent="0" algn="l">
              <a:lnSpc>
                <a:spcPct val="110727"/>
              </a:lnSpc>
              <a:buNone/>
            </a:pPr>
            <a:r>
              <a:rPr lang="en-US" sz="2100" dirty="0">
                <a:solidFill>
                  <a:srgbClr val="33464B"/>
                </a:solidFill>
                <a:latin typeface="Inter" panose="02000503000000020004" pitchFamily="2" charset="0"/>
                <a:ea typeface="Inter" panose="02000503000000020004" pitchFamily="2" charset="0"/>
                <a:cs typeface="IBM Plex Sans" pitchFamily="34" charset="-120"/>
              </a:rPr>
              <a:t>Serve the model as an API and distil it for on-device use</a:t>
            </a:r>
            <a:endParaRPr lang="en-US" sz="2100" dirty="0"/>
          </a:p>
        </p:txBody>
      </p:sp>
      <p:sp>
        <p:nvSpPr>
          <p:cNvPr id="21" name="Shape 18"/>
          <p:cNvSpPr/>
          <p:nvPr/>
        </p:nvSpPr>
        <p:spPr>
          <a:xfrm>
            <a:off x="8231386" y="7344073"/>
            <a:ext cx="9199364" cy="894655"/>
          </a:xfrm>
          <a:prstGeom prst="roundRect">
            <a:avLst>
              <a:gd name="adj" fmla="val 17034"/>
            </a:avLst>
          </a:prstGeom>
          <a:solidFill>
            <a:srgbClr val="FFFFFF"/>
          </a:solidFill>
          <a:ln w="6350">
            <a:solidFill>
              <a:srgbClr val="E1EEEC"/>
            </a:solidFill>
            <a:prstDash val="solid"/>
          </a:ln>
        </p:spPr>
      </p:sp>
      <p:sp>
        <p:nvSpPr>
          <p:cNvPr id="22" name="Text 19"/>
          <p:cNvSpPr/>
          <p:nvPr/>
        </p:nvSpPr>
        <p:spPr>
          <a:xfrm>
            <a:off x="8542536" y="7608491"/>
            <a:ext cx="533400" cy="403820"/>
          </a:xfrm>
          <a:prstGeom prst="rect">
            <a:avLst/>
          </a:prstGeom>
          <a:noFill/>
          <a:ln/>
        </p:spPr>
        <p:txBody>
          <a:bodyPr wrap="square" lIns="25400" tIns="25400" rIns="25400" bIns="25400" rtlCol="0" anchor="t">
            <a:normAutofit fontScale="92500"/>
          </a:bodyPr>
          <a:lstStyle/>
          <a:p>
            <a:pPr marL="0" indent="0" algn="l">
              <a:lnSpc>
                <a:spcPct val="110769"/>
              </a:lnSpc>
              <a:buNone/>
            </a:pPr>
            <a:r>
              <a:rPr lang="en-US" sz="2400" b="1" dirty="0">
                <a:solidFill>
                  <a:srgbClr val="0C7A70"/>
                </a:solidFill>
                <a:latin typeface="Inter" panose="02000503000000020004" pitchFamily="2" charset="0"/>
                <a:ea typeface="Inter" panose="02000503000000020004" pitchFamily="2" charset="0"/>
                <a:cs typeface="Archivo" pitchFamily="34" charset="-120"/>
              </a:rPr>
              <a:t>05</a:t>
            </a:r>
            <a:endParaRPr lang="en-US" sz="2400" dirty="0"/>
          </a:p>
        </p:txBody>
      </p:sp>
      <p:sp>
        <p:nvSpPr>
          <p:cNvPr id="23" name="Text 20"/>
          <p:cNvSpPr/>
          <p:nvPr/>
        </p:nvSpPr>
        <p:spPr>
          <a:xfrm>
            <a:off x="9247386" y="7598073"/>
            <a:ext cx="5384562" cy="424755"/>
          </a:xfrm>
          <a:prstGeom prst="rect">
            <a:avLst/>
          </a:prstGeom>
          <a:noFill/>
          <a:ln/>
        </p:spPr>
        <p:txBody>
          <a:bodyPr wrap="square" lIns="25400" tIns="25400" rIns="25400" bIns="25400" rtlCol="0" anchor="t">
            <a:normAutofit/>
          </a:bodyPr>
          <a:lstStyle/>
          <a:p>
            <a:pPr marL="0" indent="0" algn="l">
              <a:lnSpc>
                <a:spcPct val="110727"/>
              </a:lnSpc>
              <a:buNone/>
            </a:pPr>
            <a:r>
              <a:rPr lang="en-US" sz="2100" dirty="0">
                <a:solidFill>
                  <a:srgbClr val="33464B"/>
                </a:solidFill>
                <a:latin typeface="Inter" panose="02000503000000020004" pitchFamily="2" charset="0"/>
                <a:ea typeface="Inter" panose="02000503000000020004" pitchFamily="2" charset="0"/>
                <a:cs typeface="IBM Plex Sans" pitchFamily="34" charset="-120"/>
              </a:rPr>
              <a:t>Evaluate usability with users in Abeokuta</a:t>
            </a:r>
            <a:endParaRPr lang="en-US" sz="2100" dirty="0"/>
          </a:p>
        </p:txBody>
      </p:sp>
      <p:sp>
        <p:nvSpPr>
          <p:cNvPr id="24" name="Shape 0">
            <a:extLst>
              <a:ext uri="{FF2B5EF4-FFF2-40B4-BE49-F238E27FC236}">
                <a16:creationId xmlns:a16="http://schemas.microsoft.com/office/drawing/2014/main" id="{969A5788-E66A-C30B-62B1-959C8D21C6D4}"/>
              </a:ext>
            </a:extLst>
          </p:cNvPr>
          <p:cNvSpPr/>
          <p:nvPr/>
        </p:nvSpPr>
        <p:spPr>
          <a:xfrm>
            <a:off x="914400" y="710826"/>
            <a:ext cx="133350" cy="133350"/>
          </a:xfrm>
          <a:prstGeom prst="rect">
            <a:avLst/>
          </a:prstGeom>
          <a:solidFill>
            <a:srgbClr val="0B5C4A"/>
          </a:solidFill>
          <a:ln/>
        </p:spPr>
      </p:sp>
      <p:sp>
        <p:nvSpPr>
          <p:cNvPr id="25" name="Text 1">
            <a:extLst>
              <a:ext uri="{FF2B5EF4-FFF2-40B4-BE49-F238E27FC236}">
                <a16:creationId xmlns:a16="http://schemas.microsoft.com/office/drawing/2014/main" id="{52CFF8D2-48B6-0E9A-4DB7-F55267C206BE}"/>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A</a:t>
            </a:r>
            <a:r>
              <a:rPr lang="en-US" sz="2400" dirty="0">
                <a:solidFill>
                  <a:srgbClr val="0B5C4A"/>
                </a:solidFill>
                <a:latin typeface="Inter" pitchFamily="34" charset="0"/>
                <a:ea typeface="Inter" pitchFamily="34" charset="-122"/>
              </a:rPr>
              <a:t>IMS AND OBJECTIVES OF THE STUDY</a:t>
            </a:r>
            <a:endParaRPr lang="en-US" sz="2400" dirty="0"/>
          </a:p>
        </p:txBody>
      </p:sp>
      <p:sp>
        <p:nvSpPr>
          <p:cNvPr id="26" name="Shape 3">
            <a:extLst>
              <a:ext uri="{FF2B5EF4-FFF2-40B4-BE49-F238E27FC236}">
                <a16:creationId xmlns:a16="http://schemas.microsoft.com/office/drawing/2014/main" id="{9A278696-5085-544B-488F-674C823BF4E9}"/>
              </a:ext>
            </a:extLst>
          </p:cNvPr>
          <p:cNvSpPr/>
          <p:nvPr/>
        </p:nvSpPr>
        <p:spPr>
          <a:xfrm>
            <a:off x="11099856" y="2515642"/>
            <a:ext cx="4788000" cy="19050"/>
          </a:xfrm>
          <a:prstGeom prst="rect">
            <a:avLst/>
          </a:prstGeom>
          <a:solidFill>
            <a:schemeClr val="tx1">
              <a:lumMod val="50000"/>
              <a:lumOff val="50000"/>
            </a:schemeClr>
          </a:solidFill>
          <a:ln/>
        </p:spPr>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609600"/>
            <a:ext cx="814388" cy="247650"/>
          </a:xfrm>
          <a:prstGeom prst="rect">
            <a:avLst/>
          </a:prstGeom>
        </p:spPr>
      </p:pic>
      <p:sp>
        <p:nvSpPr>
          <p:cNvPr id="4" name="Text 1"/>
          <p:cNvSpPr/>
          <p:nvPr/>
        </p:nvSpPr>
        <p:spPr>
          <a:xfrm>
            <a:off x="857250" y="1028700"/>
            <a:ext cx="1823085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Who this work is for</a:t>
            </a:r>
            <a:endParaRPr lang="en-US" sz="3975" dirty="0"/>
          </a:p>
        </p:txBody>
      </p:sp>
      <p:sp>
        <p:nvSpPr>
          <p:cNvPr id="5" name="Shape 2"/>
          <p:cNvSpPr/>
          <p:nvPr/>
        </p:nvSpPr>
        <p:spPr>
          <a:xfrm>
            <a:off x="857250" y="1995289"/>
            <a:ext cx="4962684" cy="7682111"/>
          </a:xfrm>
          <a:prstGeom prst="roundRect">
            <a:avLst>
              <a:gd name="adj" fmla="val 3563"/>
            </a:avLst>
          </a:prstGeom>
          <a:solidFill>
            <a:srgbClr val="FFFFFF"/>
          </a:solidFill>
          <a:ln w="6350">
            <a:solidFill>
              <a:srgbClr val="E1EEEC"/>
            </a:solidFill>
            <a:prstDash val="solid"/>
          </a:ln>
        </p:spPr>
      </p:sp>
      <p:sp>
        <p:nvSpPr>
          <p:cNvPr id="6" name="Text 3"/>
          <p:cNvSpPr/>
          <p:nvPr/>
        </p:nvSpPr>
        <p:spPr>
          <a:xfrm>
            <a:off x="1263650" y="4114602"/>
            <a:ext cx="4107247" cy="999826"/>
          </a:xfrm>
          <a:prstGeom prst="rect">
            <a:avLst/>
          </a:prstGeom>
          <a:noFill/>
          <a:ln/>
        </p:spPr>
        <p:txBody>
          <a:bodyPr wrap="square" lIns="25400" tIns="25400" rIns="25400" bIns="25400" rtlCol="0" anchor="t">
            <a:normAutofit/>
          </a:bodyPr>
          <a:lstStyle/>
          <a:p>
            <a:pPr marL="0" indent="0" algn="l">
              <a:lnSpc>
                <a:spcPct val="118393"/>
              </a:lnSpc>
              <a:buNone/>
            </a:pPr>
            <a:r>
              <a:rPr lang="en-US" sz="2500" b="1" dirty="0">
                <a:solidFill>
                  <a:srgbClr val="016359"/>
                </a:solidFill>
                <a:latin typeface="Inter" panose="02000503000000020004" pitchFamily="2" charset="0"/>
                <a:ea typeface="Inter" panose="02000503000000020004" pitchFamily="2" charset="0"/>
                <a:cs typeface="Archivo" pitchFamily="34" charset="-120"/>
              </a:rPr>
              <a:t>Patients on several medicines</a:t>
            </a:r>
            <a:endParaRPr lang="en-US" sz="2500" dirty="0"/>
          </a:p>
        </p:txBody>
      </p:sp>
      <p:sp>
        <p:nvSpPr>
          <p:cNvPr id="7" name="Text 4"/>
          <p:cNvSpPr/>
          <p:nvPr/>
        </p:nvSpPr>
        <p:spPr>
          <a:xfrm>
            <a:off x="1263651" y="5324872"/>
            <a:ext cx="4107246" cy="2218930"/>
          </a:xfrm>
          <a:prstGeom prst="rect">
            <a:avLst/>
          </a:prstGeom>
          <a:noFill/>
          <a:ln/>
        </p:spPr>
        <p:txBody>
          <a:bodyPr wrap="square" lIns="25400" tIns="25400" rIns="25400" bIns="25400" rtlCol="0" anchor="t">
            <a:noAutofit/>
          </a:bodyPr>
          <a:lstStyle/>
          <a:p>
            <a:pPr marL="0" indent="0" algn="l">
              <a:lnSpc>
                <a:spcPct val="118364"/>
              </a:lnSpc>
              <a:buNone/>
            </a:pPr>
            <a:r>
              <a:rPr lang="en-US" sz="2200" dirty="0">
                <a:solidFill>
                  <a:srgbClr val="33464B"/>
                </a:solidFill>
                <a:latin typeface="Inter" panose="02000503000000020004" pitchFamily="2" charset="0"/>
                <a:ea typeface="Inter" panose="02000503000000020004" pitchFamily="2" charset="0"/>
                <a:cs typeface="IBM Plex Sans" pitchFamily="34" charset="-120"/>
              </a:rPr>
              <a:t>Immediate, evidence-based warnings about risky combinations, particularly for older adults who carry the highest interaction risk.</a:t>
            </a:r>
            <a:endParaRPr lang="en-US" sz="2200" dirty="0"/>
          </a:p>
        </p:txBody>
      </p:sp>
      <p:sp>
        <p:nvSpPr>
          <p:cNvPr id="8" name="Shape 5"/>
          <p:cNvSpPr/>
          <p:nvPr/>
        </p:nvSpPr>
        <p:spPr>
          <a:xfrm>
            <a:off x="6662658" y="1995288"/>
            <a:ext cx="4962684" cy="7682111"/>
          </a:xfrm>
          <a:prstGeom prst="roundRect">
            <a:avLst>
              <a:gd name="adj" fmla="val 3563"/>
            </a:avLst>
          </a:prstGeom>
          <a:solidFill>
            <a:srgbClr val="FFFFFF"/>
          </a:solidFill>
          <a:ln w="6350">
            <a:solidFill>
              <a:srgbClr val="E1EEEC"/>
            </a:solidFill>
            <a:prstDash val="solid"/>
          </a:ln>
        </p:spPr>
      </p:sp>
      <p:sp>
        <p:nvSpPr>
          <p:cNvPr id="9" name="Text 6"/>
          <p:cNvSpPr/>
          <p:nvPr/>
        </p:nvSpPr>
        <p:spPr>
          <a:xfrm>
            <a:off x="7069059" y="4114602"/>
            <a:ext cx="4144373" cy="1077912"/>
          </a:xfrm>
          <a:prstGeom prst="rect">
            <a:avLst/>
          </a:prstGeom>
          <a:noFill/>
          <a:ln/>
        </p:spPr>
        <p:txBody>
          <a:bodyPr wrap="square" lIns="25400" tIns="25400" rIns="25400" bIns="25400" rtlCol="0" anchor="t">
            <a:normAutofit/>
          </a:bodyPr>
          <a:lstStyle/>
          <a:p>
            <a:pPr marL="0" indent="0" algn="l">
              <a:lnSpc>
                <a:spcPct val="118393"/>
              </a:lnSpc>
              <a:buNone/>
            </a:pPr>
            <a:r>
              <a:rPr lang="en-US" sz="2500" b="1" dirty="0">
                <a:solidFill>
                  <a:srgbClr val="016359"/>
                </a:solidFill>
                <a:latin typeface="Inter" panose="02000503000000020004" pitchFamily="2" charset="0"/>
                <a:ea typeface="Inter" panose="02000503000000020004" pitchFamily="2" charset="0"/>
                <a:cs typeface="Archivo" pitchFamily="34" charset="-120"/>
              </a:rPr>
              <a:t>Practitioners without support tools</a:t>
            </a:r>
            <a:endParaRPr lang="en-US" sz="2500" dirty="0"/>
          </a:p>
        </p:txBody>
      </p:sp>
      <p:sp>
        <p:nvSpPr>
          <p:cNvPr id="10" name="Text 7"/>
          <p:cNvSpPr/>
          <p:nvPr/>
        </p:nvSpPr>
        <p:spPr>
          <a:xfrm>
            <a:off x="7069059" y="5324870"/>
            <a:ext cx="4334510" cy="2218930"/>
          </a:xfrm>
          <a:prstGeom prst="rect">
            <a:avLst/>
          </a:prstGeom>
          <a:noFill/>
          <a:ln/>
        </p:spPr>
        <p:txBody>
          <a:bodyPr wrap="square" lIns="25400" tIns="25400" rIns="25400" bIns="25400" rtlCol="0" anchor="t">
            <a:noAutofit/>
          </a:bodyPr>
          <a:lstStyle/>
          <a:p>
            <a:pPr marL="0" indent="0" algn="l">
              <a:lnSpc>
                <a:spcPct val="118364"/>
              </a:lnSpc>
              <a:buNone/>
            </a:pPr>
            <a:r>
              <a:rPr lang="en-US" sz="2200" dirty="0">
                <a:solidFill>
                  <a:srgbClr val="33464B"/>
                </a:solidFill>
                <a:latin typeface="Inter" panose="02000503000000020004" pitchFamily="2" charset="0"/>
                <a:ea typeface="Inter" panose="02000503000000020004" pitchFamily="2" charset="0"/>
                <a:cs typeface="IBM Plex Sans" pitchFamily="34" charset="-120"/>
              </a:rPr>
              <a:t>Decision support that needs no hospital infrastructure and no record-system integration, so judgement is spent where it matters.</a:t>
            </a:r>
            <a:endParaRPr lang="en-US" sz="2200" dirty="0"/>
          </a:p>
        </p:txBody>
      </p:sp>
      <p:sp>
        <p:nvSpPr>
          <p:cNvPr id="11" name="Shape 8"/>
          <p:cNvSpPr/>
          <p:nvPr/>
        </p:nvSpPr>
        <p:spPr>
          <a:xfrm>
            <a:off x="12395263" y="1995288"/>
            <a:ext cx="4962684" cy="7682111"/>
          </a:xfrm>
          <a:prstGeom prst="roundRect">
            <a:avLst>
              <a:gd name="adj" fmla="val 3563"/>
            </a:avLst>
          </a:prstGeom>
          <a:solidFill>
            <a:srgbClr val="FFFFFF"/>
          </a:solidFill>
          <a:ln w="6350">
            <a:solidFill>
              <a:srgbClr val="E1EEEC"/>
            </a:solidFill>
            <a:prstDash val="solid"/>
          </a:ln>
        </p:spPr>
      </p:sp>
      <p:sp>
        <p:nvSpPr>
          <p:cNvPr id="12" name="Text 9"/>
          <p:cNvSpPr/>
          <p:nvPr/>
        </p:nvSpPr>
        <p:spPr>
          <a:xfrm>
            <a:off x="12801662" y="4114602"/>
            <a:ext cx="4222688" cy="637084"/>
          </a:xfrm>
          <a:prstGeom prst="rect">
            <a:avLst/>
          </a:prstGeom>
          <a:noFill/>
          <a:ln/>
        </p:spPr>
        <p:txBody>
          <a:bodyPr wrap="square" lIns="25400" tIns="25400" rIns="25400" bIns="25400" rtlCol="0" anchor="t">
            <a:normAutofit/>
          </a:bodyPr>
          <a:lstStyle/>
          <a:p>
            <a:pPr marL="0" indent="0" algn="l">
              <a:lnSpc>
                <a:spcPct val="118393"/>
              </a:lnSpc>
              <a:buNone/>
            </a:pPr>
            <a:r>
              <a:rPr lang="en-US" sz="2500" b="1" dirty="0">
                <a:solidFill>
                  <a:srgbClr val="016359"/>
                </a:solidFill>
                <a:latin typeface="Inter" panose="02000503000000020004" pitchFamily="2" charset="0"/>
                <a:ea typeface="Inter" panose="02000503000000020004" pitchFamily="2" charset="0"/>
                <a:cs typeface="Archivo" pitchFamily="34" charset="-120"/>
              </a:rPr>
              <a:t>The research field</a:t>
            </a:r>
            <a:endParaRPr lang="en-US" sz="2500" dirty="0"/>
          </a:p>
        </p:txBody>
      </p:sp>
      <p:sp>
        <p:nvSpPr>
          <p:cNvPr id="13" name="Text 10"/>
          <p:cNvSpPr/>
          <p:nvPr/>
        </p:nvSpPr>
        <p:spPr>
          <a:xfrm>
            <a:off x="12801663" y="5324871"/>
            <a:ext cx="4334510" cy="2218930"/>
          </a:xfrm>
          <a:prstGeom prst="rect">
            <a:avLst/>
          </a:prstGeom>
          <a:noFill/>
          <a:ln/>
        </p:spPr>
        <p:txBody>
          <a:bodyPr wrap="square" lIns="25400" tIns="25400" rIns="25400" bIns="25400" rtlCol="0" anchor="t">
            <a:normAutofit/>
          </a:bodyPr>
          <a:lstStyle/>
          <a:p>
            <a:pPr marL="0" indent="0" algn="l">
              <a:lnSpc>
                <a:spcPct val="118364"/>
              </a:lnSpc>
              <a:buNone/>
            </a:pPr>
            <a:r>
              <a:rPr lang="en-US" sz="2200" dirty="0">
                <a:solidFill>
                  <a:srgbClr val="33464B"/>
                </a:solidFill>
                <a:latin typeface="Inter" panose="02000503000000020004" pitchFamily="2" charset="0"/>
                <a:ea typeface="Inter" panose="02000503000000020004" pitchFamily="2" charset="0"/>
                <a:cs typeface="IBM Plex Sans" pitchFamily="34" charset="-120"/>
              </a:rPr>
              <a:t>A demonstration that a severity model can travel from training all the way to a working application built on free, open data.</a:t>
            </a:r>
            <a:endParaRPr lang="en-US" sz="2200" dirty="0"/>
          </a:p>
        </p:txBody>
      </p:sp>
      <p:sp>
        <p:nvSpPr>
          <p:cNvPr id="14" name="Shape 0">
            <a:extLst>
              <a:ext uri="{FF2B5EF4-FFF2-40B4-BE49-F238E27FC236}">
                <a16:creationId xmlns:a16="http://schemas.microsoft.com/office/drawing/2014/main" id="{275FEBD9-1D96-38C4-A3CA-1E35FF6578E5}"/>
              </a:ext>
            </a:extLst>
          </p:cNvPr>
          <p:cNvSpPr/>
          <p:nvPr/>
        </p:nvSpPr>
        <p:spPr>
          <a:xfrm>
            <a:off x="914400" y="710826"/>
            <a:ext cx="133350" cy="133350"/>
          </a:xfrm>
          <a:prstGeom prst="rect">
            <a:avLst/>
          </a:prstGeom>
          <a:solidFill>
            <a:srgbClr val="0B5C4A"/>
          </a:solidFill>
          <a:ln/>
        </p:spPr>
      </p:sp>
      <p:sp>
        <p:nvSpPr>
          <p:cNvPr id="15" name="Text 1">
            <a:extLst>
              <a:ext uri="{FF2B5EF4-FFF2-40B4-BE49-F238E27FC236}">
                <a16:creationId xmlns:a16="http://schemas.microsoft.com/office/drawing/2014/main" id="{3B22B6A4-1B64-D624-339C-85F1EE2B28C3}"/>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SIGNIFICANCE OF THE STUDY</a:t>
            </a:r>
            <a:endParaRPr lang="en-US" sz="2400" dirty="0"/>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609600"/>
            <a:ext cx="814388" cy="247650"/>
          </a:xfrm>
          <a:prstGeom prst="rect">
            <a:avLst/>
          </a:prstGeom>
        </p:spPr>
      </p:pic>
      <p:sp>
        <p:nvSpPr>
          <p:cNvPr id="4" name="Text 1"/>
          <p:cNvSpPr/>
          <p:nvPr/>
        </p:nvSpPr>
        <p:spPr>
          <a:xfrm>
            <a:off x="857250" y="1028700"/>
            <a:ext cx="1823085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What this study does not claim</a:t>
            </a:r>
            <a:endParaRPr lang="en-US" sz="3975" dirty="0"/>
          </a:p>
        </p:txBody>
      </p:sp>
      <p:sp>
        <p:nvSpPr>
          <p:cNvPr id="5" name="Shape 2"/>
          <p:cNvSpPr/>
          <p:nvPr/>
        </p:nvSpPr>
        <p:spPr>
          <a:xfrm>
            <a:off x="857250" y="2800648"/>
            <a:ext cx="3986213" cy="4280694"/>
          </a:xfrm>
          <a:prstGeom prst="roundRect">
            <a:avLst>
              <a:gd name="adj" fmla="val 4779"/>
            </a:avLst>
          </a:prstGeom>
          <a:solidFill>
            <a:srgbClr val="FFFFFF"/>
          </a:solidFill>
          <a:ln/>
        </p:spPr>
      </p:sp>
      <p:sp>
        <p:nvSpPr>
          <p:cNvPr id="6" name="Shape 3"/>
          <p:cNvSpPr/>
          <p:nvPr/>
        </p:nvSpPr>
        <p:spPr>
          <a:xfrm>
            <a:off x="857250" y="7074992"/>
            <a:ext cx="3986213" cy="9525"/>
          </a:xfrm>
          <a:prstGeom prst="rect">
            <a:avLst/>
          </a:prstGeom>
          <a:solidFill>
            <a:srgbClr val="E1EEEC"/>
          </a:solidFill>
          <a:ln/>
        </p:spPr>
      </p:sp>
      <p:sp>
        <p:nvSpPr>
          <p:cNvPr id="7" name="Shape 4"/>
          <p:cNvSpPr/>
          <p:nvPr/>
        </p:nvSpPr>
        <p:spPr>
          <a:xfrm>
            <a:off x="857250" y="2800648"/>
            <a:ext cx="3986213" cy="44450"/>
          </a:xfrm>
          <a:prstGeom prst="rect">
            <a:avLst/>
          </a:prstGeom>
          <a:solidFill>
            <a:srgbClr val="D93639"/>
          </a:solidFill>
          <a:ln/>
        </p:spPr>
      </p:sp>
      <p:sp>
        <p:nvSpPr>
          <p:cNvPr id="8" name="Shape 5"/>
          <p:cNvSpPr/>
          <p:nvPr/>
        </p:nvSpPr>
        <p:spPr>
          <a:xfrm>
            <a:off x="857250" y="2800648"/>
            <a:ext cx="9525" cy="4280694"/>
          </a:xfrm>
          <a:prstGeom prst="rect">
            <a:avLst/>
          </a:prstGeom>
          <a:solidFill>
            <a:srgbClr val="E1EEEC"/>
          </a:solidFill>
          <a:ln/>
        </p:spPr>
      </p:sp>
      <p:sp>
        <p:nvSpPr>
          <p:cNvPr id="9" name="Shape 6"/>
          <p:cNvSpPr/>
          <p:nvPr/>
        </p:nvSpPr>
        <p:spPr>
          <a:xfrm>
            <a:off x="4837112" y="2800648"/>
            <a:ext cx="9525" cy="4280694"/>
          </a:xfrm>
          <a:prstGeom prst="rect">
            <a:avLst/>
          </a:prstGeom>
          <a:solidFill>
            <a:srgbClr val="E1EEEC"/>
          </a:solidFill>
          <a:ln/>
        </p:spPr>
      </p:sp>
      <p:sp>
        <p:nvSpPr>
          <p:cNvPr id="10" name="Text 7"/>
          <p:cNvSpPr/>
          <p:nvPr/>
        </p:nvSpPr>
        <p:spPr>
          <a:xfrm>
            <a:off x="1187450" y="3149898"/>
            <a:ext cx="3658394"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Not clinically validated</a:t>
            </a:r>
            <a:endParaRPr lang="en-US" sz="2325" dirty="0"/>
          </a:p>
        </p:txBody>
      </p:sp>
      <p:sp>
        <p:nvSpPr>
          <p:cNvPr id="11" name="Text 8"/>
          <p:cNvSpPr/>
          <p:nvPr/>
        </p:nvSpPr>
        <p:spPr>
          <a:xfrm>
            <a:off x="1187450" y="3686076"/>
            <a:ext cx="3425587" cy="2352675"/>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No institutional trial and no regulatory review by NAFDAC or the FDA. It supports professional judgement; it does not replace it.</a:t>
            </a:r>
            <a:endParaRPr lang="en-US" sz="2025" dirty="0"/>
          </a:p>
        </p:txBody>
      </p:sp>
      <p:sp>
        <p:nvSpPr>
          <p:cNvPr id="12" name="Shape 9"/>
          <p:cNvSpPr/>
          <p:nvPr/>
        </p:nvSpPr>
        <p:spPr>
          <a:xfrm>
            <a:off x="5053013" y="2800648"/>
            <a:ext cx="3986213" cy="4280694"/>
          </a:xfrm>
          <a:prstGeom prst="roundRect">
            <a:avLst>
              <a:gd name="adj" fmla="val 4779"/>
            </a:avLst>
          </a:prstGeom>
          <a:solidFill>
            <a:srgbClr val="FFFFFF"/>
          </a:solidFill>
          <a:ln/>
        </p:spPr>
      </p:sp>
      <p:sp>
        <p:nvSpPr>
          <p:cNvPr id="13" name="Shape 10"/>
          <p:cNvSpPr/>
          <p:nvPr/>
        </p:nvSpPr>
        <p:spPr>
          <a:xfrm>
            <a:off x="5053013" y="7074992"/>
            <a:ext cx="3986213" cy="9525"/>
          </a:xfrm>
          <a:prstGeom prst="rect">
            <a:avLst/>
          </a:prstGeom>
          <a:solidFill>
            <a:srgbClr val="E1EEEC"/>
          </a:solidFill>
          <a:ln/>
        </p:spPr>
      </p:sp>
      <p:sp>
        <p:nvSpPr>
          <p:cNvPr id="14" name="Shape 11"/>
          <p:cNvSpPr/>
          <p:nvPr/>
        </p:nvSpPr>
        <p:spPr>
          <a:xfrm>
            <a:off x="5053013" y="2800648"/>
            <a:ext cx="3986213" cy="44450"/>
          </a:xfrm>
          <a:prstGeom prst="rect">
            <a:avLst/>
          </a:prstGeom>
          <a:solidFill>
            <a:srgbClr val="D93639"/>
          </a:solidFill>
          <a:ln/>
        </p:spPr>
      </p:sp>
      <p:sp>
        <p:nvSpPr>
          <p:cNvPr id="15" name="Shape 12"/>
          <p:cNvSpPr/>
          <p:nvPr/>
        </p:nvSpPr>
        <p:spPr>
          <a:xfrm>
            <a:off x="5053013" y="2800648"/>
            <a:ext cx="9525" cy="4280694"/>
          </a:xfrm>
          <a:prstGeom prst="rect">
            <a:avLst/>
          </a:prstGeom>
          <a:solidFill>
            <a:srgbClr val="E1EEEC"/>
          </a:solidFill>
          <a:ln/>
        </p:spPr>
      </p:sp>
      <p:sp>
        <p:nvSpPr>
          <p:cNvPr id="16" name="Shape 13"/>
          <p:cNvSpPr/>
          <p:nvPr/>
        </p:nvSpPr>
        <p:spPr>
          <a:xfrm>
            <a:off x="9032875" y="2800648"/>
            <a:ext cx="9525" cy="4280694"/>
          </a:xfrm>
          <a:prstGeom prst="rect">
            <a:avLst/>
          </a:prstGeom>
          <a:solidFill>
            <a:srgbClr val="E1EEEC"/>
          </a:solidFill>
          <a:ln/>
        </p:spPr>
      </p:sp>
      <p:sp>
        <p:nvSpPr>
          <p:cNvPr id="17" name="Text 14"/>
          <p:cNvSpPr/>
          <p:nvPr/>
        </p:nvSpPr>
        <p:spPr>
          <a:xfrm>
            <a:off x="5383213" y="3149898"/>
            <a:ext cx="3425587" cy="805656"/>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No pharmacist or prescriber tested it</a:t>
            </a:r>
            <a:endParaRPr lang="en-US" sz="2325" dirty="0"/>
          </a:p>
        </p:txBody>
      </p:sp>
      <p:sp>
        <p:nvSpPr>
          <p:cNvPr id="18" name="Text 15"/>
          <p:cNvSpPr/>
          <p:nvPr/>
        </p:nvSpPr>
        <p:spPr>
          <a:xfrm>
            <a:off x="5383213" y="4069854"/>
            <a:ext cx="3425587" cy="1966912"/>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The cohort was students and clinic staff in one city, so it says nothing about the clinician the system is partly designed for.</a:t>
            </a:r>
            <a:endParaRPr lang="en-US" sz="2025" dirty="0"/>
          </a:p>
        </p:txBody>
      </p:sp>
      <p:sp>
        <p:nvSpPr>
          <p:cNvPr id="19" name="Shape 16"/>
          <p:cNvSpPr/>
          <p:nvPr/>
        </p:nvSpPr>
        <p:spPr>
          <a:xfrm>
            <a:off x="9248775" y="2800648"/>
            <a:ext cx="3986213" cy="4280694"/>
          </a:xfrm>
          <a:prstGeom prst="roundRect">
            <a:avLst>
              <a:gd name="adj" fmla="val 4779"/>
            </a:avLst>
          </a:prstGeom>
          <a:solidFill>
            <a:srgbClr val="FFFFFF"/>
          </a:solidFill>
          <a:ln/>
        </p:spPr>
      </p:sp>
      <p:sp>
        <p:nvSpPr>
          <p:cNvPr id="20" name="Shape 17"/>
          <p:cNvSpPr/>
          <p:nvPr/>
        </p:nvSpPr>
        <p:spPr>
          <a:xfrm>
            <a:off x="9248775" y="7074992"/>
            <a:ext cx="3986213" cy="9525"/>
          </a:xfrm>
          <a:prstGeom prst="rect">
            <a:avLst/>
          </a:prstGeom>
          <a:solidFill>
            <a:srgbClr val="E1EEEC"/>
          </a:solidFill>
          <a:ln/>
        </p:spPr>
      </p:sp>
      <p:sp>
        <p:nvSpPr>
          <p:cNvPr id="21" name="Shape 18"/>
          <p:cNvSpPr/>
          <p:nvPr/>
        </p:nvSpPr>
        <p:spPr>
          <a:xfrm>
            <a:off x="9248775" y="2800648"/>
            <a:ext cx="3986213" cy="44450"/>
          </a:xfrm>
          <a:prstGeom prst="rect">
            <a:avLst/>
          </a:prstGeom>
          <a:solidFill>
            <a:srgbClr val="B45309"/>
          </a:solidFill>
          <a:ln/>
        </p:spPr>
      </p:sp>
      <p:sp>
        <p:nvSpPr>
          <p:cNvPr id="22" name="Shape 19"/>
          <p:cNvSpPr/>
          <p:nvPr/>
        </p:nvSpPr>
        <p:spPr>
          <a:xfrm>
            <a:off x="9248775" y="2800648"/>
            <a:ext cx="9525" cy="4280694"/>
          </a:xfrm>
          <a:prstGeom prst="rect">
            <a:avLst/>
          </a:prstGeom>
          <a:solidFill>
            <a:srgbClr val="E1EEEC"/>
          </a:solidFill>
          <a:ln/>
        </p:spPr>
      </p:sp>
      <p:sp>
        <p:nvSpPr>
          <p:cNvPr id="23" name="Shape 20"/>
          <p:cNvSpPr/>
          <p:nvPr/>
        </p:nvSpPr>
        <p:spPr>
          <a:xfrm>
            <a:off x="13228637" y="2800648"/>
            <a:ext cx="9525" cy="4280694"/>
          </a:xfrm>
          <a:prstGeom prst="rect">
            <a:avLst/>
          </a:prstGeom>
          <a:solidFill>
            <a:srgbClr val="E1EEEC"/>
          </a:solidFill>
          <a:ln/>
        </p:spPr>
      </p:sp>
      <p:sp>
        <p:nvSpPr>
          <p:cNvPr id="24" name="Text 21"/>
          <p:cNvSpPr/>
          <p:nvPr/>
        </p:nvSpPr>
        <p:spPr>
          <a:xfrm>
            <a:off x="9578975" y="3149898"/>
            <a:ext cx="3658394"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Never load-tested</a:t>
            </a:r>
            <a:endParaRPr lang="en-US" sz="2325" dirty="0"/>
          </a:p>
        </p:txBody>
      </p:sp>
      <p:sp>
        <p:nvSpPr>
          <p:cNvPr id="25" name="Text 22"/>
          <p:cNvSpPr/>
          <p:nvPr/>
        </p:nvSpPr>
        <p:spPr>
          <a:xfrm>
            <a:off x="9578975" y="3686076"/>
            <a:ext cx="3425587" cy="1966912"/>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Latency was measured one request at a time. Nothing is known about the prediction service under concurrent use.</a:t>
            </a:r>
            <a:endParaRPr lang="en-US" sz="2025" dirty="0"/>
          </a:p>
        </p:txBody>
      </p:sp>
      <p:sp>
        <p:nvSpPr>
          <p:cNvPr id="26" name="Shape 23"/>
          <p:cNvSpPr/>
          <p:nvPr/>
        </p:nvSpPr>
        <p:spPr>
          <a:xfrm>
            <a:off x="13444538" y="2800648"/>
            <a:ext cx="3986213" cy="4280694"/>
          </a:xfrm>
          <a:prstGeom prst="roundRect">
            <a:avLst>
              <a:gd name="adj" fmla="val 4779"/>
            </a:avLst>
          </a:prstGeom>
          <a:solidFill>
            <a:srgbClr val="FFFFFF"/>
          </a:solidFill>
          <a:ln/>
        </p:spPr>
      </p:sp>
      <p:sp>
        <p:nvSpPr>
          <p:cNvPr id="27" name="Shape 24"/>
          <p:cNvSpPr/>
          <p:nvPr/>
        </p:nvSpPr>
        <p:spPr>
          <a:xfrm>
            <a:off x="13444538" y="7074992"/>
            <a:ext cx="3986213" cy="9525"/>
          </a:xfrm>
          <a:prstGeom prst="rect">
            <a:avLst/>
          </a:prstGeom>
          <a:solidFill>
            <a:srgbClr val="E1EEEC"/>
          </a:solidFill>
          <a:ln/>
        </p:spPr>
      </p:sp>
      <p:sp>
        <p:nvSpPr>
          <p:cNvPr id="28" name="Shape 25"/>
          <p:cNvSpPr/>
          <p:nvPr/>
        </p:nvSpPr>
        <p:spPr>
          <a:xfrm>
            <a:off x="13444538" y="2800648"/>
            <a:ext cx="3986213" cy="44450"/>
          </a:xfrm>
          <a:prstGeom prst="rect">
            <a:avLst/>
          </a:prstGeom>
          <a:solidFill>
            <a:srgbClr val="B45309"/>
          </a:solidFill>
          <a:ln/>
        </p:spPr>
      </p:sp>
      <p:sp>
        <p:nvSpPr>
          <p:cNvPr id="29" name="Shape 26"/>
          <p:cNvSpPr/>
          <p:nvPr/>
        </p:nvSpPr>
        <p:spPr>
          <a:xfrm>
            <a:off x="13444538" y="2800648"/>
            <a:ext cx="9525" cy="4280694"/>
          </a:xfrm>
          <a:prstGeom prst="rect">
            <a:avLst/>
          </a:prstGeom>
          <a:solidFill>
            <a:srgbClr val="E1EEEC"/>
          </a:solidFill>
          <a:ln/>
        </p:spPr>
      </p:sp>
      <p:sp>
        <p:nvSpPr>
          <p:cNvPr id="30" name="Shape 27"/>
          <p:cNvSpPr/>
          <p:nvPr/>
        </p:nvSpPr>
        <p:spPr>
          <a:xfrm>
            <a:off x="17424400" y="2800648"/>
            <a:ext cx="9525" cy="4280694"/>
          </a:xfrm>
          <a:prstGeom prst="rect">
            <a:avLst/>
          </a:prstGeom>
          <a:solidFill>
            <a:srgbClr val="E1EEEC"/>
          </a:solidFill>
          <a:ln/>
        </p:spPr>
      </p:sp>
      <p:sp>
        <p:nvSpPr>
          <p:cNvPr id="31" name="Text 28"/>
          <p:cNvSpPr/>
          <p:nvPr/>
        </p:nvSpPr>
        <p:spPr>
          <a:xfrm>
            <a:off x="13774738" y="3149898"/>
            <a:ext cx="3425587" cy="805656"/>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The shipped database lags the model</a:t>
            </a:r>
            <a:endParaRPr lang="en-US" sz="2325" dirty="0"/>
          </a:p>
        </p:txBody>
      </p:sp>
      <p:sp>
        <p:nvSpPr>
          <p:cNvPr id="32" name="Text 29"/>
          <p:cNvSpPr/>
          <p:nvPr/>
        </p:nvSpPr>
        <p:spPr>
          <a:xfrm>
            <a:off x="13774738" y="4069854"/>
            <a:ext cx="3425587" cy="2738438"/>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13.9% of its records would move from Moderate to Major under the current classifier. DrugBank suspended academic downloads before it could be rebuilt.</a:t>
            </a:r>
            <a:endParaRPr lang="en-US" sz="2025" dirty="0"/>
          </a:p>
        </p:txBody>
      </p:sp>
      <p:sp>
        <p:nvSpPr>
          <p:cNvPr id="33" name="Shape 30"/>
          <p:cNvSpPr/>
          <p:nvPr/>
        </p:nvSpPr>
        <p:spPr>
          <a:xfrm>
            <a:off x="857250" y="7290892"/>
            <a:ext cx="16573500" cy="1504950"/>
          </a:xfrm>
          <a:prstGeom prst="roundRect">
            <a:avLst>
              <a:gd name="adj" fmla="val 12658"/>
            </a:avLst>
          </a:prstGeom>
          <a:solidFill>
            <a:srgbClr val="0E1517"/>
          </a:solidFill>
          <a:ln/>
        </p:spPr>
      </p:sp>
      <p:sp>
        <p:nvSpPr>
          <p:cNvPr id="34" name="Text 31"/>
          <p:cNvSpPr/>
          <p:nvPr/>
        </p:nvSpPr>
        <p:spPr>
          <a:xfrm>
            <a:off x="1238250" y="7614742"/>
            <a:ext cx="15893415" cy="895350"/>
          </a:xfrm>
          <a:prstGeom prst="rect">
            <a:avLst/>
          </a:prstGeom>
          <a:noFill/>
          <a:ln/>
        </p:spPr>
        <p:txBody>
          <a:bodyPr wrap="square" lIns="25400" tIns="25400" rIns="25400" bIns="25400" rtlCol="0" anchor="t">
            <a:normAutofit/>
          </a:bodyPr>
          <a:lstStyle/>
          <a:p>
            <a:pPr marL="0" indent="0" algn="l">
              <a:lnSpc>
                <a:spcPct val="116379"/>
              </a:lnSpc>
              <a:buNone/>
            </a:pPr>
            <a:r>
              <a:rPr lang="en-US" sz="2250" dirty="0">
                <a:solidFill>
                  <a:srgbClr val="C2CFCD"/>
                </a:solidFill>
                <a:latin typeface="Inter" panose="02000503000000020004" pitchFamily="2" charset="0"/>
                <a:ea typeface="Inter" panose="02000503000000020004" pitchFamily="2" charset="0"/>
                <a:cs typeface="IBM Plex Sans" pitchFamily="34" charset="-120"/>
              </a:rPr>
              <a:t>The model results are unaffected: the classifier was trained on the corrected labels. It is the database that fell behind, not the model.</a:t>
            </a:r>
            <a:endParaRPr lang="en-US" sz="2250" dirty="0"/>
          </a:p>
        </p:txBody>
      </p:sp>
      <p:sp>
        <p:nvSpPr>
          <p:cNvPr id="35" name="Shape 0">
            <a:extLst>
              <a:ext uri="{FF2B5EF4-FFF2-40B4-BE49-F238E27FC236}">
                <a16:creationId xmlns:a16="http://schemas.microsoft.com/office/drawing/2014/main" id="{5FB622FE-6744-5533-8C80-A194AD34F000}"/>
              </a:ext>
            </a:extLst>
          </p:cNvPr>
          <p:cNvSpPr/>
          <p:nvPr/>
        </p:nvSpPr>
        <p:spPr>
          <a:xfrm>
            <a:off x="914400" y="710826"/>
            <a:ext cx="133350" cy="133350"/>
          </a:xfrm>
          <a:prstGeom prst="rect">
            <a:avLst/>
          </a:prstGeom>
          <a:solidFill>
            <a:srgbClr val="0B5C4A"/>
          </a:solidFill>
          <a:ln/>
        </p:spPr>
      </p:sp>
      <p:sp>
        <p:nvSpPr>
          <p:cNvPr id="36" name="Text 1">
            <a:extLst>
              <a:ext uri="{FF2B5EF4-FFF2-40B4-BE49-F238E27FC236}">
                <a16:creationId xmlns:a16="http://schemas.microsoft.com/office/drawing/2014/main" id="{B18DB869-7613-6A53-431F-3A203A6837DC}"/>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LIMITATION OF THE STUDY</a:t>
            </a:r>
            <a:endParaRPr lang="en-US" sz="2400" dirty="0"/>
          </a:p>
        </p:txBody>
      </p:sp>
    </p:spTree>
    <p:extLst>
      <p:ext uri="{BB962C8B-B14F-4D97-AF65-F5344CB8AC3E}">
        <p14:creationId xmlns:p14="http://schemas.microsoft.com/office/powerpoint/2010/main" val="3513844592"/>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609600"/>
            <a:ext cx="814388" cy="247650"/>
          </a:xfrm>
          <a:prstGeom prst="rect">
            <a:avLst/>
          </a:prstGeom>
        </p:spPr>
      </p:pic>
      <p:sp>
        <p:nvSpPr>
          <p:cNvPr id="4" name="Text 1"/>
          <p:cNvSpPr/>
          <p:nvPr/>
        </p:nvSpPr>
        <p:spPr>
          <a:xfrm>
            <a:off x="857250" y="1028700"/>
            <a:ext cx="1823085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Three approaches to predicting interaction risk, compared</a:t>
            </a:r>
            <a:endParaRPr lang="en-US" sz="3975" dirty="0"/>
          </a:p>
        </p:txBody>
      </p:sp>
      <p:sp>
        <p:nvSpPr>
          <p:cNvPr id="5" name="Shape 2"/>
          <p:cNvSpPr/>
          <p:nvPr/>
        </p:nvSpPr>
        <p:spPr>
          <a:xfrm>
            <a:off x="857250" y="1919089"/>
            <a:ext cx="16573500" cy="7202091"/>
          </a:xfrm>
          <a:prstGeom prst="roundRect">
            <a:avLst>
              <a:gd name="adj" fmla="val 2645"/>
            </a:avLst>
          </a:prstGeom>
          <a:solidFill>
            <a:srgbClr val="FFFFFF"/>
          </a:solidFill>
          <a:ln w="6350">
            <a:solidFill>
              <a:srgbClr val="E1EEEC"/>
            </a:solidFill>
            <a:prstDash val="solid"/>
          </a:ln>
        </p:spPr>
      </p:sp>
      <p:sp>
        <p:nvSpPr>
          <p:cNvPr id="6" name="Shape 3"/>
          <p:cNvSpPr/>
          <p:nvPr/>
        </p:nvSpPr>
        <p:spPr>
          <a:xfrm>
            <a:off x="863600" y="1925439"/>
            <a:ext cx="16560800" cy="747316"/>
          </a:xfrm>
          <a:prstGeom prst="rect">
            <a:avLst/>
          </a:prstGeom>
          <a:solidFill>
            <a:srgbClr val="F2F7F7"/>
          </a:solidFill>
          <a:ln/>
        </p:spPr>
      </p:sp>
      <p:sp>
        <p:nvSpPr>
          <p:cNvPr id="7" name="Shape 4"/>
          <p:cNvSpPr/>
          <p:nvPr/>
        </p:nvSpPr>
        <p:spPr>
          <a:xfrm>
            <a:off x="863600" y="2666405"/>
            <a:ext cx="14830633" cy="9525"/>
          </a:xfrm>
          <a:prstGeom prst="rect">
            <a:avLst/>
          </a:prstGeom>
          <a:solidFill>
            <a:srgbClr val="E1EEEC"/>
          </a:solidFill>
          <a:ln/>
        </p:spPr>
      </p:sp>
      <p:sp>
        <p:nvSpPr>
          <p:cNvPr id="8" name="Text 5"/>
          <p:cNvSpPr/>
          <p:nvPr/>
        </p:nvSpPr>
        <p:spPr>
          <a:xfrm>
            <a:off x="1149350" y="2134989"/>
            <a:ext cx="3122135" cy="359966"/>
          </a:xfrm>
          <a:prstGeom prst="rect">
            <a:avLst/>
          </a:prstGeom>
          <a:noFill/>
          <a:ln/>
        </p:spPr>
        <p:txBody>
          <a:bodyPr wrap="square" lIns="25400" tIns="25400" rIns="25400" bIns="25400" rtlCol="0" anchor="t">
            <a:normAutofit/>
          </a:bodyPr>
          <a:lstStyle/>
          <a:p>
            <a:pPr marL="0" indent="0" algn="l">
              <a:lnSpc>
                <a:spcPct val="99412"/>
              </a:lnSpc>
              <a:buNone/>
            </a:pPr>
            <a:r>
              <a:rPr lang="en-US" sz="2000" b="1" dirty="0">
                <a:solidFill>
                  <a:srgbClr val="6F7D81"/>
                </a:solidFill>
                <a:latin typeface="Inter" panose="02000503000000020004" pitchFamily="2" charset="0"/>
                <a:ea typeface="Inter" panose="02000503000000020004" pitchFamily="2" charset="0"/>
                <a:cs typeface="IBM Plex Sans" pitchFamily="34" charset="-120"/>
              </a:rPr>
              <a:t>Approach</a:t>
            </a:r>
            <a:endParaRPr lang="en-US" sz="2000" dirty="0"/>
          </a:p>
        </p:txBody>
      </p:sp>
      <p:sp>
        <p:nvSpPr>
          <p:cNvPr id="9" name="Text 6"/>
          <p:cNvSpPr/>
          <p:nvPr/>
        </p:nvSpPr>
        <p:spPr>
          <a:xfrm>
            <a:off x="5089029" y="2134989"/>
            <a:ext cx="3566001" cy="359966"/>
          </a:xfrm>
          <a:prstGeom prst="rect">
            <a:avLst/>
          </a:prstGeom>
          <a:noFill/>
          <a:ln/>
        </p:spPr>
        <p:txBody>
          <a:bodyPr wrap="square" lIns="25400" tIns="25400" rIns="25400" bIns="25400" rtlCol="0" anchor="t">
            <a:normAutofit/>
          </a:bodyPr>
          <a:lstStyle/>
          <a:p>
            <a:pPr marL="0" indent="0" algn="l">
              <a:lnSpc>
                <a:spcPct val="99412"/>
              </a:lnSpc>
              <a:buNone/>
            </a:pPr>
            <a:r>
              <a:rPr lang="en-US" sz="2000" b="1" dirty="0">
                <a:solidFill>
                  <a:srgbClr val="6F7D81"/>
                </a:solidFill>
                <a:latin typeface="Inter" panose="02000503000000020004" pitchFamily="2" charset="0"/>
                <a:ea typeface="Inter" panose="02000503000000020004" pitchFamily="2" charset="0"/>
                <a:cs typeface="IBM Plex Sans" pitchFamily="34" charset="-120"/>
              </a:rPr>
              <a:t>Strength</a:t>
            </a:r>
            <a:endParaRPr lang="en-US" sz="2000" dirty="0"/>
          </a:p>
        </p:txBody>
      </p:sp>
      <p:sp>
        <p:nvSpPr>
          <p:cNvPr id="10" name="Text 7"/>
          <p:cNvSpPr/>
          <p:nvPr/>
        </p:nvSpPr>
        <p:spPr>
          <a:xfrm>
            <a:off x="9509919" y="2134989"/>
            <a:ext cx="3566001" cy="359966"/>
          </a:xfrm>
          <a:prstGeom prst="rect">
            <a:avLst/>
          </a:prstGeom>
          <a:noFill/>
          <a:ln/>
        </p:spPr>
        <p:txBody>
          <a:bodyPr wrap="square" lIns="25400" tIns="25400" rIns="25400" bIns="25400" rtlCol="0" anchor="t">
            <a:normAutofit/>
          </a:bodyPr>
          <a:lstStyle/>
          <a:p>
            <a:pPr marL="0" indent="0" algn="l">
              <a:lnSpc>
                <a:spcPct val="99412"/>
              </a:lnSpc>
              <a:buNone/>
            </a:pPr>
            <a:r>
              <a:rPr lang="en-US" sz="2000" b="1" dirty="0">
                <a:solidFill>
                  <a:srgbClr val="6F7D81"/>
                </a:solidFill>
                <a:latin typeface="Inter" panose="02000503000000020004" pitchFamily="2" charset="0"/>
                <a:ea typeface="Inter" panose="02000503000000020004" pitchFamily="2" charset="0"/>
                <a:cs typeface="IBM Plex Sans" pitchFamily="34" charset="-120"/>
              </a:rPr>
              <a:t>Cost</a:t>
            </a:r>
            <a:endParaRPr lang="en-US" sz="2000" dirty="0"/>
          </a:p>
        </p:txBody>
      </p:sp>
      <p:sp>
        <p:nvSpPr>
          <p:cNvPr id="11" name="Text 8"/>
          <p:cNvSpPr/>
          <p:nvPr/>
        </p:nvSpPr>
        <p:spPr>
          <a:xfrm>
            <a:off x="13930809" y="2134989"/>
            <a:ext cx="2974242" cy="359966"/>
          </a:xfrm>
          <a:prstGeom prst="rect">
            <a:avLst/>
          </a:prstGeom>
          <a:noFill/>
          <a:ln/>
        </p:spPr>
        <p:txBody>
          <a:bodyPr wrap="square" lIns="25400" tIns="25400" rIns="25400" bIns="25400" rtlCol="0" anchor="t">
            <a:normAutofit/>
          </a:bodyPr>
          <a:lstStyle/>
          <a:p>
            <a:pPr marL="0" indent="0" algn="l">
              <a:lnSpc>
                <a:spcPct val="99412"/>
              </a:lnSpc>
              <a:buNone/>
            </a:pPr>
            <a:r>
              <a:rPr lang="en-US" sz="2000" b="1" dirty="0">
                <a:solidFill>
                  <a:srgbClr val="6F7D81"/>
                </a:solidFill>
                <a:latin typeface="Inter" panose="02000503000000020004" pitchFamily="2" charset="0"/>
                <a:ea typeface="Inter" panose="02000503000000020004" pitchFamily="2" charset="0"/>
                <a:cs typeface="IBM Plex Sans" pitchFamily="34" charset="-120"/>
              </a:rPr>
              <a:t>Fit for this study</a:t>
            </a:r>
            <a:endParaRPr lang="en-US" sz="2000" dirty="0"/>
          </a:p>
        </p:txBody>
      </p:sp>
      <p:sp>
        <p:nvSpPr>
          <p:cNvPr id="12" name="Shape 9"/>
          <p:cNvSpPr/>
          <p:nvPr/>
        </p:nvSpPr>
        <p:spPr>
          <a:xfrm>
            <a:off x="863600" y="4278511"/>
            <a:ext cx="14830633" cy="9525"/>
          </a:xfrm>
          <a:prstGeom prst="rect">
            <a:avLst/>
          </a:prstGeom>
          <a:solidFill>
            <a:srgbClr val="EDF4F3"/>
          </a:solidFill>
          <a:ln/>
        </p:spPr>
      </p:sp>
      <p:sp>
        <p:nvSpPr>
          <p:cNvPr id="13" name="Text 10"/>
          <p:cNvSpPr/>
          <p:nvPr/>
        </p:nvSpPr>
        <p:spPr>
          <a:xfrm>
            <a:off x="1149350" y="3295650"/>
            <a:ext cx="3122135" cy="398066"/>
          </a:xfrm>
          <a:prstGeom prst="rect">
            <a:avLst/>
          </a:prstGeom>
          <a:noFill/>
          <a:ln/>
        </p:spPr>
        <p:txBody>
          <a:bodyPr wrap="square" lIns="25400" tIns="25400" rIns="25400" bIns="25400" rtlCol="0" anchor="t">
            <a:normAutofit/>
          </a:bodyPr>
          <a:lstStyle/>
          <a:p>
            <a:pPr marL="0" indent="0" algn="l">
              <a:lnSpc>
                <a:spcPct val="123261"/>
              </a:lnSpc>
              <a:buNone/>
            </a:pPr>
            <a:r>
              <a:rPr lang="en-US" sz="2000" b="1" dirty="0">
                <a:solidFill>
                  <a:srgbClr val="152428"/>
                </a:solidFill>
                <a:latin typeface="Inter" panose="02000503000000020004" pitchFamily="2" charset="0"/>
                <a:ea typeface="Inter" panose="02000503000000020004" pitchFamily="2" charset="0"/>
                <a:cs typeface="Archivo" pitchFamily="34" charset="-120"/>
              </a:rPr>
              <a:t>Graph neural networks</a:t>
            </a:r>
            <a:endParaRPr lang="en-US" sz="2000" dirty="0"/>
          </a:p>
        </p:txBody>
      </p:sp>
      <p:sp>
        <p:nvSpPr>
          <p:cNvPr id="14" name="Text 11"/>
          <p:cNvSpPr/>
          <p:nvPr/>
        </p:nvSpPr>
        <p:spPr>
          <a:xfrm>
            <a:off x="5089029" y="3128963"/>
            <a:ext cx="3566001" cy="731441"/>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Strongest published benchmark accuracy</a:t>
            </a:r>
            <a:endParaRPr lang="en-US" sz="2000" dirty="0"/>
          </a:p>
        </p:txBody>
      </p:sp>
      <p:sp>
        <p:nvSpPr>
          <p:cNvPr id="15" name="Text 12"/>
          <p:cNvSpPr/>
          <p:nvPr/>
        </p:nvSpPr>
        <p:spPr>
          <a:xfrm>
            <a:off x="9509919" y="3128963"/>
            <a:ext cx="3566001" cy="731441"/>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Needs a knowledge graph and GPU-class compute</a:t>
            </a:r>
            <a:endParaRPr lang="en-US" sz="2000" dirty="0"/>
          </a:p>
        </p:txBody>
      </p:sp>
      <p:sp>
        <p:nvSpPr>
          <p:cNvPr id="16" name="Text 13"/>
          <p:cNvSpPr/>
          <p:nvPr/>
        </p:nvSpPr>
        <p:spPr>
          <a:xfrm>
            <a:off x="13930809" y="3302298"/>
            <a:ext cx="2974242" cy="384770"/>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D93639"/>
                </a:solidFill>
                <a:latin typeface="Inter" panose="02000503000000020004" pitchFamily="2" charset="0"/>
                <a:ea typeface="Inter" panose="02000503000000020004" pitchFamily="2" charset="0"/>
                <a:cs typeface="IBM Plex Sans" pitchFamily="34" charset="-120"/>
              </a:rPr>
              <a:t>Cannot run on a phone</a:t>
            </a:r>
            <a:endParaRPr lang="en-US" sz="2000" dirty="0"/>
          </a:p>
        </p:txBody>
      </p:sp>
      <p:sp>
        <p:nvSpPr>
          <p:cNvPr id="17" name="Shape 14"/>
          <p:cNvSpPr/>
          <p:nvPr/>
        </p:nvSpPr>
        <p:spPr>
          <a:xfrm>
            <a:off x="863600" y="5890617"/>
            <a:ext cx="14830633" cy="9525"/>
          </a:xfrm>
          <a:prstGeom prst="rect">
            <a:avLst/>
          </a:prstGeom>
          <a:solidFill>
            <a:srgbClr val="EDF4F3"/>
          </a:solidFill>
          <a:ln/>
        </p:spPr>
      </p:sp>
      <p:sp>
        <p:nvSpPr>
          <p:cNvPr id="18" name="Text 15"/>
          <p:cNvSpPr/>
          <p:nvPr/>
        </p:nvSpPr>
        <p:spPr>
          <a:xfrm>
            <a:off x="1149350" y="4907756"/>
            <a:ext cx="3122135" cy="398066"/>
          </a:xfrm>
          <a:prstGeom prst="rect">
            <a:avLst/>
          </a:prstGeom>
          <a:noFill/>
          <a:ln/>
        </p:spPr>
        <p:txBody>
          <a:bodyPr wrap="square" lIns="25400" tIns="25400" rIns="25400" bIns="25400" rtlCol="0" anchor="t">
            <a:normAutofit/>
          </a:bodyPr>
          <a:lstStyle/>
          <a:p>
            <a:pPr marL="0" indent="0" algn="l">
              <a:lnSpc>
                <a:spcPct val="123261"/>
              </a:lnSpc>
              <a:buNone/>
            </a:pPr>
            <a:r>
              <a:rPr lang="en-US" sz="2000" b="1" dirty="0">
                <a:solidFill>
                  <a:srgbClr val="152428"/>
                </a:solidFill>
                <a:latin typeface="Inter" panose="02000503000000020004" pitchFamily="2" charset="0"/>
                <a:ea typeface="Inter" panose="02000503000000020004" pitchFamily="2" charset="0"/>
                <a:cs typeface="Archivo" pitchFamily="34" charset="-120"/>
              </a:rPr>
              <a:t>Deep multimodal models</a:t>
            </a:r>
            <a:endParaRPr lang="en-US" sz="2000" dirty="0"/>
          </a:p>
        </p:txBody>
      </p:sp>
      <p:sp>
        <p:nvSpPr>
          <p:cNvPr id="19" name="Text 16"/>
          <p:cNvSpPr/>
          <p:nvPr/>
        </p:nvSpPr>
        <p:spPr>
          <a:xfrm>
            <a:off x="5089029" y="4741069"/>
            <a:ext cx="3566001" cy="731441"/>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Combine structure, targets, enzymes and pathways</a:t>
            </a:r>
            <a:endParaRPr lang="en-US" sz="2000" dirty="0"/>
          </a:p>
        </p:txBody>
      </p:sp>
      <p:sp>
        <p:nvSpPr>
          <p:cNvPr id="20" name="Text 17"/>
          <p:cNvSpPr/>
          <p:nvPr/>
        </p:nvSpPr>
        <p:spPr>
          <a:xfrm>
            <a:off x="9509919" y="4741069"/>
            <a:ext cx="3566001" cy="731441"/>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Opaque; needs a second model to explain each score</a:t>
            </a:r>
            <a:endParaRPr lang="en-US" sz="2000" dirty="0"/>
          </a:p>
        </p:txBody>
      </p:sp>
      <p:sp>
        <p:nvSpPr>
          <p:cNvPr id="21" name="Text 18"/>
          <p:cNvSpPr/>
          <p:nvPr/>
        </p:nvSpPr>
        <p:spPr>
          <a:xfrm>
            <a:off x="13930809" y="4914404"/>
            <a:ext cx="2974242" cy="384770"/>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B45309"/>
                </a:solidFill>
                <a:latin typeface="Inter" panose="02000503000000020004" pitchFamily="2" charset="0"/>
                <a:ea typeface="Inter" panose="02000503000000020004" pitchFamily="2" charset="0"/>
                <a:cs typeface="IBM Plex Sans" pitchFamily="34" charset="-120"/>
              </a:rPr>
              <a:t>Too heavy, hard to audit</a:t>
            </a:r>
            <a:endParaRPr lang="en-US" sz="2000" dirty="0"/>
          </a:p>
        </p:txBody>
      </p:sp>
      <p:sp>
        <p:nvSpPr>
          <p:cNvPr id="22" name="Shape 19"/>
          <p:cNvSpPr/>
          <p:nvPr/>
        </p:nvSpPr>
        <p:spPr>
          <a:xfrm>
            <a:off x="863600" y="5896967"/>
            <a:ext cx="16573500" cy="1612106"/>
          </a:xfrm>
          <a:prstGeom prst="rect">
            <a:avLst/>
          </a:prstGeom>
          <a:solidFill>
            <a:srgbClr val="F4FAF9"/>
          </a:solidFill>
          <a:ln/>
        </p:spPr>
      </p:sp>
      <p:sp>
        <p:nvSpPr>
          <p:cNvPr id="23" name="Shape 20"/>
          <p:cNvSpPr/>
          <p:nvPr/>
        </p:nvSpPr>
        <p:spPr>
          <a:xfrm>
            <a:off x="863600" y="7502724"/>
            <a:ext cx="14830633" cy="9525"/>
          </a:xfrm>
          <a:prstGeom prst="rect">
            <a:avLst/>
          </a:prstGeom>
          <a:solidFill>
            <a:srgbClr val="EDF4F3"/>
          </a:solidFill>
          <a:ln/>
        </p:spPr>
      </p:sp>
      <p:sp>
        <p:nvSpPr>
          <p:cNvPr id="24" name="Text 21"/>
          <p:cNvSpPr/>
          <p:nvPr/>
        </p:nvSpPr>
        <p:spPr>
          <a:xfrm>
            <a:off x="1149350" y="6519863"/>
            <a:ext cx="3122135" cy="398066"/>
          </a:xfrm>
          <a:prstGeom prst="rect">
            <a:avLst/>
          </a:prstGeom>
          <a:noFill/>
          <a:ln/>
        </p:spPr>
        <p:txBody>
          <a:bodyPr wrap="square" lIns="25400" tIns="25400" rIns="25400" bIns="25400" rtlCol="0" anchor="t">
            <a:normAutofit/>
          </a:bodyPr>
          <a:lstStyle/>
          <a:p>
            <a:pPr marL="0" indent="0" algn="l">
              <a:lnSpc>
                <a:spcPct val="123261"/>
              </a:lnSpc>
              <a:buNone/>
            </a:pPr>
            <a:r>
              <a:rPr lang="en-US" sz="2000" b="1" dirty="0">
                <a:solidFill>
                  <a:srgbClr val="016359"/>
                </a:solidFill>
                <a:latin typeface="Inter" panose="02000503000000020004" pitchFamily="2" charset="0"/>
                <a:ea typeface="Inter" panose="02000503000000020004" pitchFamily="2" charset="0"/>
                <a:cs typeface="Archivo" pitchFamily="34" charset="-120"/>
              </a:rPr>
              <a:t>Tree ensembles</a:t>
            </a:r>
            <a:endParaRPr lang="en-US" sz="2000" dirty="0"/>
          </a:p>
        </p:txBody>
      </p:sp>
      <p:sp>
        <p:nvSpPr>
          <p:cNvPr id="25" name="Text 22"/>
          <p:cNvSpPr/>
          <p:nvPr/>
        </p:nvSpPr>
        <p:spPr>
          <a:xfrm>
            <a:off x="5089029" y="6353175"/>
            <a:ext cx="3566001" cy="731441"/>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Native feature importances; strong on tabular features</a:t>
            </a:r>
            <a:endParaRPr lang="en-US" sz="2000" dirty="0"/>
          </a:p>
        </p:txBody>
      </p:sp>
      <p:sp>
        <p:nvSpPr>
          <p:cNvPr id="26" name="Text 23"/>
          <p:cNvSpPr/>
          <p:nvPr/>
        </p:nvSpPr>
        <p:spPr>
          <a:xfrm>
            <a:off x="9509919" y="6353175"/>
            <a:ext cx="3566001" cy="731441"/>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Slightly behind deep models on raw accuracy</a:t>
            </a:r>
            <a:endParaRPr lang="en-US" sz="2000" dirty="0"/>
          </a:p>
        </p:txBody>
      </p:sp>
      <p:sp>
        <p:nvSpPr>
          <p:cNvPr id="27" name="Text 24"/>
          <p:cNvSpPr/>
          <p:nvPr/>
        </p:nvSpPr>
        <p:spPr>
          <a:xfrm>
            <a:off x="13930809" y="6353175"/>
            <a:ext cx="2974242" cy="731441"/>
          </a:xfrm>
          <a:prstGeom prst="rect">
            <a:avLst/>
          </a:prstGeom>
          <a:noFill/>
          <a:ln/>
        </p:spPr>
        <p:txBody>
          <a:bodyPr wrap="square" lIns="25400" tIns="25400" rIns="25400" bIns="25400" rtlCol="0" anchor="t">
            <a:normAutofit/>
          </a:bodyPr>
          <a:lstStyle/>
          <a:p>
            <a:pPr marL="0" indent="0" algn="l">
              <a:lnSpc>
                <a:spcPct val="107059"/>
              </a:lnSpc>
              <a:buNone/>
            </a:pPr>
            <a:r>
              <a:rPr lang="en-US" sz="2000" b="1" dirty="0">
                <a:solidFill>
                  <a:srgbClr val="016359"/>
                </a:solidFill>
                <a:latin typeface="Inter" panose="02000503000000020004" pitchFamily="2" charset="0"/>
                <a:ea typeface="Inter" panose="02000503000000020004" pitchFamily="2" charset="0"/>
                <a:cs typeface="IBM Plex Sans" pitchFamily="34" charset="-120"/>
              </a:rPr>
              <a:t>Deployable and interpretable</a:t>
            </a:r>
            <a:endParaRPr lang="en-US" sz="2000" dirty="0"/>
          </a:p>
        </p:txBody>
      </p:sp>
      <p:sp>
        <p:nvSpPr>
          <p:cNvPr id="28" name="Shape 25"/>
          <p:cNvSpPr/>
          <p:nvPr/>
        </p:nvSpPr>
        <p:spPr>
          <a:xfrm>
            <a:off x="863600" y="7509074"/>
            <a:ext cx="16560801" cy="1605756"/>
          </a:xfrm>
          <a:prstGeom prst="rect">
            <a:avLst/>
          </a:prstGeom>
          <a:solidFill>
            <a:srgbClr val="FBFDFD"/>
          </a:solidFill>
          <a:ln/>
        </p:spPr>
      </p:sp>
      <p:sp>
        <p:nvSpPr>
          <p:cNvPr id="29" name="Text 26"/>
          <p:cNvSpPr/>
          <p:nvPr/>
        </p:nvSpPr>
        <p:spPr>
          <a:xfrm>
            <a:off x="1149350" y="8131969"/>
            <a:ext cx="3122135" cy="398066"/>
          </a:xfrm>
          <a:prstGeom prst="rect">
            <a:avLst/>
          </a:prstGeom>
          <a:noFill/>
          <a:ln/>
        </p:spPr>
        <p:txBody>
          <a:bodyPr wrap="square" lIns="25400" tIns="25400" rIns="25400" bIns="25400" rtlCol="0" anchor="t">
            <a:normAutofit/>
          </a:bodyPr>
          <a:lstStyle/>
          <a:p>
            <a:pPr marL="0" indent="0" algn="l">
              <a:lnSpc>
                <a:spcPct val="123261"/>
              </a:lnSpc>
              <a:buNone/>
            </a:pPr>
            <a:r>
              <a:rPr lang="en-US" sz="2000" b="1" dirty="0">
                <a:solidFill>
                  <a:srgbClr val="6F7D81"/>
                </a:solidFill>
                <a:latin typeface="Inter" panose="02000503000000020004" pitchFamily="2" charset="0"/>
                <a:ea typeface="Inter" panose="02000503000000020004" pitchFamily="2" charset="0"/>
                <a:cs typeface="Archivo" pitchFamily="34" charset="-120"/>
              </a:rPr>
              <a:t>Shared weakness</a:t>
            </a:r>
            <a:endParaRPr lang="en-US" sz="2000" dirty="0"/>
          </a:p>
        </p:txBody>
      </p:sp>
      <p:sp>
        <p:nvSpPr>
          <p:cNvPr id="30" name="Text 27"/>
          <p:cNvSpPr/>
          <p:nvPr/>
        </p:nvSpPr>
        <p:spPr>
          <a:xfrm>
            <a:off x="5089029" y="7965281"/>
            <a:ext cx="3566001" cy="731441"/>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6F7D81"/>
                </a:solidFill>
                <a:latin typeface="Inter" panose="02000503000000020004" pitchFamily="2" charset="0"/>
                <a:ea typeface="Inter" panose="02000503000000020004" pitchFamily="2" charset="0"/>
                <a:cs typeface="IBM Plex Sans" pitchFamily="34" charset="-120"/>
              </a:rPr>
              <a:t>All three degrade on newly approved drugs</a:t>
            </a:r>
            <a:endParaRPr lang="en-US" sz="2000" dirty="0"/>
          </a:p>
        </p:txBody>
      </p:sp>
      <p:sp>
        <p:nvSpPr>
          <p:cNvPr id="31" name="Text 28"/>
          <p:cNvSpPr/>
          <p:nvPr/>
        </p:nvSpPr>
        <p:spPr>
          <a:xfrm>
            <a:off x="9509919" y="7873841"/>
            <a:ext cx="3566001" cy="731441"/>
          </a:xfrm>
          <a:prstGeom prst="rect">
            <a:avLst/>
          </a:prstGeom>
          <a:noFill/>
          <a:ln/>
        </p:spPr>
        <p:txBody>
          <a:bodyPr wrap="square" lIns="25400" tIns="25400" rIns="25400" bIns="25400" rtlCol="0" anchor="t">
            <a:noAutofit/>
          </a:bodyPr>
          <a:lstStyle/>
          <a:p>
            <a:pPr marL="0" indent="0" algn="l">
              <a:lnSpc>
                <a:spcPct val="107059"/>
              </a:lnSpc>
              <a:buNone/>
            </a:pPr>
            <a:r>
              <a:rPr lang="en-US" sz="2000" dirty="0">
                <a:solidFill>
                  <a:srgbClr val="6F7D81"/>
                </a:solidFill>
                <a:latin typeface="Inter" panose="02000503000000020004" pitchFamily="2" charset="0"/>
                <a:ea typeface="Inter" panose="02000503000000020004" pitchFamily="2" charset="0"/>
                <a:cs typeface="IBM Plex Sans" pitchFamily="34" charset="-120"/>
              </a:rPr>
              <a:t>Severity datasets are dominated by moderate cases</a:t>
            </a:r>
            <a:endParaRPr lang="en-US" sz="2000" dirty="0"/>
          </a:p>
        </p:txBody>
      </p:sp>
      <p:sp>
        <p:nvSpPr>
          <p:cNvPr id="32" name="Text 29"/>
          <p:cNvSpPr/>
          <p:nvPr/>
        </p:nvSpPr>
        <p:spPr>
          <a:xfrm>
            <a:off x="13930809" y="7965281"/>
            <a:ext cx="2974242" cy="731441"/>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6F7D81"/>
                </a:solidFill>
                <a:latin typeface="Inter" panose="02000503000000020004" pitchFamily="2" charset="0"/>
                <a:ea typeface="Inter" panose="02000503000000020004" pitchFamily="2" charset="0"/>
                <a:cs typeface="IBM Plex Sans" pitchFamily="34" charset="-120"/>
              </a:rPr>
              <a:t>Measured here in Chapter Four</a:t>
            </a:r>
            <a:endParaRPr lang="en-US" sz="2000" dirty="0"/>
          </a:p>
        </p:txBody>
      </p:sp>
      <p:sp>
        <p:nvSpPr>
          <p:cNvPr id="33" name="Text 30"/>
          <p:cNvSpPr/>
          <p:nvPr/>
        </p:nvSpPr>
        <p:spPr>
          <a:xfrm>
            <a:off x="857250" y="9330730"/>
            <a:ext cx="18230850" cy="384770"/>
          </a:xfrm>
          <a:prstGeom prst="rect">
            <a:avLst/>
          </a:prstGeom>
          <a:noFill/>
          <a:ln/>
        </p:spPr>
        <p:txBody>
          <a:bodyPr wrap="square" lIns="25400" tIns="25400" rIns="25400" bIns="25400" rtlCol="0" anchor="t">
            <a:normAutofit/>
          </a:bodyPr>
          <a:lstStyle/>
          <a:p>
            <a:pPr marL="0" indent="0" algn="l">
              <a:lnSpc>
                <a:spcPct val="107059"/>
              </a:lnSpc>
              <a:buNone/>
            </a:pPr>
            <a:r>
              <a:rPr lang="en-US" sz="1950" dirty="0">
                <a:solidFill>
                  <a:srgbClr val="6F7D81"/>
                </a:solidFill>
                <a:latin typeface="Inter" panose="02000503000000020004" pitchFamily="2" charset="0"/>
                <a:ea typeface="Inter" panose="02000503000000020004" pitchFamily="2" charset="0"/>
                <a:cs typeface="IBM Plex Sans" pitchFamily="34" charset="-120"/>
              </a:rPr>
              <a:t>Wang et al. (2024) · Xia et al. (2025) · Zhang et al. (2023) · Pham et al. (2024)</a:t>
            </a:r>
            <a:endParaRPr lang="en-US" sz="1950" dirty="0"/>
          </a:p>
        </p:txBody>
      </p:sp>
      <p:sp>
        <p:nvSpPr>
          <p:cNvPr id="34" name="Shape 0">
            <a:extLst>
              <a:ext uri="{FF2B5EF4-FFF2-40B4-BE49-F238E27FC236}">
                <a16:creationId xmlns:a16="http://schemas.microsoft.com/office/drawing/2014/main" id="{18AFF449-16A7-93FF-75D5-A322E88B4807}"/>
              </a:ext>
            </a:extLst>
          </p:cNvPr>
          <p:cNvSpPr/>
          <p:nvPr/>
        </p:nvSpPr>
        <p:spPr>
          <a:xfrm>
            <a:off x="914400" y="710826"/>
            <a:ext cx="133350" cy="133350"/>
          </a:xfrm>
          <a:prstGeom prst="rect">
            <a:avLst/>
          </a:prstGeom>
          <a:solidFill>
            <a:srgbClr val="0B5C4A"/>
          </a:solidFill>
          <a:ln/>
        </p:spPr>
      </p:sp>
      <p:sp>
        <p:nvSpPr>
          <p:cNvPr id="35" name="Text 1">
            <a:extLst>
              <a:ext uri="{FF2B5EF4-FFF2-40B4-BE49-F238E27FC236}">
                <a16:creationId xmlns:a16="http://schemas.microsoft.com/office/drawing/2014/main" id="{38B0FA52-6F88-38FE-7F04-89FDC2EF173A}"/>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REVIEW OF RELATED WORKS</a:t>
            </a:r>
            <a:endParaRPr lang="en-US" sz="2400" dirty="0"/>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711613" y="571500"/>
            <a:ext cx="814388" cy="247650"/>
          </a:xfrm>
          <a:prstGeom prst="rect">
            <a:avLst/>
          </a:prstGeom>
        </p:spPr>
      </p:pic>
      <p:sp>
        <p:nvSpPr>
          <p:cNvPr id="4" name="Text 1"/>
          <p:cNvSpPr/>
          <p:nvPr/>
        </p:nvSpPr>
        <p:spPr>
          <a:xfrm>
            <a:off x="762000" y="990600"/>
            <a:ext cx="1844040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The tools clinicians reach for today</a:t>
            </a:r>
            <a:endParaRPr lang="en-US" sz="3975" dirty="0"/>
          </a:p>
        </p:txBody>
      </p:sp>
      <p:sp>
        <p:nvSpPr>
          <p:cNvPr id="5" name="Shape 2"/>
          <p:cNvSpPr/>
          <p:nvPr/>
        </p:nvSpPr>
        <p:spPr>
          <a:xfrm>
            <a:off x="762000" y="1861939"/>
            <a:ext cx="4019550" cy="7853561"/>
          </a:xfrm>
          <a:prstGeom prst="roundRect">
            <a:avLst>
              <a:gd name="adj" fmla="val 4265"/>
            </a:avLst>
          </a:prstGeom>
          <a:solidFill>
            <a:srgbClr val="FFFFFF"/>
          </a:solidFill>
          <a:ln w="6350">
            <a:solidFill>
              <a:srgbClr val="E1EEEC"/>
            </a:solidFill>
            <a:prstDash val="solid"/>
          </a:ln>
        </p:spPr>
      </p:sp>
      <p:sp>
        <p:nvSpPr>
          <p:cNvPr id="6" name="Shape 3"/>
          <p:cNvSpPr/>
          <p:nvPr/>
        </p:nvSpPr>
        <p:spPr>
          <a:xfrm>
            <a:off x="996950" y="2077839"/>
            <a:ext cx="3549650" cy="4482604"/>
          </a:xfrm>
          <a:prstGeom prst="roundRect">
            <a:avLst>
              <a:gd name="adj" fmla="val 3220"/>
            </a:avLst>
          </a:prstGeom>
          <a:solidFill>
            <a:srgbClr val="F2F7F7"/>
          </a:solidFill>
          <a:ln/>
        </p:spPr>
      </p:sp>
      <p:pic>
        <p:nvPicPr>
          <p:cNvPr id="7" name="Image 1" descr="preencoded.png"/>
          <p:cNvPicPr>
            <a:picLocks noChangeAspect="1"/>
          </p:cNvPicPr>
          <p:nvPr/>
        </p:nvPicPr>
        <p:blipFill>
          <a:blip r:embed="rId4"/>
          <a:srcRect/>
          <a:stretch/>
        </p:blipFill>
        <p:spPr>
          <a:xfrm>
            <a:off x="1805186" y="2173089"/>
            <a:ext cx="1933178" cy="4292005"/>
          </a:xfrm>
          <a:prstGeom prst="rect">
            <a:avLst/>
          </a:prstGeom>
        </p:spPr>
      </p:pic>
      <p:sp>
        <p:nvSpPr>
          <p:cNvPr id="8" name="Text 4"/>
          <p:cNvSpPr/>
          <p:nvPr/>
        </p:nvSpPr>
        <p:spPr>
          <a:xfrm>
            <a:off x="996950" y="6750943"/>
            <a:ext cx="3904615"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Lexicomp</a:t>
            </a:r>
            <a:endParaRPr lang="en-US" sz="2325" dirty="0"/>
          </a:p>
        </p:txBody>
      </p:sp>
      <p:sp>
        <p:nvSpPr>
          <p:cNvPr id="9" name="Text 5"/>
          <p:cNvSpPr/>
          <p:nvPr/>
        </p:nvSpPr>
        <p:spPr>
          <a:xfrm>
            <a:off x="996950" y="7210921"/>
            <a:ext cx="3904615" cy="359966"/>
          </a:xfrm>
          <a:prstGeom prst="rect">
            <a:avLst/>
          </a:prstGeom>
          <a:noFill/>
          <a:ln/>
        </p:spPr>
        <p:txBody>
          <a:bodyPr wrap="square" lIns="25400" tIns="25400" rIns="25400" bIns="25400" rtlCol="0" anchor="t">
            <a:normAutofit/>
          </a:bodyPr>
          <a:lstStyle/>
          <a:p>
            <a:pPr marL="0" indent="0" algn="l">
              <a:lnSpc>
                <a:spcPct val="99412"/>
              </a:lnSpc>
              <a:buNone/>
            </a:pPr>
            <a:r>
              <a:rPr lang="en-US" sz="1950" dirty="0">
                <a:solidFill>
                  <a:srgbClr val="D93639"/>
                </a:solidFill>
                <a:latin typeface="Inter" panose="02000503000000020004" pitchFamily="2" charset="0"/>
                <a:ea typeface="Inter" panose="02000503000000020004" pitchFamily="2" charset="0"/>
                <a:cs typeface="IBM Plex Sans" pitchFamily="34" charset="-120"/>
              </a:rPr>
              <a:t>Subscription</a:t>
            </a:r>
            <a:endParaRPr lang="en-US" sz="1950" dirty="0"/>
          </a:p>
        </p:txBody>
      </p:sp>
      <p:sp>
        <p:nvSpPr>
          <p:cNvPr id="10" name="Text 6"/>
          <p:cNvSpPr/>
          <p:nvPr/>
        </p:nvSpPr>
        <p:spPr>
          <a:xfrm>
            <a:off x="996950" y="7666137"/>
            <a:ext cx="3656140" cy="1833463"/>
          </a:xfrm>
          <a:prstGeom prst="rect">
            <a:avLst/>
          </a:prstGeom>
          <a:noFill/>
          <a:ln/>
        </p:spPr>
        <p:txBody>
          <a:bodyPr wrap="square" lIns="25400" tIns="25400" rIns="25400" bIns="25400" rtlCol="0" anchor="t">
            <a:normAutofit/>
          </a:bodyPr>
          <a:lstStyle/>
          <a:p>
            <a:pPr marL="0" indent="0" algn="l">
              <a:lnSpc>
                <a:spcPct val="110882"/>
              </a:lnSpc>
              <a:buNone/>
            </a:pPr>
            <a:r>
              <a:rPr lang="en-US" sz="1900" dirty="0">
                <a:solidFill>
                  <a:srgbClr val="33464B"/>
                </a:solidFill>
                <a:latin typeface="Inter" panose="02000503000000020004" pitchFamily="2" charset="0"/>
                <a:ea typeface="Inter" panose="02000503000000020004" pitchFamily="2" charset="0"/>
                <a:cs typeface="IBM Plex Sans" pitchFamily="34" charset="-120"/>
              </a:rPr>
              <a:t>First for accuracy and completeness. Priced beyond most Nigerian practice, and its severity ratings are editorial rather than derived.</a:t>
            </a:r>
            <a:endParaRPr lang="en-US" sz="1900" dirty="0"/>
          </a:p>
        </p:txBody>
      </p:sp>
      <p:sp>
        <p:nvSpPr>
          <p:cNvPr id="11" name="Shape 7"/>
          <p:cNvSpPr/>
          <p:nvPr/>
        </p:nvSpPr>
        <p:spPr>
          <a:xfrm>
            <a:off x="5010150" y="1861939"/>
            <a:ext cx="4019550" cy="7853561"/>
          </a:xfrm>
          <a:prstGeom prst="roundRect">
            <a:avLst>
              <a:gd name="adj" fmla="val 4265"/>
            </a:avLst>
          </a:prstGeom>
          <a:solidFill>
            <a:srgbClr val="FFFFFF"/>
          </a:solidFill>
          <a:ln w="6350">
            <a:solidFill>
              <a:srgbClr val="E1EEEC"/>
            </a:solidFill>
            <a:prstDash val="solid"/>
          </a:ln>
        </p:spPr>
      </p:sp>
      <p:sp>
        <p:nvSpPr>
          <p:cNvPr id="12" name="Shape 8"/>
          <p:cNvSpPr/>
          <p:nvPr/>
        </p:nvSpPr>
        <p:spPr>
          <a:xfrm>
            <a:off x="5245100" y="2077839"/>
            <a:ext cx="3549650" cy="4482604"/>
          </a:xfrm>
          <a:prstGeom prst="roundRect">
            <a:avLst>
              <a:gd name="adj" fmla="val 3220"/>
            </a:avLst>
          </a:prstGeom>
          <a:solidFill>
            <a:srgbClr val="F2F7F7"/>
          </a:solidFill>
          <a:ln/>
        </p:spPr>
      </p:sp>
      <p:pic>
        <p:nvPicPr>
          <p:cNvPr id="13" name="Image 2" descr="preencoded.png"/>
          <p:cNvPicPr>
            <a:picLocks noChangeAspect="1"/>
          </p:cNvPicPr>
          <p:nvPr/>
        </p:nvPicPr>
        <p:blipFill>
          <a:blip r:embed="rId5"/>
          <a:srcRect/>
          <a:stretch/>
        </p:blipFill>
        <p:spPr>
          <a:xfrm>
            <a:off x="6053336" y="2173089"/>
            <a:ext cx="1933178" cy="4292005"/>
          </a:xfrm>
          <a:prstGeom prst="rect">
            <a:avLst/>
          </a:prstGeom>
        </p:spPr>
      </p:pic>
      <p:sp>
        <p:nvSpPr>
          <p:cNvPr id="14" name="Text 9"/>
          <p:cNvSpPr/>
          <p:nvPr/>
        </p:nvSpPr>
        <p:spPr>
          <a:xfrm>
            <a:off x="5245100" y="6750943"/>
            <a:ext cx="3904615"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Medscape</a:t>
            </a:r>
            <a:endParaRPr lang="en-US" sz="2325" dirty="0"/>
          </a:p>
        </p:txBody>
      </p:sp>
      <p:sp>
        <p:nvSpPr>
          <p:cNvPr id="15" name="Text 10"/>
          <p:cNvSpPr/>
          <p:nvPr/>
        </p:nvSpPr>
        <p:spPr>
          <a:xfrm>
            <a:off x="5245100" y="7210921"/>
            <a:ext cx="3904615" cy="359966"/>
          </a:xfrm>
          <a:prstGeom prst="rect">
            <a:avLst/>
          </a:prstGeom>
          <a:noFill/>
          <a:ln/>
        </p:spPr>
        <p:txBody>
          <a:bodyPr wrap="square" lIns="25400" tIns="25400" rIns="25400" bIns="25400" rtlCol="0" anchor="t">
            <a:normAutofit/>
          </a:bodyPr>
          <a:lstStyle/>
          <a:p>
            <a:pPr marL="0" indent="0" algn="l">
              <a:lnSpc>
                <a:spcPct val="99412"/>
              </a:lnSpc>
              <a:buNone/>
            </a:pPr>
            <a:r>
              <a:rPr lang="en-US" sz="1950" dirty="0">
                <a:solidFill>
                  <a:srgbClr val="B45309"/>
                </a:solidFill>
                <a:latin typeface="Inter" panose="02000503000000020004" pitchFamily="2" charset="0"/>
                <a:ea typeface="Inter" panose="02000503000000020004" pitchFamily="2" charset="0"/>
                <a:cs typeface="IBM Plex Sans" pitchFamily="34" charset="-120"/>
              </a:rPr>
              <a:t>Free · online only</a:t>
            </a:r>
            <a:endParaRPr lang="en-US" sz="1950" dirty="0"/>
          </a:p>
        </p:txBody>
      </p:sp>
      <p:sp>
        <p:nvSpPr>
          <p:cNvPr id="16" name="Text 11"/>
          <p:cNvSpPr/>
          <p:nvPr/>
        </p:nvSpPr>
        <p:spPr>
          <a:xfrm>
            <a:off x="5245100" y="7666137"/>
            <a:ext cx="3656140" cy="1833463"/>
          </a:xfrm>
          <a:prstGeom prst="rect">
            <a:avLst/>
          </a:prstGeom>
          <a:noFill/>
          <a:ln/>
        </p:spPr>
        <p:txBody>
          <a:bodyPr wrap="square" lIns="25400" tIns="25400" rIns="25400" bIns="25400" rtlCol="0" anchor="t">
            <a:normAutofit/>
          </a:bodyPr>
          <a:lstStyle/>
          <a:p>
            <a:pPr marL="0" indent="0" algn="l">
              <a:lnSpc>
                <a:spcPct val="110882"/>
              </a:lnSpc>
              <a:buNone/>
            </a:pPr>
            <a:r>
              <a:rPr lang="en-US" sz="1900" dirty="0">
                <a:solidFill>
                  <a:srgbClr val="33464B"/>
                </a:solidFill>
                <a:latin typeface="Inter" panose="02000503000000020004" pitchFamily="2" charset="0"/>
                <a:ea typeface="Inter" panose="02000503000000020004" pitchFamily="2" charset="0"/>
                <a:cs typeface="IBM Plex Sans" pitchFamily="34" charset="-120"/>
              </a:rPr>
              <a:t>No registration, three severity levels. Scored 202 of 400 for accuracy against Lexicomp's lead, with abbreviated descriptions.</a:t>
            </a:r>
            <a:endParaRPr lang="en-US" sz="1900" dirty="0"/>
          </a:p>
        </p:txBody>
      </p:sp>
      <p:sp>
        <p:nvSpPr>
          <p:cNvPr id="17" name="Shape 12"/>
          <p:cNvSpPr/>
          <p:nvPr/>
        </p:nvSpPr>
        <p:spPr>
          <a:xfrm>
            <a:off x="9258300" y="1861939"/>
            <a:ext cx="4019550" cy="7853561"/>
          </a:xfrm>
          <a:prstGeom prst="roundRect">
            <a:avLst>
              <a:gd name="adj" fmla="val 4265"/>
            </a:avLst>
          </a:prstGeom>
          <a:solidFill>
            <a:srgbClr val="FFFFFF"/>
          </a:solidFill>
          <a:ln w="6350">
            <a:solidFill>
              <a:srgbClr val="E1EEEC"/>
            </a:solidFill>
            <a:prstDash val="solid"/>
          </a:ln>
        </p:spPr>
      </p:sp>
      <p:sp>
        <p:nvSpPr>
          <p:cNvPr id="18" name="Shape 13"/>
          <p:cNvSpPr/>
          <p:nvPr/>
        </p:nvSpPr>
        <p:spPr>
          <a:xfrm>
            <a:off x="9493250" y="2077839"/>
            <a:ext cx="3549650" cy="4841677"/>
          </a:xfrm>
          <a:prstGeom prst="roundRect">
            <a:avLst>
              <a:gd name="adj" fmla="val 3220"/>
            </a:avLst>
          </a:prstGeom>
          <a:solidFill>
            <a:srgbClr val="F2F7F7"/>
          </a:solidFill>
          <a:ln/>
        </p:spPr>
      </p:sp>
      <p:pic>
        <p:nvPicPr>
          <p:cNvPr id="19" name="Image 3" descr="preencoded.png"/>
          <p:cNvPicPr>
            <a:picLocks noChangeAspect="1"/>
          </p:cNvPicPr>
          <p:nvPr/>
        </p:nvPicPr>
        <p:blipFill>
          <a:blip r:embed="rId6"/>
          <a:srcRect l="-1" r="-1"/>
          <a:stretch/>
        </p:blipFill>
        <p:spPr>
          <a:xfrm>
            <a:off x="10220623" y="2173188"/>
            <a:ext cx="2094905" cy="4650978"/>
          </a:xfrm>
          <a:prstGeom prst="rect">
            <a:avLst/>
          </a:prstGeom>
        </p:spPr>
      </p:pic>
      <p:sp>
        <p:nvSpPr>
          <p:cNvPr id="20" name="Text 14"/>
          <p:cNvSpPr/>
          <p:nvPr/>
        </p:nvSpPr>
        <p:spPr>
          <a:xfrm>
            <a:off x="9493250" y="7110016"/>
            <a:ext cx="3904615"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Drugs.com</a:t>
            </a:r>
            <a:endParaRPr lang="en-US" sz="2325" dirty="0"/>
          </a:p>
        </p:txBody>
      </p:sp>
      <p:sp>
        <p:nvSpPr>
          <p:cNvPr id="21" name="Text 15"/>
          <p:cNvSpPr/>
          <p:nvPr/>
        </p:nvSpPr>
        <p:spPr>
          <a:xfrm>
            <a:off x="9493250" y="7569994"/>
            <a:ext cx="3904615" cy="359966"/>
          </a:xfrm>
          <a:prstGeom prst="rect">
            <a:avLst/>
          </a:prstGeom>
          <a:noFill/>
          <a:ln/>
        </p:spPr>
        <p:txBody>
          <a:bodyPr wrap="square" lIns="25400" tIns="25400" rIns="25400" bIns="25400" rtlCol="0" anchor="t">
            <a:normAutofit/>
          </a:bodyPr>
          <a:lstStyle/>
          <a:p>
            <a:pPr marL="0" indent="0" algn="l">
              <a:lnSpc>
                <a:spcPct val="99412"/>
              </a:lnSpc>
              <a:buNone/>
            </a:pPr>
            <a:r>
              <a:rPr lang="en-US" sz="1950" dirty="0">
                <a:solidFill>
                  <a:srgbClr val="B45309"/>
                </a:solidFill>
                <a:latin typeface="Inter" panose="02000503000000020004" pitchFamily="2" charset="0"/>
                <a:ea typeface="Inter" panose="02000503000000020004" pitchFamily="2" charset="0"/>
                <a:cs typeface="IBM Plex Sans" pitchFamily="34" charset="-120"/>
              </a:rPr>
              <a:t>Free · ad-supported</a:t>
            </a:r>
            <a:endParaRPr lang="en-US" sz="1950" dirty="0"/>
          </a:p>
        </p:txBody>
      </p:sp>
      <p:sp>
        <p:nvSpPr>
          <p:cNvPr id="22" name="Text 16"/>
          <p:cNvSpPr/>
          <p:nvPr/>
        </p:nvSpPr>
        <p:spPr>
          <a:xfrm>
            <a:off x="9493250" y="8025210"/>
            <a:ext cx="3656140" cy="1474391"/>
          </a:xfrm>
          <a:prstGeom prst="rect">
            <a:avLst/>
          </a:prstGeom>
          <a:noFill/>
          <a:ln/>
        </p:spPr>
        <p:txBody>
          <a:bodyPr wrap="square" lIns="25400" tIns="25400" rIns="25400" bIns="25400" rtlCol="0" anchor="t">
            <a:normAutofit/>
          </a:bodyPr>
          <a:lstStyle/>
          <a:p>
            <a:pPr marL="0" indent="0" algn="l">
              <a:lnSpc>
                <a:spcPct val="110882"/>
              </a:lnSpc>
              <a:buNone/>
            </a:pPr>
            <a:r>
              <a:rPr lang="en-US" sz="1900" dirty="0">
                <a:solidFill>
                  <a:srgbClr val="33464B"/>
                </a:solidFill>
                <a:latin typeface="Inter" panose="02000503000000020004" pitchFamily="2" charset="0"/>
                <a:ea typeface="Inter" panose="02000503000000020004" pitchFamily="2" charset="0"/>
                <a:cs typeface="IBM Plex Sans" pitchFamily="34" charset="-120"/>
              </a:rPr>
              <a:t>A credible free alternative that has matched subscription tools on some interaction sets. Thin clinical depth, no offline mode.</a:t>
            </a:r>
            <a:endParaRPr lang="en-US" sz="1900" dirty="0"/>
          </a:p>
        </p:txBody>
      </p:sp>
      <p:sp>
        <p:nvSpPr>
          <p:cNvPr id="23" name="Shape 17"/>
          <p:cNvSpPr/>
          <p:nvPr/>
        </p:nvSpPr>
        <p:spPr>
          <a:xfrm>
            <a:off x="13506450" y="1861939"/>
            <a:ext cx="4019550" cy="7853561"/>
          </a:xfrm>
          <a:prstGeom prst="roundRect">
            <a:avLst>
              <a:gd name="adj" fmla="val 4265"/>
            </a:avLst>
          </a:prstGeom>
          <a:solidFill>
            <a:srgbClr val="FFFFFF"/>
          </a:solidFill>
          <a:ln w="6350">
            <a:solidFill>
              <a:srgbClr val="E1EEEC"/>
            </a:solidFill>
            <a:prstDash val="solid"/>
          </a:ln>
        </p:spPr>
      </p:sp>
      <p:sp>
        <p:nvSpPr>
          <p:cNvPr id="24" name="Shape 18"/>
          <p:cNvSpPr/>
          <p:nvPr/>
        </p:nvSpPr>
        <p:spPr>
          <a:xfrm>
            <a:off x="13741401" y="2077839"/>
            <a:ext cx="3549650" cy="4482604"/>
          </a:xfrm>
          <a:prstGeom prst="roundRect">
            <a:avLst>
              <a:gd name="adj" fmla="val 3220"/>
            </a:avLst>
          </a:prstGeom>
          <a:solidFill>
            <a:srgbClr val="F2F7F7"/>
          </a:solidFill>
          <a:ln/>
        </p:spPr>
      </p:sp>
      <p:pic>
        <p:nvPicPr>
          <p:cNvPr id="25" name="Image 4" descr="preencoded.png"/>
          <p:cNvPicPr>
            <a:picLocks noChangeAspect="1"/>
          </p:cNvPicPr>
          <p:nvPr/>
        </p:nvPicPr>
        <p:blipFill>
          <a:blip r:embed="rId7"/>
          <a:srcRect/>
          <a:stretch/>
        </p:blipFill>
        <p:spPr>
          <a:xfrm>
            <a:off x="13836651" y="3375224"/>
            <a:ext cx="3359150" cy="1887835"/>
          </a:xfrm>
          <a:prstGeom prst="rect">
            <a:avLst/>
          </a:prstGeom>
        </p:spPr>
      </p:pic>
      <p:sp>
        <p:nvSpPr>
          <p:cNvPr id="26" name="Text 19"/>
          <p:cNvSpPr/>
          <p:nvPr/>
        </p:nvSpPr>
        <p:spPr>
          <a:xfrm>
            <a:off x="13741401" y="6750943"/>
            <a:ext cx="3904615"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DDInter 2.0</a:t>
            </a:r>
            <a:endParaRPr lang="en-US" sz="2325" dirty="0"/>
          </a:p>
        </p:txBody>
      </p:sp>
      <p:sp>
        <p:nvSpPr>
          <p:cNvPr id="27" name="Text 20"/>
          <p:cNvSpPr/>
          <p:nvPr/>
        </p:nvSpPr>
        <p:spPr>
          <a:xfrm>
            <a:off x="13741401" y="7210921"/>
            <a:ext cx="3904615" cy="359966"/>
          </a:xfrm>
          <a:prstGeom prst="rect">
            <a:avLst/>
          </a:prstGeom>
          <a:noFill/>
          <a:ln/>
        </p:spPr>
        <p:txBody>
          <a:bodyPr wrap="square" lIns="25400" tIns="25400" rIns="25400" bIns="25400" rtlCol="0" anchor="t">
            <a:normAutofit/>
          </a:bodyPr>
          <a:lstStyle/>
          <a:p>
            <a:pPr marL="0" indent="0" algn="l">
              <a:lnSpc>
                <a:spcPct val="99412"/>
              </a:lnSpc>
              <a:buNone/>
            </a:pPr>
            <a:r>
              <a:rPr lang="en-US" sz="1950" dirty="0">
                <a:solidFill>
                  <a:srgbClr val="016359"/>
                </a:solidFill>
                <a:latin typeface="Inter" panose="02000503000000020004" pitchFamily="2" charset="0"/>
                <a:ea typeface="Inter" panose="02000503000000020004" pitchFamily="2" charset="0"/>
                <a:cs typeface="IBM Plex Sans" pitchFamily="34" charset="-120"/>
              </a:rPr>
              <a:t>Free · open access</a:t>
            </a:r>
            <a:endParaRPr lang="en-US" sz="1950" dirty="0"/>
          </a:p>
        </p:txBody>
      </p:sp>
      <p:sp>
        <p:nvSpPr>
          <p:cNvPr id="28" name="Text 21"/>
          <p:cNvSpPr/>
          <p:nvPr/>
        </p:nvSpPr>
        <p:spPr>
          <a:xfrm>
            <a:off x="13741401" y="7666137"/>
            <a:ext cx="3656140" cy="1833463"/>
          </a:xfrm>
          <a:prstGeom prst="rect">
            <a:avLst/>
          </a:prstGeom>
          <a:noFill/>
          <a:ln/>
        </p:spPr>
        <p:txBody>
          <a:bodyPr wrap="square" lIns="25400" tIns="25400" rIns="25400" bIns="25400" rtlCol="0" anchor="t">
            <a:normAutofit/>
          </a:bodyPr>
          <a:lstStyle/>
          <a:p>
            <a:pPr marL="0" indent="0" algn="l">
              <a:lnSpc>
                <a:spcPct val="110882"/>
              </a:lnSpc>
              <a:buNone/>
            </a:pPr>
            <a:r>
              <a:rPr lang="en-US" sz="1900" dirty="0">
                <a:solidFill>
                  <a:srgbClr val="33464B"/>
                </a:solidFill>
                <a:latin typeface="Inter" panose="02000503000000020004" pitchFamily="2" charset="0"/>
                <a:ea typeface="Inter" panose="02000503000000020004" pitchFamily="2" charset="0"/>
                <a:cs typeface="IBM Plex Sans" pitchFamily="34" charset="-120"/>
              </a:rPr>
              <a:t>Pharmacist-reviewed ratings across about 240,000 interactions. Web only. MedGuard uses its ratings as an expert override layer.</a:t>
            </a:r>
            <a:endParaRPr lang="en-US" sz="1900" dirty="0"/>
          </a:p>
        </p:txBody>
      </p:sp>
      <p:sp>
        <p:nvSpPr>
          <p:cNvPr id="29" name="Shape 0">
            <a:extLst>
              <a:ext uri="{FF2B5EF4-FFF2-40B4-BE49-F238E27FC236}">
                <a16:creationId xmlns:a16="http://schemas.microsoft.com/office/drawing/2014/main" id="{C3F5B7C0-AC2D-CB58-04CF-3213BEABF7D4}"/>
              </a:ext>
            </a:extLst>
          </p:cNvPr>
          <p:cNvSpPr/>
          <p:nvPr/>
        </p:nvSpPr>
        <p:spPr>
          <a:xfrm>
            <a:off x="914400" y="710826"/>
            <a:ext cx="133350" cy="133350"/>
          </a:xfrm>
          <a:prstGeom prst="rect">
            <a:avLst/>
          </a:prstGeom>
          <a:solidFill>
            <a:srgbClr val="0B5C4A"/>
          </a:solidFill>
          <a:ln/>
        </p:spPr>
      </p:sp>
      <p:sp>
        <p:nvSpPr>
          <p:cNvPr id="30" name="Text 1">
            <a:extLst>
              <a:ext uri="{FF2B5EF4-FFF2-40B4-BE49-F238E27FC236}">
                <a16:creationId xmlns:a16="http://schemas.microsoft.com/office/drawing/2014/main" id="{9AC64C6D-34DF-6FCA-AB37-2C0837E9DF00}"/>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REVIEW OF EXISTING SYSTEMS</a:t>
            </a:r>
            <a:endParaRPr lang="en-US" sz="2400" dirty="0"/>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571500"/>
            <a:ext cx="814388" cy="247650"/>
          </a:xfrm>
          <a:prstGeom prst="rect">
            <a:avLst/>
          </a:prstGeom>
        </p:spPr>
      </p:pic>
      <p:sp>
        <p:nvSpPr>
          <p:cNvPr id="4" name="Text 1"/>
          <p:cNvSpPr/>
          <p:nvPr/>
        </p:nvSpPr>
        <p:spPr>
          <a:xfrm>
            <a:off x="857250" y="990600"/>
            <a:ext cx="1823085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Four checkers, and the one thing none of them does</a:t>
            </a:r>
            <a:endParaRPr lang="en-US" sz="3975" dirty="0"/>
          </a:p>
        </p:txBody>
      </p:sp>
      <p:sp>
        <p:nvSpPr>
          <p:cNvPr id="5" name="Shape 2"/>
          <p:cNvSpPr/>
          <p:nvPr/>
        </p:nvSpPr>
        <p:spPr>
          <a:xfrm>
            <a:off x="857250" y="1842889"/>
            <a:ext cx="16573500" cy="6040041"/>
          </a:xfrm>
          <a:prstGeom prst="roundRect">
            <a:avLst>
              <a:gd name="adj" fmla="val 3154"/>
            </a:avLst>
          </a:prstGeom>
          <a:solidFill>
            <a:srgbClr val="FFFFFF"/>
          </a:solidFill>
          <a:ln w="6350">
            <a:solidFill>
              <a:srgbClr val="E1EEEC"/>
            </a:solidFill>
            <a:prstDash val="solid"/>
          </a:ln>
        </p:spPr>
      </p:sp>
      <p:sp>
        <p:nvSpPr>
          <p:cNvPr id="6" name="Shape 3"/>
          <p:cNvSpPr/>
          <p:nvPr/>
        </p:nvSpPr>
        <p:spPr>
          <a:xfrm>
            <a:off x="863600" y="1849239"/>
            <a:ext cx="16560801" cy="709216"/>
          </a:xfrm>
          <a:prstGeom prst="rect">
            <a:avLst/>
          </a:prstGeom>
          <a:solidFill>
            <a:srgbClr val="F2F7F7"/>
          </a:solidFill>
          <a:ln/>
        </p:spPr>
      </p:sp>
      <p:sp>
        <p:nvSpPr>
          <p:cNvPr id="7" name="Shape 4"/>
          <p:cNvSpPr/>
          <p:nvPr/>
        </p:nvSpPr>
        <p:spPr>
          <a:xfrm>
            <a:off x="863600" y="2552105"/>
            <a:ext cx="16560801" cy="9525"/>
          </a:xfrm>
          <a:prstGeom prst="rect">
            <a:avLst/>
          </a:prstGeom>
          <a:solidFill>
            <a:srgbClr val="E1EEEC"/>
          </a:solidFill>
          <a:ln/>
        </p:spPr>
      </p:sp>
      <p:sp>
        <p:nvSpPr>
          <p:cNvPr id="8" name="Text 5"/>
          <p:cNvSpPr/>
          <p:nvPr/>
        </p:nvSpPr>
        <p:spPr>
          <a:xfrm>
            <a:off x="1149350" y="2039739"/>
            <a:ext cx="2542902" cy="359966"/>
          </a:xfrm>
          <a:prstGeom prst="rect">
            <a:avLst/>
          </a:prstGeom>
          <a:noFill/>
          <a:ln/>
        </p:spPr>
        <p:txBody>
          <a:bodyPr wrap="square" lIns="25400" tIns="25400" rIns="25400" bIns="25400" rtlCol="0" anchor="t">
            <a:normAutofit/>
          </a:bodyPr>
          <a:lstStyle/>
          <a:p>
            <a:pPr marL="0" indent="0" algn="l">
              <a:lnSpc>
                <a:spcPct val="99412"/>
              </a:lnSpc>
              <a:buNone/>
            </a:pPr>
            <a:r>
              <a:rPr lang="en-US" sz="2000" b="1" dirty="0">
                <a:solidFill>
                  <a:srgbClr val="6F7D81"/>
                </a:solidFill>
                <a:latin typeface="Inter" panose="02000503000000020004" pitchFamily="2" charset="0"/>
                <a:ea typeface="Inter" panose="02000503000000020004" pitchFamily="2" charset="0"/>
                <a:cs typeface="IBM Plex Sans" pitchFamily="34" charset="-120"/>
              </a:rPr>
              <a:t>System</a:t>
            </a:r>
            <a:endParaRPr lang="en-US" sz="2000" dirty="0"/>
          </a:p>
        </p:txBody>
      </p:sp>
      <p:sp>
        <p:nvSpPr>
          <p:cNvPr id="9" name="Text 6"/>
          <p:cNvSpPr/>
          <p:nvPr/>
        </p:nvSpPr>
        <p:spPr>
          <a:xfrm>
            <a:off x="4173042" y="2039739"/>
            <a:ext cx="2840086" cy="359966"/>
          </a:xfrm>
          <a:prstGeom prst="rect">
            <a:avLst/>
          </a:prstGeom>
          <a:noFill/>
          <a:ln/>
        </p:spPr>
        <p:txBody>
          <a:bodyPr wrap="square" lIns="25400" tIns="25400" rIns="25400" bIns="25400" rtlCol="0" anchor="t">
            <a:normAutofit/>
          </a:bodyPr>
          <a:lstStyle/>
          <a:p>
            <a:pPr marL="0" indent="0" algn="l">
              <a:lnSpc>
                <a:spcPct val="99412"/>
              </a:lnSpc>
              <a:buNone/>
            </a:pPr>
            <a:r>
              <a:rPr lang="en-US" sz="2000" b="1" dirty="0">
                <a:solidFill>
                  <a:srgbClr val="6F7D81"/>
                </a:solidFill>
                <a:latin typeface="Inter" panose="02000503000000020004" pitchFamily="2" charset="0"/>
                <a:ea typeface="Inter" panose="02000503000000020004" pitchFamily="2" charset="0"/>
                <a:cs typeface="IBM Plex Sans" pitchFamily="34" charset="-120"/>
              </a:rPr>
              <a:t>Access model</a:t>
            </a:r>
            <a:endParaRPr lang="en-US" sz="2000" dirty="0"/>
          </a:p>
        </p:txBody>
      </p:sp>
      <p:sp>
        <p:nvSpPr>
          <p:cNvPr id="10" name="Text 7"/>
          <p:cNvSpPr/>
          <p:nvPr/>
        </p:nvSpPr>
        <p:spPr>
          <a:xfrm>
            <a:off x="7485261" y="2039739"/>
            <a:ext cx="3731434" cy="359966"/>
          </a:xfrm>
          <a:prstGeom prst="rect">
            <a:avLst/>
          </a:prstGeom>
          <a:noFill/>
          <a:ln/>
        </p:spPr>
        <p:txBody>
          <a:bodyPr wrap="square" lIns="25400" tIns="25400" rIns="25400" bIns="25400" rtlCol="0" anchor="t">
            <a:normAutofit/>
          </a:bodyPr>
          <a:lstStyle/>
          <a:p>
            <a:pPr marL="0" indent="0" algn="l">
              <a:lnSpc>
                <a:spcPct val="99412"/>
              </a:lnSpc>
              <a:buNone/>
            </a:pPr>
            <a:r>
              <a:rPr lang="en-US" sz="2000" b="1" dirty="0">
                <a:solidFill>
                  <a:srgbClr val="6F7D81"/>
                </a:solidFill>
                <a:latin typeface="Inter" panose="02000503000000020004" pitchFamily="2" charset="0"/>
                <a:ea typeface="Inter" panose="02000503000000020004" pitchFamily="2" charset="0"/>
                <a:cs typeface="IBM Plex Sans" pitchFamily="34" charset="-120"/>
              </a:rPr>
              <a:t>Strength</a:t>
            </a:r>
            <a:endParaRPr lang="en-US" sz="2000" dirty="0"/>
          </a:p>
        </p:txBody>
      </p:sp>
      <p:sp>
        <p:nvSpPr>
          <p:cNvPr id="11" name="Text 8"/>
          <p:cNvSpPr/>
          <p:nvPr/>
        </p:nvSpPr>
        <p:spPr>
          <a:xfrm>
            <a:off x="11662867" y="2039739"/>
            <a:ext cx="3731434" cy="359966"/>
          </a:xfrm>
          <a:prstGeom prst="rect">
            <a:avLst/>
          </a:prstGeom>
          <a:noFill/>
          <a:ln/>
        </p:spPr>
        <p:txBody>
          <a:bodyPr wrap="square" lIns="25400" tIns="25400" rIns="25400" bIns="25400" rtlCol="0" anchor="t">
            <a:normAutofit/>
          </a:bodyPr>
          <a:lstStyle/>
          <a:p>
            <a:pPr marL="0" indent="0" algn="l">
              <a:lnSpc>
                <a:spcPct val="99412"/>
              </a:lnSpc>
              <a:buNone/>
            </a:pPr>
            <a:r>
              <a:rPr lang="en-US" sz="2000" b="1" dirty="0">
                <a:solidFill>
                  <a:srgbClr val="6F7D81"/>
                </a:solidFill>
                <a:latin typeface="Inter" panose="02000503000000020004" pitchFamily="2" charset="0"/>
                <a:ea typeface="Inter" panose="02000503000000020004" pitchFamily="2" charset="0"/>
                <a:cs typeface="IBM Plex Sans" pitchFamily="34" charset="-120"/>
              </a:rPr>
              <a:t>Limitation</a:t>
            </a:r>
            <a:endParaRPr lang="en-US" sz="2000" dirty="0"/>
          </a:p>
        </p:txBody>
      </p:sp>
      <p:sp>
        <p:nvSpPr>
          <p:cNvPr id="12" name="Text 9"/>
          <p:cNvSpPr/>
          <p:nvPr/>
        </p:nvSpPr>
        <p:spPr>
          <a:xfrm>
            <a:off x="15802373" y="2039739"/>
            <a:ext cx="1374378" cy="359966"/>
          </a:xfrm>
          <a:prstGeom prst="rect">
            <a:avLst/>
          </a:prstGeom>
          <a:noFill/>
          <a:ln/>
        </p:spPr>
        <p:txBody>
          <a:bodyPr wrap="square" lIns="25400" tIns="25400" rIns="25400" bIns="25400" rtlCol="0" anchor="t">
            <a:normAutofit/>
          </a:bodyPr>
          <a:lstStyle/>
          <a:p>
            <a:pPr marL="0" indent="0" algn="ctr">
              <a:lnSpc>
                <a:spcPct val="99412"/>
              </a:lnSpc>
              <a:buNone/>
            </a:pPr>
            <a:r>
              <a:rPr lang="en-US" sz="2000" b="1" dirty="0">
                <a:solidFill>
                  <a:srgbClr val="6F7D81"/>
                </a:solidFill>
                <a:latin typeface="Inter" panose="02000503000000020004" pitchFamily="2" charset="0"/>
                <a:ea typeface="Inter" panose="02000503000000020004" pitchFamily="2" charset="0"/>
                <a:cs typeface="IBM Plex Sans" pitchFamily="34" charset="-120"/>
              </a:rPr>
              <a:t>Offline</a:t>
            </a:r>
            <a:endParaRPr lang="en-US" sz="2000" dirty="0"/>
          </a:p>
        </p:txBody>
      </p:sp>
      <p:sp>
        <p:nvSpPr>
          <p:cNvPr id="13" name="Shape 10"/>
          <p:cNvSpPr/>
          <p:nvPr/>
        </p:nvSpPr>
        <p:spPr>
          <a:xfrm>
            <a:off x="863600" y="3883224"/>
            <a:ext cx="16560801" cy="9525"/>
          </a:xfrm>
          <a:prstGeom prst="rect">
            <a:avLst/>
          </a:prstGeom>
          <a:solidFill>
            <a:srgbClr val="EDF4F3"/>
          </a:solidFill>
          <a:ln/>
        </p:spPr>
      </p:sp>
      <p:sp>
        <p:nvSpPr>
          <p:cNvPr id="14" name="Text 11"/>
          <p:cNvSpPr/>
          <p:nvPr/>
        </p:nvSpPr>
        <p:spPr>
          <a:xfrm>
            <a:off x="1149350" y="3047504"/>
            <a:ext cx="2022318" cy="384770"/>
          </a:xfrm>
          <a:prstGeom prst="rect">
            <a:avLst/>
          </a:prstGeom>
          <a:noFill/>
          <a:ln/>
        </p:spPr>
        <p:txBody>
          <a:bodyPr wrap="square" lIns="25400" tIns="25400" rIns="25400" bIns="25400" rtlCol="0" anchor="t">
            <a:noAutofit/>
          </a:bodyPr>
          <a:lstStyle/>
          <a:p>
            <a:pPr marL="0" indent="0" algn="l">
              <a:lnSpc>
                <a:spcPct val="118696"/>
              </a:lnSpc>
              <a:buNone/>
            </a:pPr>
            <a:r>
              <a:rPr lang="en-US" sz="2000" b="1" dirty="0">
                <a:solidFill>
                  <a:srgbClr val="152428"/>
                </a:solidFill>
                <a:latin typeface="Inter" panose="02000503000000020004" pitchFamily="2" charset="0"/>
                <a:ea typeface="Inter" panose="02000503000000020004" pitchFamily="2" charset="0"/>
                <a:cs typeface="Archivo" pitchFamily="34" charset="-120"/>
              </a:rPr>
              <a:t>Lexicomp</a:t>
            </a:r>
            <a:endParaRPr lang="en-US" sz="2000" dirty="0"/>
          </a:p>
        </p:txBody>
      </p:sp>
      <p:sp>
        <p:nvSpPr>
          <p:cNvPr id="15" name="Text 12"/>
          <p:cNvSpPr/>
          <p:nvPr/>
        </p:nvSpPr>
        <p:spPr>
          <a:xfrm>
            <a:off x="4173042" y="3047504"/>
            <a:ext cx="2258662" cy="384770"/>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Subscription</a:t>
            </a:r>
            <a:endParaRPr lang="en-US" sz="2000" dirty="0"/>
          </a:p>
        </p:txBody>
      </p:sp>
      <p:sp>
        <p:nvSpPr>
          <p:cNvPr id="16" name="Text 13"/>
          <p:cNvSpPr/>
          <p:nvPr/>
        </p:nvSpPr>
        <p:spPr>
          <a:xfrm>
            <a:off x="7485261" y="2874169"/>
            <a:ext cx="2967533" cy="731441"/>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Detailed monographs and mechanisms</a:t>
            </a:r>
            <a:endParaRPr lang="en-US" sz="2000" dirty="0"/>
          </a:p>
        </p:txBody>
      </p:sp>
      <p:sp>
        <p:nvSpPr>
          <p:cNvPr id="17" name="Text 14"/>
          <p:cNvSpPr/>
          <p:nvPr/>
        </p:nvSpPr>
        <p:spPr>
          <a:xfrm>
            <a:off x="11662867" y="2874169"/>
            <a:ext cx="2967533" cy="731441"/>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Costly; editorial severity assignment</a:t>
            </a:r>
            <a:endParaRPr lang="en-US" sz="2000" dirty="0"/>
          </a:p>
        </p:txBody>
      </p:sp>
      <p:sp>
        <p:nvSpPr>
          <p:cNvPr id="18" name="Text 15"/>
          <p:cNvSpPr/>
          <p:nvPr/>
        </p:nvSpPr>
        <p:spPr>
          <a:xfrm>
            <a:off x="15802373" y="3047504"/>
            <a:ext cx="1374378" cy="384770"/>
          </a:xfrm>
          <a:prstGeom prst="rect">
            <a:avLst/>
          </a:prstGeom>
          <a:noFill/>
          <a:ln/>
        </p:spPr>
        <p:txBody>
          <a:bodyPr wrap="square" lIns="25400" tIns="25400" rIns="25400" bIns="25400" rtlCol="0" anchor="t">
            <a:normAutofit/>
          </a:bodyPr>
          <a:lstStyle/>
          <a:p>
            <a:pPr marL="0" indent="0" algn="ctr">
              <a:lnSpc>
                <a:spcPct val="107059"/>
              </a:lnSpc>
              <a:buNone/>
            </a:pPr>
            <a:r>
              <a:rPr lang="en-US" sz="2000" b="1" dirty="0">
                <a:solidFill>
                  <a:srgbClr val="D93639"/>
                </a:solidFill>
                <a:latin typeface="Inter" panose="02000503000000020004" pitchFamily="2" charset="0"/>
                <a:ea typeface="Inter" panose="02000503000000020004" pitchFamily="2" charset="0"/>
                <a:cs typeface="IBM Plex Sans" pitchFamily="34" charset="-120"/>
              </a:rPr>
              <a:t>No</a:t>
            </a:r>
            <a:endParaRPr lang="en-US" sz="2000" dirty="0"/>
          </a:p>
        </p:txBody>
      </p:sp>
      <p:sp>
        <p:nvSpPr>
          <p:cNvPr id="19" name="Shape 16"/>
          <p:cNvSpPr/>
          <p:nvPr/>
        </p:nvSpPr>
        <p:spPr>
          <a:xfrm>
            <a:off x="863600" y="5214342"/>
            <a:ext cx="16560801" cy="9525"/>
          </a:xfrm>
          <a:prstGeom prst="rect">
            <a:avLst/>
          </a:prstGeom>
          <a:solidFill>
            <a:srgbClr val="EDF4F3"/>
          </a:solidFill>
          <a:ln/>
        </p:spPr>
      </p:sp>
      <p:sp>
        <p:nvSpPr>
          <p:cNvPr id="20" name="Text 17"/>
          <p:cNvSpPr/>
          <p:nvPr/>
        </p:nvSpPr>
        <p:spPr>
          <a:xfrm>
            <a:off x="1149350" y="4378623"/>
            <a:ext cx="2022318" cy="384770"/>
          </a:xfrm>
          <a:prstGeom prst="rect">
            <a:avLst/>
          </a:prstGeom>
          <a:noFill/>
          <a:ln/>
        </p:spPr>
        <p:txBody>
          <a:bodyPr wrap="square" lIns="25400" tIns="25400" rIns="25400" bIns="25400" rtlCol="0" anchor="t">
            <a:noAutofit/>
          </a:bodyPr>
          <a:lstStyle/>
          <a:p>
            <a:pPr marL="0" indent="0" algn="l">
              <a:lnSpc>
                <a:spcPct val="118696"/>
              </a:lnSpc>
              <a:buNone/>
            </a:pPr>
            <a:r>
              <a:rPr lang="en-US" sz="2000" b="1" dirty="0">
                <a:solidFill>
                  <a:srgbClr val="152428"/>
                </a:solidFill>
                <a:latin typeface="Inter" panose="02000503000000020004" pitchFamily="2" charset="0"/>
                <a:ea typeface="Inter" panose="02000503000000020004" pitchFamily="2" charset="0"/>
                <a:cs typeface="Archivo" pitchFamily="34" charset="-120"/>
              </a:rPr>
              <a:t>Medscape</a:t>
            </a:r>
            <a:endParaRPr lang="en-US" sz="2000" dirty="0"/>
          </a:p>
        </p:txBody>
      </p:sp>
      <p:sp>
        <p:nvSpPr>
          <p:cNvPr id="21" name="Text 18"/>
          <p:cNvSpPr/>
          <p:nvPr/>
        </p:nvSpPr>
        <p:spPr>
          <a:xfrm>
            <a:off x="4173042" y="4378623"/>
            <a:ext cx="2258662" cy="384770"/>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Free</a:t>
            </a:r>
            <a:endParaRPr lang="en-US" sz="2000" dirty="0"/>
          </a:p>
        </p:txBody>
      </p:sp>
      <p:sp>
        <p:nvSpPr>
          <p:cNvPr id="22" name="Text 19"/>
          <p:cNvSpPr/>
          <p:nvPr/>
        </p:nvSpPr>
        <p:spPr>
          <a:xfrm>
            <a:off x="7485261" y="4205288"/>
            <a:ext cx="2967533" cy="731441"/>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No registration; multi-drug checks</a:t>
            </a:r>
            <a:endParaRPr lang="en-US" sz="2000" dirty="0"/>
          </a:p>
        </p:txBody>
      </p:sp>
      <p:sp>
        <p:nvSpPr>
          <p:cNvPr id="23" name="Text 20"/>
          <p:cNvSpPr/>
          <p:nvPr/>
        </p:nvSpPr>
        <p:spPr>
          <a:xfrm>
            <a:off x="11662867" y="4378623"/>
            <a:ext cx="2967533" cy="384770"/>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Limited clinical depth</a:t>
            </a:r>
            <a:endParaRPr lang="en-US" sz="2000" dirty="0"/>
          </a:p>
        </p:txBody>
      </p:sp>
      <p:sp>
        <p:nvSpPr>
          <p:cNvPr id="24" name="Text 21"/>
          <p:cNvSpPr/>
          <p:nvPr/>
        </p:nvSpPr>
        <p:spPr>
          <a:xfrm>
            <a:off x="15802373" y="4378623"/>
            <a:ext cx="1374378" cy="384770"/>
          </a:xfrm>
          <a:prstGeom prst="rect">
            <a:avLst/>
          </a:prstGeom>
          <a:noFill/>
          <a:ln/>
        </p:spPr>
        <p:txBody>
          <a:bodyPr wrap="square" lIns="25400" tIns="25400" rIns="25400" bIns="25400" rtlCol="0" anchor="t">
            <a:normAutofit/>
          </a:bodyPr>
          <a:lstStyle/>
          <a:p>
            <a:pPr marL="0" indent="0" algn="ctr">
              <a:lnSpc>
                <a:spcPct val="107059"/>
              </a:lnSpc>
              <a:buNone/>
            </a:pPr>
            <a:r>
              <a:rPr lang="en-US" sz="2000" b="1" dirty="0">
                <a:solidFill>
                  <a:srgbClr val="D93639"/>
                </a:solidFill>
                <a:latin typeface="Inter" panose="02000503000000020004" pitchFamily="2" charset="0"/>
                <a:ea typeface="Inter" panose="02000503000000020004" pitchFamily="2" charset="0"/>
                <a:cs typeface="IBM Plex Sans" pitchFamily="34" charset="-120"/>
              </a:rPr>
              <a:t>No</a:t>
            </a:r>
            <a:endParaRPr lang="en-US" sz="2000" dirty="0"/>
          </a:p>
        </p:txBody>
      </p:sp>
      <p:sp>
        <p:nvSpPr>
          <p:cNvPr id="25" name="Shape 22"/>
          <p:cNvSpPr/>
          <p:nvPr/>
        </p:nvSpPr>
        <p:spPr>
          <a:xfrm>
            <a:off x="863600" y="6545461"/>
            <a:ext cx="16560801" cy="9525"/>
          </a:xfrm>
          <a:prstGeom prst="rect">
            <a:avLst/>
          </a:prstGeom>
          <a:solidFill>
            <a:srgbClr val="EDF4F3"/>
          </a:solidFill>
          <a:ln/>
        </p:spPr>
      </p:sp>
      <p:sp>
        <p:nvSpPr>
          <p:cNvPr id="26" name="Text 23"/>
          <p:cNvSpPr/>
          <p:nvPr/>
        </p:nvSpPr>
        <p:spPr>
          <a:xfrm>
            <a:off x="1149350" y="5709742"/>
            <a:ext cx="2022318" cy="384770"/>
          </a:xfrm>
          <a:prstGeom prst="rect">
            <a:avLst/>
          </a:prstGeom>
          <a:noFill/>
          <a:ln/>
        </p:spPr>
        <p:txBody>
          <a:bodyPr wrap="square" lIns="25400" tIns="25400" rIns="25400" bIns="25400" rtlCol="0" anchor="t">
            <a:noAutofit/>
          </a:bodyPr>
          <a:lstStyle/>
          <a:p>
            <a:pPr marL="0" indent="0" algn="l">
              <a:lnSpc>
                <a:spcPct val="118696"/>
              </a:lnSpc>
              <a:buNone/>
            </a:pPr>
            <a:r>
              <a:rPr lang="en-US" sz="2000" b="1" dirty="0">
                <a:solidFill>
                  <a:srgbClr val="152428"/>
                </a:solidFill>
                <a:latin typeface="Inter" panose="02000503000000020004" pitchFamily="2" charset="0"/>
                <a:ea typeface="Inter" panose="02000503000000020004" pitchFamily="2" charset="0"/>
                <a:cs typeface="Archivo" pitchFamily="34" charset="-120"/>
              </a:rPr>
              <a:t>Drugs.com</a:t>
            </a:r>
            <a:endParaRPr lang="en-US" sz="2000" dirty="0"/>
          </a:p>
        </p:txBody>
      </p:sp>
      <p:sp>
        <p:nvSpPr>
          <p:cNvPr id="27" name="Text 24"/>
          <p:cNvSpPr/>
          <p:nvPr/>
        </p:nvSpPr>
        <p:spPr>
          <a:xfrm>
            <a:off x="4173042" y="5511622"/>
            <a:ext cx="2258662" cy="384770"/>
          </a:xfrm>
          <a:prstGeom prst="rect">
            <a:avLst/>
          </a:prstGeom>
          <a:noFill/>
          <a:ln/>
        </p:spPr>
        <p:txBody>
          <a:bodyPr wrap="square" lIns="25400" tIns="25400" rIns="25400" bIns="25400" rtlCol="0" anchor="t">
            <a:no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Free, ad-supported</a:t>
            </a:r>
            <a:endParaRPr lang="en-US" sz="2000" dirty="0"/>
          </a:p>
        </p:txBody>
      </p:sp>
      <p:sp>
        <p:nvSpPr>
          <p:cNvPr id="28" name="Text 25"/>
          <p:cNvSpPr/>
          <p:nvPr/>
        </p:nvSpPr>
        <p:spPr>
          <a:xfrm>
            <a:off x="7485261" y="5511622"/>
            <a:ext cx="2967533" cy="384770"/>
          </a:xfrm>
          <a:prstGeom prst="rect">
            <a:avLst/>
          </a:prstGeom>
          <a:noFill/>
          <a:ln/>
        </p:spPr>
        <p:txBody>
          <a:bodyPr wrap="square" lIns="25400" tIns="25400" rIns="25400" bIns="25400" rtlCol="0" anchor="t">
            <a:no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Easy to use; broad public access</a:t>
            </a:r>
            <a:endParaRPr lang="en-US" sz="2000" dirty="0"/>
          </a:p>
        </p:txBody>
      </p:sp>
      <p:sp>
        <p:nvSpPr>
          <p:cNvPr id="29" name="Text 26"/>
          <p:cNvSpPr/>
          <p:nvPr/>
        </p:nvSpPr>
        <p:spPr>
          <a:xfrm>
            <a:off x="11662867" y="5511622"/>
            <a:ext cx="2967533" cy="384770"/>
          </a:xfrm>
          <a:prstGeom prst="rect">
            <a:avLst/>
          </a:prstGeom>
          <a:noFill/>
          <a:ln/>
        </p:spPr>
        <p:txBody>
          <a:bodyPr wrap="square" lIns="25400" tIns="25400" rIns="25400" bIns="25400" rtlCol="0" anchor="t">
            <a:no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Consumer-level detail only</a:t>
            </a:r>
            <a:endParaRPr lang="en-US" sz="2000" dirty="0"/>
          </a:p>
        </p:txBody>
      </p:sp>
      <p:sp>
        <p:nvSpPr>
          <p:cNvPr id="30" name="Text 27"/>
          <p:cNvSpPr/>
          <p:nvPr/>
        </p:nvSpPr>
        <p:spPr>
          <a:xfrm>
            <a:off x="15802373" y="5709742"/>
            <a:ext cx="1374378" cy="384770"/>
          </a:xfrm>
          <a:prstGeom prst="rect">
            <a:avLst/>
          </a:prstGeom>
          <a:noFill/>
          <a:ln/>
        </p:spPr>
        <p:txBody>
          <a:bodyPr wrap="square" lIns="25400" tIns="25400" rIns="25400" bIns="25400" rtlCol="0" anchor="t">
            <a:normAutofit/>
          </a:bodyPr>
          <a:lstStyle/>
          <a:p>
            <a:pPr marL="0" indent="0" algn="ctr">
              <a:lnSpc>
                <a:spcPct val="107059"/>
              </a:lnSpc>
              <a:buNone/>
            </a:pPr>
            <a:r>
              <a:rPr lang="en-US" sz="2000" b="1" dirty="0">
                <a:solidFill>
                  <a:srgbClr val="D93639"/>
                </a:solidFill>
                <a:latin typeface="Inter" panose="02000503000000020004" pitchFamily="2" charset="0"/>
                <a:ea typeface="Inter" panose="02000503000000020004" pitchFamily="2" charset="0"/>
                <a:cs typeface="IBM Plex Sans" pitchFamily="34" charset="-120"/>
              </a:rPr>
              <a:t>No</a:t>
            </a:r>
            <a:endParaRPr lang="en-US" sz="2000" dirty="0"/>
          </a:p>
        </p:txBody>
      </p:sp>
      <p:sp>
        <p:nvSpPr>
          <p:cNvPr id="31" name="Text 28"/>
          <p:cNvSpPr/>
          <p:nvPr/>
        </p:nvSpPr>
        <p:spPr>
          <a:xfrm>
            <a:off x="1149350" y="7040860"/>
            <a:ext cx="2022318" cy="384770"/>
          </a:xfrm>
          <a:prstGeom prst="rect">
            <a:avLst/>
          </a:prstGeom>
          <a:noFill/>
          <a:ln/>
        </p:spPr>
        <p:txBody>
          <a:bodyPr wrap="square" lIns="25400" tIns="25400" rIns="25400" bIns="25400" rtlCol="0" anchor="t">
            <a:noAutofit/>
          </a:bodyPr>
          <a:lstStyle/>
          <a:p>
            <a:pPr marL="0" indent="0" algn="l">
              <a:lnSpc>
                <a:spcPct val="118696"/>
              </a:lnSpc>
              <a:buNone/>
            </a:pPr>
            <a:r>
              <a:rPr lang="en-US" sz="2000" b="1" dirty="0">
                <a:solidFill>
                  <a:srgbClr val="152428"/>
                </a:solidFill>
                <a:latin typeface="Inter" panose="02000503000000020004" pitchFamily="2" charset="0"/>
                <a:ea typeface="Inter" panose="02000503000000020004" pitchFamily="2" charset="0"/>
                <a:cs typeface="Archivo" pitchFamily="34" charset="-120"/>
              </a:rPr>
              <a:t>DDInter 2.0</a:t>
            </a:r>
            <a:endParaRPr lang="en-US" sz="2000" dirty="0"/>
          </a:p>
        </p:txBody>
      </p:sp>
      <p:sp>
        <p:nvSpPr>
          <p:cNvPr id="32" name="Text 29"/>
          <p:cNvSpPr/>
          <p:nvPr/>
        </p:nvSpPr>
        <p:spPr>
          <a:xfrm>
            <a:off x="4173042" y="7040860"/>
            <a:ext cx="2258662" cy="384770"/>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Open access</a:t>
            </a:r>
            <a:endParaRPr lang="en-US" sz="2000" dirty="0"/>
          </a:p>
        </p:txBody>
      </p:sp>
      <p:sp>
        <p:nvSpPr>
          <p:cNvPr id="33" name="Text 30"/>
          <p:cNvSpPr/>
          <p:nvPr/>
        </p:nvSpPr>
        <p:spPr>
          <a:xfrm>
            <a:off x="7485261" y="6867525"/>
            <a:ext cx="2967533" cy="731441"/>
          </a:xfrm>
          <a:prstGeom prst="rect">
            <a:avLst/>
          </a:prstGeom>
          <a:noFill/>
          <a:ln/>
        </p:spPr>
        <p:txBody>
          <a:bodyPr wrap="square" lIns="25400" tIns="25400" rIns="25400" bIns="25400" rtlCol="0" anchor="t">
            <a:norm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Pharmacist-reviewed severity ratings</a:t>
            </a:r>
            <a:endParaRPr lang="en-US" sz="2000" dirty="0"/>
          </a:p>
        </p:txBody>
      </p:sp>
      <p:sp>
        <p:nvSpPr>
          <p:cNvPr id="34" name="Text 31"/>
          <p:cNvSpPr/>
          <p:nvPr/>
        </p:nvSpPr>
        <p:spPr>
          <a:xfrm>
            <a:off x="11662867" y="6867525"/>
            <a:ext cx="2967533" cy="384770"/>
          </a:xfrm>
          <a:prstGeom prst="rect">
            <a:avLst/>
          </a:prstGeom>
          <a:noFill/>
          <a:ln/>
        </p:spPr>
        <p:txBody>
          <a:bodyPr wrap="square" lIns="25400" tIns="25400" rIns="25400" bIns="25400" rtlCol="0" anchor="t">
            <a:noAutofit/>
          </a:bodyPr>
          <a:lstStyle/>
          <a:p>
            <a:pPr marL="0" indent="0" algn="l">
              <a:lnSpc>
                <a:spcPct val="107059"/>
              </a:lnSpc>
              <a:buNone/>
            </a:pPr>
            <a:r>
              <a:rPr lang="en-US" sz="2000" dirty="0">
                <a:solidFill>
                  <a:srgbClr val="33464B"/>
                </a:solidFill>
                <a:latin typeface="Inter" panose="02000503000000020004" pitchFamily="2" charset="0"/>
                <a:ea typeface="Inter" panose="02000503000000020004" pitchFamily="2" charset="0"/>
                <a:cs typeface="IBM Plex Sans" pitchFamily="34" charset="-120"/>
              </a:rPr>
              <a:t>Web only; no mobile application</a:t>
            </a:r>
            <a:endParaRPr lang="en-US" sz="2000" dirty="0"/>
          </a:p>
        </p:txBody>
      </p:sp>
      <p:sp>
        <p:nvSpPr>
          <p:cNvPr id="35" name="Text 32"/>
          <p:cNvSpPr/>
          <p:nvPr/>
        </p:nvSpPr>
        <p:spPr>
          <a:xfrm>
            <a:off x="15802373" y="7040860"/>
            <a:ext cx="1374378" cy="384770"/>
          </a:xfrm>
          <a:prstGeom prst="rect">
            <a:avLst/>
          </a:prstGeom>
          <a:noFill/>
          <a:ln/>
        </p:spPr>
        <p:txBody>
          <a:bodyPr wrap="square" lIns="25400" tIns="25400" rIns="25400" bIns="25400" rtlCol="0" anchor="t">
            <a:normAutofit/>
          </a:bodyPr>
          <a:lstStyle/>
          <a:p>
            <a:pPr marL="0" indent="0" algn="ctr">
              <a:lnSpc>
                <a:spcPct val="107059"/>
              </a:lnSpc>
              <a:buNone/>
            </a:pPr>
            <a:r>
              <a:rPr lang="en-US" sz="2000" b="1" dirty="0">
                <a:solidFill>
                  <a:srgbClr val="D93639"/>
                </a:solidFill>
                <a:latin typeface="Inter" panose="02000503000000020004" pitchFamily="2" charset="0"/>
                <a:ea typeface="Inter" panose="02000503000000020004" pitchFamily="2" charset="0"/>
                <a:cs typeface="IBM Plex Sans" pitchFamily="34" charset="-120"/>
              </a:rPr>
              <a:t>No</a:t>
            </a:r>
            <a:endParaRPr lang="en-US" sz="2000" dirty="0"/>
          </a:p>
        </p:txBody>
      </p:sp>
      <p:sp>
        <p:nvSpPr>
          <p:cNvPr id="36" name="Shape 33"/>
          <p:cNvSpPr/>
          <p:nvPr/>
        </p:nvSpPr>
        <p:spPr>
          <a:xfrm>
            <a:off x="857250" y="8111530"/>
            <a:ext cx="5384800" cy="1603970"/>
          </a:xfrm>
          <a:prstGeom prst="roundRect">
            <a:avLst>
              <a:gd name="adj" fmla="val 9501"/>
            </a:avLst>
          </a:prstGeom>
          <a:solidFill>
            <a:srgbClr val="003F39"/>
          </a:solidFill>
          <a:ln/>
        </p:spPr>
      </p:sp>
      <p:sp>
        <p:nvSpPr>
          <p:cNvPr id="37" name="Text 34"/>
          <p:cNvSpPr/>
          <p:nvPr/>
        </p:nvSpPr>
        <p:spPr>
          <a:xfrm>
            <a:off x="1143000" y="8359180"/>
            <a:ext cx="5294630" cy="285750"/>
          </a:xfrm>
          <a:prstGeom prst="rect">
            <a:avLst/>
          </a:prstGeom>
          <a:noFill/>
          <a:ln/>
        </p:spPr>
        <p:txBody>
          <a:bodyPr wrap="square" lIns="25400" tIns="25400" rIns="25400" bIns="25400" rtlCol="0" anchor="t">
            <a:normAutofit/>
          </a:bodyPr>
          <a:lstStyle/>
          <a:p>
            <a:pPr marL="0" indent="0" algn="l">
              <a:lnSpc>
                <a:spcPct val="76471"/>
              </a:lnSpc>
              <a:buNone/>
            </a:pPr>
            <a:r>
              <a:rPr lang="en-US" sz="1950" kern="0" spc="234" dirty="0">
                <a:solidFill>
                  <a:srgbClr val="7FC7BE"/>
                </a:solidFill>
                <a:latin typeface="Inter" panose="02000503000000020004" pitchFamily="2" charset="0"/>
                <a:ea typeface="Inter" panose="02000503000000020004" pitchFamily="2" charset="0"/>
                <a:cs typeface="IBM Plex Sans" pitchFamily="34" charset="-120"/>
              </a:rPr>
              <a:t>GAP 1</a:t>
            </a:r>
            <a:endParaRPr lang="en-US" sz="1950" dirty="0"/>
          </a:p>
        </p:txBody>
      </p:sp>
      <p:sp>
        <p:nvSpPr>
          <p:cNvPr id="38" name="Text 35"/>
          <p:cNvSpPr/>
          <p:nvPr/>
        </p:nvSpPr>
        <p:spPr>
          <a:xfrm>
            <a:off x="1143000" y="8721130"/>
            <a:ext cx="4957699" cy="784820"/>
          </a:xfrm>
          <a:prstGeom prst="rect">
            <a:avLst/>
          </a:prstGeom>
          <a:noFill/>
          <a:ln/>
        </p:spPr>
        <p:txBody>
          <a:bodyPr wrap="square" lIns="25400" tIns="25400" rIns="25400" bIns="25400" rtlCol="0" anchor="t">
            <a:normAutofit/>
          </a:bodyPr>
          <a:lstStyle/>
          <a:p>
            <a:pPr marL="0" indent="0" algn="l">
              <a:lnSpc>
                <a:spcPct val="106909"/>
              </a:lnSpc>
              <a:buNone/>
            </a:pPr>
            <a:r>
              <a:rPr lang="en-US" sz="2100" dirty="0">
                <a:solidFill>
                  <a:srgbClr val="FFFFFF"/>
                </a:solidFill>
                <a:latin typeface="Inter" panose="02000503000000020004" pitchFamily="2" charset="0"/>
                <a:ea typeface="Inter" panose="02000503000000020004" pitchFamily="2" charset="0"/>
                <a:cs typeface="IBM Plex Sans" pitchFamily="34" charset="-120"/>
              </a:rPr>
              <a:t>No affordable checker works without a network</a:t>
            </a:r>
            <a:endParaRPr lang="en-US" sz="2100" dirty="0"/>
          </a:p>
        </p:txBody>
      </p:sp>
      <p:sp>
        <p:nvSpPr>
          <p:cNvPr id="39" name="Shape 36"/>
          <p:cNvSpPr/>
          <p:nvPr/>
        </p:nvSpPr>
        <p:spPr>
          <a:xfrm>
            <a:off x="6451600" y="8111530"/>
            <a:ext cx="5384800" cy="1603970"/>
          </a:xfrm>
          <a:prstGeom prst="roundRect">
            <a:avLst>
              <a:gd name="adj" fmla="val 9501"/>
            </a:avLst>
          </a:prstGeom>
          <a:solidFill>
            <a:srgbClr val="003F39"/>
          </a:solidFill>
          <a:ln/>
        </p:spPr>
      </p:sp>
      <p:sp>
        <p:nvSpPr>
          <p:cNvPr id="40" name="Text 37"/>
          <p:cNvSpPr/>
          <p:nvPr/>
        </p:nvSpPr>
        <p:spPr>
          <a:xfrm>
            <a:off x="6737350" y="8359180"/>
            <a:ext cx="5294630" cy="285750"/>
          </a:xfrm>
          <a:prstGeom prst="rect">
            <a:avLst/>
          </a:prstGeom>
          <a:noFill/>
          <a:ln/>
        </p:spPr>
        <p:txBody>
          <a:bodyPr wrap="square" lIns="25400" tIns="25400" rIns="25400" bIns="25400" rtlCol="0" anchor="t">
            <a:normAutofit/>
          </a:bodyPr>
          <a:lstStyle/>
          <a:p>
            <a:pPr marL="0" indent="0" algn="l">
              <a:lnSpc>
                <a:spcPct val="76471"/>
              </a:lnSpc>
              <a:buNone/>
            </a:pPr>
            <a:r>
              <a:rPr lang="en-US" sz="1950" kern="0" spc="234" dirty="0">
                <a:solidFill>
                  <a:srgbClr val="7FC7BE"/>
                </a:solidFill>
                <a:latin typeface="Inter" panose="02000503000000020004" pitchFamily="2" charset="0"/>
                <a:ea typeface="Inter" panose="02000503000000020004" pitchFamily="2" charset="0"/>
                <a:cs typeface="IBM Plex Sans" pitchFamily="34" charset="-120"/>
              </a:rPr>
              <a:t>GAP 2</a:t>
            </a:r>
            <a:endParaRPr lang="en-US" sz="1950" dirty="0"/>
          </a:p>
        </p:txBody>
      </p:sp>
      <p:sp>
        <p:nvSpPr>
          <p:cNvPr id="41" name="Text 38"/>
          <p:cNvSpPr/>
          <p:nvPr/>
        </p:nvSpPr>
        <p:spPr>
          <a:xfrm>
            <a:off x="6737350" y="8721130"/>
            <a:ext cx="4957699" cy="784820"/>
          </a:xfrm>
          <a:prstGeom prst="rect">
            <a:avLst/>
          </a:prstGeom>
          <a:noFill/>
          <a:ln/>
        </p:spPr>
        <p:txBody>
          <a:bodyPr wrap="square" lIns="25400" tIns="25400" rIns="25400" bIns="25400" rtlCol="0" anchor="t">
            <a:normAutofit/>
          </a:bodyPr>
          <a:lstStyle/>
          <a:p>
            <a:pPr marL="0" indent="0" algn="l">
              <a:lnSpc>
                <a:spcPct val="106909"/>
              </a:lnSpc>
              <a:buNone/>
            </a:pPr>
            <a:r>
              <a:rPr lang="en-US" sz="2100" dirty="0">
                <a:solidFill>
                  <a:srgbClr val="FFFFFF"/>
                </a:solidFill>
                <a:latin typeface="Inter" panose="02000503000000020004" pitchFamily="2" charset="0"/>
                <a:ea typeface="Inter" panose="02000503000000020004" pitchFamily="2" charset="0"/>
                <a:cs typeface="IBM Plex Sans" pitchFamily="34" charset="-120"/>
              </a:rPr>
              <a:t>Interaction models stay in the laboratory</a:t>
            </a:r>
            <a:endParaRPr lang="en-US" sz="2100" dirty="0"/>
          </a:p>
        </p:txBody>
      </p:sp>
      <p:sp>
        <p:nvSpPr>
          <p:cNvPr id="42" name="Shape 39"/>
          <p:cNvSpPr/>
          <p:nvPr/>
        </p:nvSpPr>
        <p:spPr>
          <a:xfrm>
            <a:off x="12045951" y="8111530"/>
            <a:ext cx="5384800" cy="1603970"/>
          </a:xfrm>
          <a:prstGeom prst="roundRect">
            <a:avLst>
              <a:gd name="adj" fmla="val 9501"/>
            </a:avLst>
          </a:prstGeom>
          <a:solidFill>
            <a:srgbClr val="003F39"/>
          </a:solidFill>
          <a:ln/>
        </p:spPr>
      </p:sp>
      <p:sp>
        <p:nvSpPr>
          <p:cNvPr id="43" name="Text 40"/>
          <p:cNvSpPr/>
          <p:nvPr/>
        </p:nvSpPr>
        <p:spPr>
          <a:xfrm>
            <a:off x="12331701" y="8359180"/>
            <a:ext cx="5294630" cy="285750"/>
          </a:xfrm>
          <a:prstGeom prst="rect">
            <a:avLst/>
          </a:prstGeom>
          <a:noFill/>
          <a:ln/>
        </p:spPr>
        <p:txBody>
          <a:bodyPr wrap="square" lIns="25400" tIns="25400" rIns="25400" bIns="25400" rtlCol="0" anchor="t">
            <a:normAutofit/>
          </a:bodyPr>
          <a:lstStyle/>
          <a:p>
            <a:pPr marL="0" indent="0" algn="l">
              <a:lnSpc>
                <a:spcPct val="76471"/>
              </a:lnSpc>
              <a:buNone/>
            </a:pPr>
            <a:r>
              <a:rPr lang="en-US" sz="1950" kern="0" spc="234" dirty="0">
                <a:solidFill>
                  <a:srgbClr val="7FC7BE"/>
                </a:solidFill>
                <a:latin typeface="Inter" panose="02000503000000020004" pitchFamily="2" charset="0"/>
                <a:ea typeface="Inter" panose="02000503000000020004" pitchFamily="2" charset="0"/>
                <a:cs typeface="IBM Plex Sans" pitchFamily="34" charset="-120"/>
              </a:rPr>
              <a:t>GAP 3</a:t>
            </a:r>
            <a:endParaRPr lang="en-US" sz="1950" dirty="0"/>
          </a:p>
        </p:txBody>
      </p:sp>
      <p:sp>
        <p:nvSpPr>
          <p:cNvPr id="44" name="Text 41"/>
          <p:cNvSpPr/>
          <p:nvPr/>
        </p:nvSpPr>
        <p:spPr>
          <a:xfrm>
            <a:off x="12331701" y="8721130"/>
            <a:ext cx="4957699" cy="784820"/>
          </a:xfrm>
          <a:prstGeom prst="rect">
            <a:avLst/>
          </a:prstGeom>
          <a:noFill/>
          <a:ln/>
        </p:spPr>
        <p:txBody>
          <a:bodyPr wrap="square" lIns="25400" tIns="25400" rIns="25400" bIns="25400" rtlCol="0" anchor="t">
            <a:normAutofit/>
          </a:bodyPr>
          <a:lstStyle/>
          <a:p>
            <a:pPr marL="0" indent="0" algn="l">
              <a:lnSpc>
                <a:spcPct val="106909"/>
              </a:lnSpc>
              <a:buNone/>
            </a:pPr>
            <a:r>
              <a:rPr lang="en-US" sz="2100" dirty="0">
                <a:solidFill>
                  <a:srgbClr val="FFFFFF"/>
                </a:solidFill>
                <a:latin typeface="Inter" panose="02000503000000020004" pitchFamily="2" charset="0"/>
                <a:ea typeface="Inter" panose="02000503000000020004" pitchFamily="2" charset="0"/>
                <a:cs typeface="IBM Plex Sans" pitchFamily="34" charset="-120"/>
              </a:rPr>
              <a:t>Severity rests on editorial consensus, not features</a:t>
            </a:r>
            <a:endParaRPr lang="en-US" sz="2100" dirty="0"/>
          </a:p>
        </p:txBody>
      </p:sp>
      <p:sp>
        <p:nvSpPr>
          <p:cNvPr id="47" name="Shape 0">
            <a:extLst>
              <a:ext uri="{FF2B5EF4-FFF2-40B4-BE49-F238E27FC236}">
                <a16:creationId xmlns:a16="http://schemas.microsoft.com/office/drawing/2014/main" id="{04BF4AF4-4B4B-65F8-0EF0-0F4D2C15E63B}"/>
              </a:ext>
            </a:extLst>
          </p:cNvPr>
          <p:cNvSpPr/>
          <p:nvPr/>
        </p:nvSpPr>
        <p:spPr>
          <a:xfrm>
            <a:off x="914400" y="710826"/>
            <a:ext cx="133350" cy="133350"/>
          </a:xfrm>
          <a:prstGeom prst="rect">
            <a:avLst/>
          </a:prstGeom>
          <a:solidFill>
            <a:srgbClr val="0B5C4A"/>
          </a:solidFill>
          <a:ln/>
        </p:spPr>
      </p:sp>
      <p:sp>
        <p:nvSpPr>
          <p:cNvPr id="48" name="Text 1">
            <a:extLst>
              <a:ext uri="{FF2B5EF4-FFF2-40B4-BE49-F238E27FC236}">
                <a16:creationId xmlns:a16="http://schemas.microsoft.com/office/drawing/2014/main" id="{D9D77484-F1A5-FA2C-E08C-B3DE23DEDEF4}"/>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COMPARISON OF EXISTING SYSTEMS</a:t>
            </a:r>
            <a:endParaRPr lang="en-US" sz="2400" dirty="0"/>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533400"/>
            <a:ext cx="814388" cy="247650"/>
          </a:xfrm>
          <a:prstGeom prst="rect">
            <a:avLst/>
          </a:prstGeom>
        </p:spPr>
      </p:pic>
      <p:sp>
        <p:nvSpPr>
          <p:cNvPr id="4" name="Text 1"/>
          <p:cNvSpPr/>
          <p:nvPr/>
        </p:nvSpPr>
        <p:spPr>
          <a:xfrm>
            <a:off x="857250" y="952500"/>
            <a:ext cx="1634490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Three gaps, and what each one asks the system to do</a:t>
            </a:r>
            <a:endParaRPr lang="en-US" sz="3975" dirty="0"/>
          </a:p>
        </p:txBody>
      </p:sp>
      <p:sp>
        <p:nvSpPr>
          <p:cNvPr id="5" name="Shape 2"/>
          <p:cNvSpPr/>
          <p:nvPr/>
        </p:nvSpPr>
        <p:spPr>
          <a:xfrm>
            <a:off x="857250" y="1766689"/>
            <a:ext cx="8416925" cy="7986911"/>
          </a:xfrm>
          <a:prstGeom prst="roundRect">
            <a:avLst>
              <a:gd name="adj" fmla="val 2385"/>
            </a:avLst>
          </a:prstGeom>
          <a:solidFill>
            <a:srgbClr val="FFFFFF"/>
          </a:solidFill>
          <a:ln w="6350">
            <a:solidFill>
              <a:srgbClr val="E1EEEC"/>
            </a:solidFill>
            <a:prstDash val="solid"/>
          </a:ln>
        </p:spPr>
      </p:sp>
      <p:pic>
        <p:nvPicPr>
          <p:cNvPr id="6" name="Image 1" descr="preencoded.png"/>
          <p:cNvPicPr>
            <a:picLocks noChangeAspect="1"/>
          </p:cNvPicPr>
          <p:nvPr/>
        </p:nvPicPr>
        <p:blipFill>
          <a:blip r:embed="rId4"/>
          <a:srcRect/>
          <a:stretch/>
        </p:blipFill>
        <p:spPr>
          <a:xfrm>
            <a:off x="1130300" y="2104926"/>
            <a:ext cx="7870825" cy="7310339"/>
          </a:xfrm>
          <a:prstGeom prst="rect">
            <a:avLst/>
          </a:prstGeom>
        </p:spPr>
      </p:pic>
      <p:sp>
        <p:nvSpPr>
          <p:cNvPr id="7" name="Shape 3"/>
          <p:cNvSpPr/>
          <p:nvPr/>
        </p:nvSpPr>
        <p:spPr>
          <a:xfrm>
            <a:off x="9559925" y="2229346"/>
            <a:ext cx="7870825" cy="2226866"/>
          </a:xfrm>
          <a:prstGeom prst="roundRect">
            <a:avLst>
              <a:gd name="adj" fmla="val 5988"/>
            </a:avLst>
          </a:prstGeom>
          <a:solidFill>
            <a:srgbClr val="F2F7F7"/>
          </a:solidFill>
          <a:ln/>
        </p:spPr>
      </p:sp>
      <p:sp>
        <p:nvSpPr>
          <p:cNvPr id="8" name="Shape 4"/>
          <p:cNvSpPr/>
          <p:nvPr/>
        </p:nvSpPr>
        <p:spPr>
          <a:xfrm>
            <a:off x="9559925" y="2229346"/>
            <a:ext cx="57150" cy="2226866"/>
          </a:xfrm>
          <a:prstGeom prst="rect">
            <a:avLst/>
          </a:prstGeom>
          <a:solidFill>
            <a:srgbClr val="D93639"/>
          </a:solidFill>
          <a:ln/>
        </p:spPr>
      </p:sp>
      <p:sp>
        <p:nvSpPr>
          <p:cNvPr id="9" name="Text 5"/>
          <p:cNvSpPr/>
          <p:nvPr/>
        </p:nvSpPr>
        <p:spPr>
          <a:xfrm>
            <a:off x="9940926" y="2515096"/>
            <a:ext cx="7882573"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No genuine offline mode</a:t>
            </a:r>
            <a:endParaRPr lang="en-US" sz="2325" dirty="0"/>
          </a:p>
        </p:txBody>
      </p:sp>
      <p:sp>
        <p:nvSpPr>
          <p:cNvPr id="10" name="Text 6"/>
          <p:cNvSpPr/>
          <p:nvPr/>
        </p:nvSpPr>
        <p:spPr>
          <a:xfrm>
            <a:off x="9940926" y="3013174"/>
            <a:ext cx="7380955" cy="1195388"/>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Answered by shipping the whole database inside the app, so the network becomes an enhancement rather than a requirement.</a:t>
            </a:r>
            <a:endParaRPr lang="en-US" sz="2025" dirty="0"/>
          </a:p>
        </p:txBody>
      </p:sp>
      <p:sp>
        <p:nvSpPr>
          <p:cNvPr id="11" name="Shape 7"/>
          <p:cNvSpPr/>
          <p:nvPr/>
        </p:nvSpPr>
        <p:spPr>
          <a:xfrm>
            <a:off x="9559925" y="4646712"/>
            <a:ext cx="7870825" cy="2226866"/>
          </a:xfrm>
          <a:prstGeom prst="roundRect">
            <a:avLst>
              <a:gd name="adj" fmla="val 5988"/>
            </a:avLst>
          </a:prstGeom>
          <a:solidFill>
            <a:srgbClr val="F2F7F7"/>
          </a:solidFill>
          <a:ln/>
        </p:spPr>
      </p:sp>
      <p:sp>
        <p:nvSpPr>
          <p:cNvPr id="12" name="Shape 8"/>
          <p:cNvSpPr/>
          <p:nvPr/>
        </p:nvSpPr>
        <p:spPr>
          <a:xfrm>
            <a:off x="9559925" y="4646712"/>
            <a:ext cx="57150" cy="2226866"/>
          </a:xfrm>
          <a:prstGeom prst="rect">
            <a:avLst/>
          </a:prstGeom>
          <a:solidFill>
            <a:srgbClr val="D93639"/>
          </a:solidFill>
          <a:ln/>
        </p:spPr>
      </p:sp>
      <p:sp>
        <p:nvSpPr>
          <p:cNvPr id="13" name="Text 9"/>
          <p:cNvSpPr/>
          <p:nvPr/>
        </p:nvSpPr>
        <p:spPr>
          <a:xfrm>
            <a:off x="9940926" y="4932462"/>
            <a:ext cx="7882573"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Models never reach a user</a:t>
            </a:r>
            <a:endParaRPr lang="en-US" sz="2325" dirty="0"/>
          </a:p>
        </p:txBody>
      </p:sp>
      <p:sp>
        <p:nvSpPr>
          <p:cNvPr id="14" name="Text 10"/>
          <p:cNvSpPr/>
          <p:nvPr/>
        </p:nvSpPr>
        <p:spPr>
          <a:xfrm>
            <a:off x="9940926" y="5430540"/>
            <a:ext cx="7380955" cy="1195388"/>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Answered by carrying the model all the way: trained, served through an API, distilled onto the device, and tested with real users.</a:t>
            </a:r>
            <a:endParaRPr lang="en-US" sz="2025" dirty="0"/>
          </a:p>
        </p:txBody>
      </p:sp>
      <p:sp>
        <p:nvSpPr>
          <p:cNvPr id="15" name="Shape 11"/>
          <p:cNvSpPr/>
          <p:nvPr/>
        </p:nvSpPr>
        <p:spPr>
          <a:xfrm>
            <a:off x="9559925" y="7064078"/>
            <a:ext cx="7870825" cy="2226866"/>
          </a:xfrm>
          <a:prstGeom prst="roundRect">
            <a:avLst>
              <a:gd name="adj" fmla="val 5988"/>
            </a:avLst>
          </a:prstGeom>
          <a:solidFill>
            <a:srgbClr val="F2F7F7"/>
          </a:solidFill>
          <a:ln/>
        </p:spPr>
      </p:sp>
      <p:sp>
        <p:nvSpPr>
          <p:cNvPr id="16" name="Shape 12"/>
          <p:cNvSpPr/>
          <p:nvPr/>
        </p:nvSpPr>
        <p:spPr>
          <a:xfrm>
            <a:off x="9559925" y="7064078"/>
            <a:ext cx="57150" cy="2226866"/>
          </a:xfrm>
          <a:prstGeom prst="rect">
            <a:avLst/>
          </a:prstGeom>
          <a:solidFill>
            <a:srgbClr val="D93639"/>
          </a:solidFill>
          <a:ln/>
        </p:spPr>
      </p:sp>
      <p:sp>
        <p:nvSpPr>
          <p:cNvPr id="17" name="Text 13"/>
          <p:cNvSpPr/>
          <p:nvPr/>
        </p:nvSpPr>
        <p:spPr>
          <a:xfrm>
            <a:off x="9940926" y="7349828"/>
            <a:ext cx="7882573"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Severity rests on editorial consensus</a:t>
            </a:r>
            <a:endParaRPr lang="en-US" sz="2325" dirty="0"/>
          </a:p>
        </p:txBody>
      </p:sp>
      <p:sp>
        <p:nvSpPr>
          <p:cNvPr id="18" name="Text 14"/>
          <p:cNvSpPr/>
          <p:nvPr/>
        </p:nvSpPr>
        <p:spPr>
          <a:xfrm>
            <a:off x="9940926" y="7847906"/>
            <a:ext cx="7380955" cy="1195388"/>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Answered by deriving severity from pharmacology, with expert ratings kept as an override that can raise an alert but never suppress one.</a:t>
            </a:r>
            <a:endParaRPr lang="en-US" sz="2025" dirty="0"/>
          </a:p>
        </p:txBody>
      </p:sp>
      <p:sp>
        <p:nvSpPr>
          <p:cNvPr id="23" name="Shape 0">
            <a:extLst>
              <a:ext uri="{FF2B5EF4-FFF2-40B4-BE49-F238E27FC236}">
                <a16:creationId xmlns:a16="http://schemas.microsoft.com/office/drawing/2014/main" id="{1F7C9339-1F25-538F-EE2B-C776AD5BBD9A}"/>
              </a:ext>
            </a:extLst>
          </p:cNvPr>
          <p:cNvSpPr/>
          <p:nvPr/>
        </p:nvSpPr>
        <p:spPr>
          <a:xfrm>
            <a:off x="914400" y="710826"/>
            <a:ext cx="133350" cy="133350"/>
          </a:xfrm>
          <a:prstGeom prst="rect">
            <a:avLst/>
          </a:prstGeom>
          <a:solidFill>
            <a:srgbClr val="0B5C4A"/>
          </a:solidFill>
          <a:ln/>
        </p:spPr>
      </p:sp>
      <p:sp>
        <p:nvSpPr>
          <p:cNvPr id="24" name="Text 1">
            <a:extLst>
              <a:ext uri="{FF2B5EF4-FFF2-40B4-BE49-F238E27FC236}">
                <a16:creationId xmlns:a16="http://schemas.microsoft.com/office/drawing/2014/main" id="{C8F50785-1DFF-B78E-FE42-F153B528DB21}"/>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RESEARCH GAPS</a:t>
            </a:r>
            <a:endParaRPr lang="en-US" sz="2400" dirty="0"/>
          </a:p>
        </p:txBody>
      </p:sp>
      <p:sp>
        <p:nvSpPr>
          <p:cNvPr id="25" name="Text 4">
            <a:extLst>
              <a:ext uri="{FF2B5EF4-FFF2-40B4-BE49-F238E27FC236}">
                <a16:creationId xmlns:a16="http://schemas.microsoft.com/office/drawing/2014/main" id="{FCF0F7CE-A7B6-8896-6E92-4320EFA7440B}"/>
              </a:ext>
            </a:extLst>
          </p:cNvPr>
          <p:cNvSpPr/>
          <p:nvPr/>
        </p:nvSpPr>
        <p:spPr>
          <a:xfrm>
            <a:off x="736652" y="9271894"/>
            <a:ext cx="8658119" cy="419100"/>
          </a:xfrm>
          <a:prstGeom prst="rect">
            <a:avLst/>
          </a:prstGeom>
          <a:noFill/>
          <a:ln/>
        </p:spPr>
        <p:txBody>
          <a:bodyPr wrap="square" lIns="25400" tIns="25400" rIns="25400" bIns="25400" rtlCol="0" anchor="t">
            <a:normAutofit/>
          </a:bodyPr>
          <a:lstStyle/>
          <a:p>
            <a:pPr marL="0" indent="0" algn="ctr">
              <a:lnSpc>
                <a:spcPct val="114623"/>
              </a:lnSpc>
              <a:buNone/>
            </a:pPr>
            <a:r>
              <a:rPr lang="en-GB" dirty="0">
                <a:solidFill>
                  <a:srgbClr val="33464B"/>
                </a:solidFill>
                <a:latin typeface="Inter" panose="02000503000000020004" pitchFamily="2" charset="0"/>
                <a:ea typeface="Inter" panose="02000503000000020004" pitchFamily="2" charset="0"/>
                <a:cs typeface="IBM Plex Sans" pitchFamily="34" charset="-120"/>
              </a:rPr>
              <a:t>Figure 1. Identified Research Gaps and Proposed System Features</a:t>
            </a:r>
            <a:endParaRPr lang="en-US" dirty="0"/>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AFCFC"/>
        </a:solidFill>
        <a:effectLst/>
      </p:bgPr>
    </p:bg>
    <p:spTree>
      <p:nvGrpSpPr>
        <p:cNvPr id="1" name=""/>
        <p:cNvGrpSpPr/>
        <p:nvPr/>
      </p:nvGrpSpPr>
      <p:grpSpPr>
        <a:xfrm>
          <a:off x="0" y="0"/>
          <a:ext cx="0" cy="0"/>
          <a:chOff x="0" y="0"/>
          <a:chExt cx="0" cy="0"/>
        </a:xfrm>
      </p:grpSpPr>
      <p:sp>
        <p:nvSpPr>
          <p:cNvPr id="56" name="Shape 8">
            <a:extLst>
              <a:ext uri="{FF2B5EF4-FFF2-40B4-BE49-F238E27FC236}">
                <a16:creationId xmlns:a16="http://schemas.microsoft.com/office/drawing/2014/main" id="{FFA12238-6301-2571-6E14-350BA023E09E}"/>
              </a:ext>
            </a:extLst>
          </p:cNvPr>
          <p:cNvSpPr/>
          <p:nvPr/>
        </p:nvSpPr>
        <p:spPr>
          <a:xfrm>
            <a:off x="7484071" y="3611364"/>
            <a:ext cx="3313509" cy="1702395"/>
          </a:xfrm>
          <a:prstGeom prst="rect">
            <a:avLst/>
          </a:prstGeom>
          <a:solidFill>
            <a:srgbClr val="FFFFFF"/>
          </a:solidFill>
          <a:ln/>
        </p:spPr>
      </p:sp>
      <p:pic>
        <p:nvPicPr>
          <p:cNvPr id="3" name="Image 0" descr="preencoded.png"/>
          <p:cNvPicPr>
            <a:picLocks noChangeAspect="1"/>
          </p:cNvPicPr>
          <p:nvPr/>
        </p:nvPicPr>
        <p:blipFill>
          <a:blip r:embed="rId3"/>
          <a:stretch>
            <a:fillRect/>
          </a:stretch>
        </p:blipFill>
        <p:spPr>
          <a:xfrm>
            <a:off x="16616363" y="609600"/>
            <a:ext cx="814388" cy="247650"/>
          </a:xfrm>
          <a:prstGeom prst="rect">
            <a:avLst/>
          </a:prstGeom>
        </p:spPr>
      </p:pic>
      <p:sp>
        <p:nvSpPr>
          <p:cNvPr id="4" name="Text 1"/>
          <p:cNvSpPr/>
          <p:nvPr/>
        </p:nvSpPr>
        <p:spPr>
          <a:xfrm>
            <a:off x="857250" y="1028700"/>
            <a:ext cx="1823085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Design Science Research: build the artefact, then test it</a:t>
            </a:r>
            <a:endParaRPr lang="en-US" sz="3975" dirty="0"/>
          </a:p>
        </p:txBody>
      </p:sp>
      <p:sp>
        <p:nvSpPr>
          <p:cNvPr id="5" name="Shape 2"/>
          <p:cNvSpPr/>
          <p:nvPr/>
        </p:nvSpPr>
        <p:spPr>
          <a:xfrm>
            <a:off x="857250" y="3608189"/>
            <a:ext cx="3313410" cy="1702395"/>
          </a:xfrm>
          <a:custGeom>
            <a:avLst/>
            <a:gdLst/>
            <a:ahLst/>
            <a:cxnLst/>
            <a:rect l="l" t="t" r="r" b="b"/>
            <a:pathLst>
              <a:path w="3313410" h="1702395">
                <a:moveTo>
                  <a:pt x="171450" y="0"/>
                </a:moveTo>
                <a:lnTo>
                  <a:pt x="3313410" y="0"/>
                </a:lnTo>
                <a:lnTo>
                  <a:pt x="3313410" y="1702395"/>
                </a:lnTo>
                <a:lnTo>
                  <a:pt x="171450" y="1702395"/>
                </a:lnTo>
                <a:arcTo wR="171450" hR="171450" stAng="5400000" swAng="5400000"/>
                <a:lnTo>
                  <a:pt x="0" y="171450"/>
                </a:lnTo>
                <a:arcTo wR="171450" hR="171450" stAng="10800000" swAng="5400000"/>
                <a:close/>
              </a:path>
            </a:pathLst>
          </a:custGeom>
          <a:solidFill>
            <a:srgbClr val="FFFFFF"/>
          </a:solidFill>
          <a:ln/>
        </p:spPr>
      </p:sp>
      <p:sp>
        <p:nvSpPr>
          <p:cNvPr id="6" name="Shape 3"/>
          <p:cNvSpPr/>
          <p:nvPr/>
        </p:nvSpPr>
        <p:spPr>
          <a:xfrm>
            <a:off x="857250" y="5304234"/>
            <a:ext cx="3313410" cy="9525"/>
          </a:xfrm>
          <a:prstGeom prst="rect">
            <a:avLst/>
          </a:prstGeom>
          <a:solidFill>
            <a:srgbClr val="E1EEEC"/>
          </a:solidFill>
          <a:ln/>
        </p:spPr>
      </p:sp>
      <p:sp>
        <p:nvSpPr>
          <p:cNvPr id="7" name="Shape 4"/>
          <p:cNvSpPr/>
          <p:nvPr/>
        </p:nvSpPr>
        <p:spPr>
          <a:xfrm>
            <a:off x="857250" y="3608189"/>
            <a:ext cx="3313410" cy="9525"/>
          </a:xfrm>
          <a:prstGeom prst="rect">
            <a:avLst/>
          </a:prstGeom>
          <a:solidFill>
            <a:srgbClr val="E1EEEC"/>
          </a:solidFill>
          <a:ln/>
        </p:spPr>
      </p:sp>
      <p:sp>
        <p:nvSpPr>
          <p:cNvPr id="8" name="Shape 5"/>
          <p:cNvSpPr/>
          <p:nvPr/>
        </p:nvSpPr>
        <p:spPr>
          <a:xfrm>
            <a:off x="857250" y="3608189"/>
            <a:ext cx="9525" cy="1702395"/>
          </a:xfrm>
          <a:prstGeom prst="rect">
            <a:avLst/>
          </a:prstGeom>
          <a:solidFill>
            <a:srgbClr val="E1EEEC"/>
          </a:solidFill>
          <a:ln/>
        </p:spPr>
      </p:sp>
      <p:sp>
        <p:nvSpPr>
          <p:cNvPr id="9" name="Text 6"/>
          <p:cNvSpPr/>
          <p:nvPr/>
        </p:nvSpPr>
        <p:spPr>
          <a:xfrm>
            <a:off x="1130300" y="3900289"/>
            <a:ext cx="3051026" cy="285750"/>
          </a:xfrm>
          <a:prstGeom prst="rect">
            <a:avLst/>
          </a:prstGeom>
          <a:noFill/>
          <a:ln/>
        </p:spPr>
        <p:txBody>
          <a:bodyPr wrap="square" lIns="25400" tIns="25400" rIns="25400" bIns="25400" rtlCol="0" anchor="t">
            <a:normAutofit/>
          </a:bodyPr>
          <a:lstStyle/>
          <a:p>
            <a:pPr marL="0" indent="0" algn="l">
              <a:lnSpc>
                <a:spcPct val="76471"/>
              </a:lnSpc>
              <a:buNone/>
            </a:pPr>
            <a:r>
              <a:rPr lang="en-US" sz="1950" kern="0" spc="195" dirty="0">
                <a:solidFill>
                  <a:srgbClr val="6F7D81"/>
                </a:solidFill>
                <a:latin typeface="Inter" panose="02000503000000020004" pitchFamily="2" charset="0"/>
                <a:ea typeface="Inter" panose="02000503000000020004" pitchFamily="2" charset="0"/>
                <a:cs typeface="IBM Plex Sans" pitchFamily="34" charset="-120"/>
              </a:rPr>
              <a:t>PHASE 1</a:t>
            </a:r>
            <a:endParaRPr lang="en-US" sz="1950" dirty="0"/>
          </a:p>
        </p:txBody>
      </p:sp>
      <p:sp>
        <p:nvSpPr>
          <p:cNvPr id="10" name="Text 7"/>
          <p:cNvSpPr/>
          <p:nvPr/>
        </p:nvSpPr>
        <p:spPr>
          <a:xfrm>
            <a:off x="1130300" y="4300339"/>
            <a:ext cx="2856870" cy="756245"/>
          </a:xfrm>
          <a:prstGeom prst="rect">
            <a:avLst/>
          </a:prstGeom>
          <a:noFill/>
          <a:ln/>
        </p:spPr>
        <p:txBody>
          <a:bodyPr wrap="square" lIns="25400" tIns="25400" rIns="25400" bIns="25400" rtlCol="0" anchor="t">
            <a:normAutofit fontScale="92500" lnSpcReduction="10000"/>
          </a:bodyPr>
          <a:lstStyle/>
          <a:p>
            <a:pPr marL="0" indent="0" algn="l">
              <a:lnSpc>
                <a:spcPct val="120319"/>
              </a:lnSpc>
              <a:buNone/>
            </a:pPr>
            <a:r>
              <a:rPr lang="en-US" sz="2175" b="1" dirty="0">
                <a:solidFill>
                  <a:srgbClr val="152428"/>
                </a:solidFill>
                <a:latin typeface="Inter" panose="02000503000000020004" pitchFamily="2" charset="0"/>
                <a:ea typeface="Inter" panose="02000503000000020004" pitchFamily="2" charset="0"/>
                <a:cs typeface="Archivo" pitchFamily="34" charset="-120"/>
              </a:rPr>
              <a:t>Problem and requirements</a:t>
            </a:r>
            <a:endParaRPr lang="en-US" sz="2175" dirty="0"/>
          </a:p>
        </p:txBody>
      </p:sp>
      <p:sp>
        <p:nvSpPr>
          <p:cNvPr id="11" name="Shape 8"/>
          <p:cNvSpPr/>
          <p:nvPr/>
        </p:nvSpPr>
        <p:spPr>
          <a:xfrm>
            <a:off x="4170660" y="3608189"/>
            <a:ext cx="3313509" cy="1702395"/>
          </a:xfrm>
          <a:prstGeom prst="rect">
            <a:avLst/>
          </a:prstGeom>
          <a:solidFill>
            <a:srgbClr val="FFFFFF"/>
          </a:solidFill>
          <a:ln/>
        </p:spPr>
      </p:sp>
      <p:sp>
        <p:nvSpPr>
          <p:cNvPr id="12" name="Shape 9"/>
          <p:cNvSpPr/>
          <p:nvPr/>
        </p:nvSpPr>
        <p:spPr>
          <a:xfrm>
            <a:off x="4170660" y="5304234"/>
            <a:ext cx="3313509" cy="9525"/>
          </a:xfrm>
          <a:prstGeom prst="rect">
            <a:avLst/>
          </a:prstGeom>
          <a:solidFill>
            <a:srgbClr val="E1EEEC"/>
          </a:solidFill>
          <a:ln/>
        </p:spPr>
      </p:sp>
      <p:sp>
        <p:nvSpPr>
          <p:cNvPr id="13" name="Shape 10"/>
          <p:cNvSpPr/>
          <p:nvPr/>
        </p:nvSpPr>
        <p:spPr>
          <a:xfrm>
            <a:off x="4170660" y="3608189"/>
            <a:ext cx="3313509" cy="9525"/>
          </a:xfrm>
          <a:prstGeom prst="rect">
            <a:avLst/>
          </a:prstGeom>
          <a:solidFill>
            <a:srgbClr val="E1EEEC"/>
          </a:solidFill>
          <a:ln/>
        </p:spPr>
      </p:sp>
      <p:sp>
        <p:nvSpPr>
          <p:cNvPr id="14" name="Shape 11"/>
          <p:cNvSpPr/>
          <p:nvPr/>
        </p:nvSpPr>
        <p:spPr>
          <a:xfrm>
            <a:off x="4170660" y="3608189"/>
            <a:ext cx="9525" cy="1702395"/>
          </a:xfrm>
          <a:prstGeom prst="rect">
            <a:avLst/>
          </a:prstGeom>
          <a:solidFill>
            <a:srgbClr val="E1EEEC"/>
          </a:solidFill>
          <a:ln/>
        </p:spPr>
      </p:sp>
      <p:sp>
        <p:nvSpPr>
          <p:cNvPr id="15" name="Text 12"/>
          <p:cNvSpPr/>
          <p:nvPr/>
        </p:nvSpPr>
        <p:spPr>
          <a:xfrm>
            <a:off x="4443710" y="3900289"/>
            <a:ext cx="3051135" cy="285750"/>
          </a:xfrm>
          <a:prstGeom prst="rect">
            <a:avLst/>
          </a:prstGeom>
          <a:noFill/>
          <a:ln/>
        </p:spPr>
        <p:txBody>
          <a:bodyPr wrap="square" lIns="25400" tIns="25400" rIns="25400" bIns="25400" rtlCol="0" anchor="t">
            <a:normAutofit/>
          </a:bodyPr>
          <a:lstStyle/>
          <a:p>
            <a:pPr marL="0" indent="0" algn="l">
              <a:lnSpc>
                <a:spcPct val="76471"/>
              </a:lnSpc>
              <a:buNone/>
            </a:pPr>
            <a:r>
              <a:rPr lang="en-US" sz="1950" kern="0" spc="195" dirty="0">
                <a:solidFill>
                  <a:srgbClr val="6F7D81"/>
                </a:solidFill>
                <a:latin typeface="Inter" panose="02000503000000020004" pitchFamily="2" charset="0"/>
                <a:ea typeface="Inter" panose="02000503000000020004" pitchFamily="2" charset="0"/>
                <a:cs typeface="IBM Plex Sans" pitchFamily="34" charset="-120"/>
              </a:rPr>
              <a:t>PHASE 2</a:t>
            </a:r>
            <a:endParaRPr lang="en-US" sz="1950" dirty="0"/>
          </a:p>
        </p:txBody>
      </p:sp>
      <p:sp>
        <p:nvSpPr>
          <p:cNvPr id="16" name="Text 13"/>
          <p:cNvSpPr/>
          <p:nvPr/>
        </p:nvSpPr>
        <p:spPr>
          <a:xfrm>
            <a:off x="4443710" y="4300339"/>
            <a:ext cx="2856972" cy="756245"/>
          </a:xfrm>
          <a:prstGeom prst="rect">
            <a:avLst/>
          </a:prstGeom>
          <a:noFill/>
          <a:ln/>
        </p:spPr>
        <p:txBody>
          <a:bodyPr wrap="square" lIns="25400" tIns="25400" rIns="25400" bIns="25400" rtlCol="0" anchor="t">
            <a:normAutofit fontScale="92500" lnSpcReduction="10000"/>
          </a:bodyPr>
          <a:lstStyle/>
          <a:p>
            <a:pPr marL="0" indent="0" algn="l">
              <a:lnSpc>
                <a:spcPct val="120319"/>
              </a:lnSpc>
              <a:buNone/>
            </a:pPr>
            <a:r>
              <a:rPr lang="en-US" sz="2175" b="1" dirty="0">
                <a:solidFill>
                  <a:srgbClr val="152428"/>
                </a:solidFill>
                <a:latin typeface="Inter" panose="02000503000000020004" pitchFamily="2" charset="0"/>
                <a:ea typeface="Inter" panose="02000503000000020004" pitchFamily="2" charset="0"/>
                <a:cs typeface="Archivo" pitchFamily="34" charset="-120"/>
              </a:rPr>
              <a:t>Data engineering pipeline</a:t>
            </a:r>
            <a:endParaRPr lang="en-US" sz="2175" dirty="0"/>
          </a:p>
        </p:txBody>
      </p:sp>
      <p:sp>
        <p:nvSpPr>
          <p:cNvPr id="21" name="Text 18"/>
          <p:cNvSpPr/>
          <p:nvPr/>
        </p:nvSpPr>
        <p:spPr>
          <a:xfrm>
            <a:off x="7757220" y="3900289"/>
            <a:ext cx="3051026" cy="285750"/>
          </a:xfrm>
          <a:prstGeom prst="rect">
            <a:avLst/>
          </a:prstGeom>
          <a:noFill/>
          <a:ln/>
        </p:spPr>
        <p:txBody>
          <a:bodyPr wrap="square" lIns="25400" tIns="25400" rIns="25400" bIns="25400" rtlCol="0" anchor="t">
            <a:normAutofit/>
          </a:bodyPr>
          <a:lstStyle/>
          <a:p>
            <a:pPr marL="0" indent="0" algn="l">
              <a:lnSpc>
                <a:spcPct val="76471"/>
              </a:lnSpc>
              <a:buNone/>
            </a:pPr>
            <a:r>
              <a:rPr lang="en-US" sz="1950" kern="0" spc="195" dirty="0">
                <a:solidFill>
                  <a:srgbClr val="6F7D81"/>
                </a:solidFill>
                <a:latin typeface="Inter" panose="02000503000000020004" pitchFamily="2" charset="0"/>
                <a:ea typeface="Inter" panose="02000503000000020004" pitchFamily="2" charset="0"/>
                <a:cs typeface="IBM Plex Sans" pitchFamily="34" charset="-120"/>
              </a:rPr>
              <a:t>PHASE 3</a:t>
            </a:r>
            <a:endParaRPr lang="en-US" sz="1950" dirty="0">
              <a:solidFill>
                <a:srgbClr val="6F7D81"/>
              </a:solidFill>
            </a:endParaRPr>
          </a:p>
        </p:txBody>
      </p:sp>
      <p:sp>
        <p:nvSpPr>
          <p:cNvPr id="22" name="Text 19"/>
          <p:cNvSpPr/>
          <p:nvPr/>
        </p:nvSpPr>
        <p:spPr>
          <a:xfrm>
            <a:off x="7757220" y="4300339"/>
            <a:ext cx="2856870" cy="756245"/>
          </a:xfrm>
          <a:prstGeom prst="rect">
            <a:avLst/>
          </a:prstGeom>
          <a:noFill/>
          <a:ln/>
        </p:spPr>
        <p:txBody>
          <a:bodyPr wrap="square" lIns="25400" tIns="25400" rIns="25400" bIns="25400" rtlCol="0" anchor="t">
            <a:normAutofit fontScale="92500" lnSpcReduction="10000"/>
          </a:bodyPr>
          <a:lstStyle/>
          <a:p>
            <a:pPr marL="0" indent="0" algn="l">
              <a:lnSpc>
                <a:spcPct val="120319"/>
              </a:lnSpc>
              <a:buNone/>
            </a:pPr>
            <a:r>
              <a:rPr lang="en-US" sz="2175" b="1" dirty="0">
                <a:latin typeface="Inter" panose="02000503000000020004" pitchFamily="2" charset="0"/>
                <a:ea typeface="Inter" panose="02000503000000020004" pitchFamily="2" charset="0"/>
                <a:cs typeface="Archivo" pitchFamily="34" charset="-120"/>
              </a:rPr>
              <a:t>Model training and selection</a:t>
            </a:r>
            <a:endParaRPr lang="en-US" sz="2175" dirty="0"/>
          </a:p>
        </p:txBody>
      </p:sp>
      <p:sp>
        <p:nvSpPr>
          <p:cNvPr id="23" name="Shape 20"/>
          <p:cNvSpPr/>
          <p:nvPr/>
        </p:nvSpPr>
        <p:spPr>
          <a:xfrm>
            <a:off x="10797580" y="3608189"/>
            <a:ext cx="3313410" cy="1702395"/>
          </a:xfrm>
          <a:prstGeom prst="rect">
            <a:avLst/>
          </a:prstGeom>
          <a:solidFill>
            <a:srgbClr val="FFFFFF"/>
          </a:solidFill>
          <a:ln/>
        </p:spPr>
      </p:sp>
      <p:sp>
        <p:nvSpPr>
          <p:cNvPr id="24" name="Shape 21"/>
          <p:cNvSpPr/>
          <p:nvPr/>
        </p:nvSpPr>
        <p:spPr>
          <a:xfrm>
            <a:off x="10797580" y="5304234"/>
            <a:ext cx="3313410" cy="9525"/>
          </a:xfrm>
          <a:prstGeom prst="rect">
            <a:avLst/>
          </a:prstGeom>
          <a:solidFill>
            <a:srgbClr val="E1EEEC"/>
          </a:solidFill>
          <a:ln/>
        </p:spPr>
      </p:sp>
      <p:sp>
        <p:nvSpPr>
          <p:cNvPr id="25" name="Shape 22"/>
          <p:cNvSpPr/>
          <p:nvPr/>
        </p:nvSpPr>
        <p:spPr>
          <a:xfrm>
            <a:off x="10797580" y="3608189"/>
            <a:ext cx="3313410" cy="9525"/>
          </a:xfrm>
          <a:prstGeom prst="rect">
            <a:avLst/>
          </a:prstGeom>
          <a:solidFill>
            <a:srgbClr val="E1EEEC"/>
          </a:solidFill>
          <a:ln/>
        </p:spPr>
      </p:sp>
      <p:sp>
        <p:nvSpPr>
          <p:cNvPr id="26" name="Shape 23"/>
          <p:cNvSpPr/>
          <p:nvPr/>
        </p:nvSpPr>
        <p:spPr>
          <a:xfrm>
            <a:off x="10797580" y="3608189"/>
            <a:ext cx="9525" cy="1702395"/>
          </a:xfrm>
          <a:prstGeom prst="rect">
            <a:avLst/>
          </a:prstGeom>
          <a:solidFill>
            <a:srgbClr val="E1EEEC"/>
          </a:solidFill>
          <a:ln/>
        </p:spPr>
      </p:sp>
      <p:sp>
        <p:nvSpPr>
          <p:cNvPr id="27" name="Text 24"/>
          <p:cNvSpPr/>
          <p:nvPr/>
        </p:nvSpPr>
        <p:spPr>
          <a:xfrm>
            <a:off x="11070630" y="3900289"/>
            <a:ext cx="3051026" cy="285750"/>
          </a:xfrm>
          <a:prstGeom prst="rect">
            <a:avLst/>
          </a:prstGeom>
          <a:noFill/>
          <a:ln/>
        </p:spPr>
        <p:txBody>
          <a:bodyPr wrap="square" lIns="25400" tIns="25400" rIns="25400" bIns="25400" rtlCol="0" anchor="t">
            <a:normAutofit/>
          </a:bodyPr>
          <a:lstStyle/>
          <a:p>
            <a:pPr marL="0" indent="0" algn="l">
              <a:lnSpc>
                <a:spcPct val="76471"/>
              </a:lnSpc>
              <a:buNone/>
            </a:pPr>
            <a:r>
              <a:rPr lang="en-US" sz="1950" kern="0" spc="195" dirty="0">
                <a:solidFill>
                  <a:srgbClr val="6F7D81"/>
                </a:solidFill>
                <a:latin typeface="Inter" panose="02000503000000020004" pitchFamily="2" charset="0"/>
                <a:ea typeface="Inter" panose="02000503000000020004" pitchFamily="2" charset="0"/>
                <a:cs typeface="IBM Plex Sans" pitchFamily="34" charset="-120"/>
              </a:rPr>
              <a:t>PHASE 4</a:t>
            </a:r>
            <a:endParaRPr lang="en-US" sz="1950" dirty="0"/>
          </a:p>
        </p:txBody>
      </p:sp>
      <p:sp>
        <p:nvSpPr>
          <p:cNvPr id="28" name="Text 25"/>
          <p:cNvSpPr/>
          <p:nvPr/>
        </p:nvSpPr>
        <p:spPr>
          <a:xfrm>
            <a:off x="11070630" y="4300339"/>
            <a:ext cx="2856870" cy="756245"/>
          </a:xfrm>
          <a:prstGeom prst="rect">
            <a:avLst/>
          </a:prstGeom>
          <a:noFill/>
          <a:ln/>
        </p:spPr>
        <p:txBody>
          <a:bodyPr wrap="square" lIns="25400" tIns="25400" rIns="25400" bIns="25400" rtlCol="0" anchor="t">
            <a:normAutofit fontScale="92500" lnSpcReduction="10000"/>
          </a:bodyPr>
          <a:lstStyle/>
          <a:p>
            <a:pPr marL="0" indent="0" algn="l">
              <a:lnSpc>
                <a:spcPct val="120319"/>
              </a:lnSpc>
              <a:buNone/>
            </a:pPr>
            <a:r>
              <a:rPr lang="en-US" sz="2175" b="1" dirty="0">
                <a:solidFill>
                  <a:srgbClr val="152428"/>
                </a:solidFill>
                <a:latin typeface="Inter" panose="02000503000000020004" pitchFamily="2" charset="0"/>
                <a:ea typeface="Inter" panose="02000503000000020004" pitchFamily="2" charset="0"/>
                <a:cs typeface="Archivo" pitchFamily="34" charset="-120"/>
              </a:rPr>
              <a:t>Application and API build</a:t>
            </a:r>
            <a:endParaRPr lang="en-US" sz="2175" dirty="0"/>
          </a:p>
        </p:txBody>
      </p:sp>
      <p:sp>
        <p:nvSpPr>
          <p:cNvPr id="29" name="Shape 26"/>
          <p:cNvSpPr/>
          <p:nvPr/>
        </p:nvSpPr>
        <p:spPr>
          <a:xfrm>
            <a:off x="14110990" y="3608189"/>
            <a:ext cx="3319760" cy="1702395"/>
          </a:xfrm>
          <a:custGeom>
            <a:avLst/>
            <a:gdLst/>
            <a:ahLst/>
            <a:cxnLst/>
            <a:rect l="l" t="t" r="r" b="b"/>
            <a:pathLst>
              <a:path w="3319760" h="1702395">
                <a:moveTo>
                  <a:pt x="0" y="0"/>
                </a:moveTo>
                <a:lnTo>
                  <a:pt x="3148310" y="0"/>
                </a:lnTo>
                <a:arcTo wR="171450" hR="171450" stAng="16200000" swAng="5400000"/>
                <a:lnTo>
                  <a:pt x="3319760" y="1530945"/>
                </a:lnTo>
                <a:arcTo wR="171450" hR="171450" stAng="0" swAng="5400000"/>
                <a:lnTo>
                  <a:pt x="0" y="1702395"/>
                </a:lnTo>
                <a:lnTo>
                  <a:pt x="0" y="0"/>
                </a:lnTo>
                <a:close/>
              </a:path>
            </a:pathLst>
          </a:custGeom>
          <a:solidFill>
            <a:srgbClr val="FFFFFF"/>
          </a:solidFill>
          <a:ln w="6350">
            <a:solidFill>
              <a:srgbClr val="E1EEEC"/>
            </a:solidFill>
            <a:prstDash val="solid"/>
          </a:ln>
        </p:spPr>
      </p:sp>
      <p:sp>
        <p:nvSpPr>
          <p:cNvPr id="30" name="Text 27"/>
          <p:cNvSpPr/>
          <p:nvPr/>
        </p:nvSpPr>
        <p:spPr>
          <a:xfrm>
            <a:off x="14384041" y="3900289"/>
            <a:ext cx="3051026" cy="285750"/>
          </a:xfrm>
          <a:prstGeom prst="rect">
            <a:avLst/>
          </a:prstGeom>
          <a:noFill/>
          <a:ln/>
        </p:spPr>
        <p:txBody>
          <a:bodyPr wrap="square" lIns="25400" tIns="25400" rIns="25400" bIns="25400" rtlCol="0" anchor="t">
            <a:normAutofit/>
          </a:bodyPr>
          <a:lstStyle/>
          <a:p>
            <a:pPr marL="0" indent="0" algn="l">
              <a:lnSpc>
                <a:spcPct val="76471"/>
              </a:lnSpc>
              <a:buNone/>
            </a:pPr>
            <a:r>
              <a:rPr lang="en-US" sz="1950" kern="0" spc="195" dirty="0">
                <a:solidFill>
                  <a:srgbClr val="6F7D81"/>
                </a:solidFill>
                <a:latin typeface="Inter" panose="02000503000000020004" pitchFamily="2" charset="0"/>
                <a:ea typeface="Inter" panose="02000503000000020004" pitchFamily="2" charset="0"/>
                <a:cs typeface="IBM Plex Sans" pitchFamily="34" charset="-120"/>
              </a:rPr>
              <a:t>PHASE 5</a:t>
            </a:r>
            <a:endParaRPr lang="en-US" sz="1950" dirty="0"/>
          </a:p>
        </p:txBody>
      </p:sp>
      <p:sp>
        <p:nvSpPr>
          <p:cNvPr id="31" name="Text 28"/>
          <p:cNvSpPr/>
          <p:nvPr/>
        </p:nvSpPr>
        <p:spPr>
          <a:xfrm>
            <a:off x="14384041" y="4300339"/>
            <a:ext cx="2856870" cy="756245"/>
          </a:xfrm>
          <a:prstGeom prst="rect">
            <a:avLst/>
          </a:prstGeom>
          <a:noFill/>
          <a:ln/>
        </p:spPr>
        <p:txBody>
          <a:bodyPr wrap="square" lIns="25400" tIns="25400" rIns="25400" bIns="25400" rtlCol="0" anchor="t">
            <a:normAutofit fontScale="92500" lnSpcReduction="10000"/>
          </a:bodyPr>
          <a:lstStyle/>
          <a:p>
            <a:pPr marL="0" indent="0" algn="l">
              <a:lnSpc>
                <a:spcPct val="120319"/>
              </a:lnSpc>
              <a:buNone/>
            </a:pPr>
            <a:r>
              <a:rPr lang="en-US" sz="2175" b="1" dirty="0">
                <a:solidFill>
                  <a:srgbClr val="152428"/>
                </a:solidFill>
                <a:latin typeface="Inter" panose="02000503000000020004" pitchFamily="2" charset="0"/>
                <a:ea typeface="Inter" panose="02000503000000020004" pitchFamily="2" charset="0"/>
                <a:cs typeface="Archivo" pitchFamily="34" charset="-120"/>
              </a:rPr>
              <a:t>Testing and user evaluation</a:t>
            </a:r>
            <a:endParaRPr lang="en-US" sz="2175" dirty="0"/>
          </a:p>
        </p:txBody>
      </p:sp>
      <p:sp>
        <p:nvSpPr>
          <p:cNvPr id="32" name="Shape 29"/>
          <p:cNvSpPr/>
          <p:nvPr/>
        </p:nvSpPr>
        <p:spPr>
          <a:xfrm>
            <a:off x="857250" y="5634435"/>
            <a:ext cx="5372100" cy="2353866"/>
          </a:xfrm>
          <a:prstGeom prst="roundRect">
            <a:avLst>
              <a:gd name="adj" fmla="val 7284"/>
            </a:avLst>
          </a:prstGeom>
          <a:solidFill>
            <a:srgbClr val="FFFFFF"/>
          </a:solidFill>
          <a:ln/>
        </p:spPr>
      </p:sp>
      <p:sp>
        <p:nvSpPr>
          <p:cNvPr id="33" name="Shape 30"/>
          <p:cNvSpPr/>
          <p:nvPr/>
        </p:nvSpPr>
        <p:spPr>
          <a:xfrm>
            <a:off x="857250" y="7981950"/>
            <a:ext cx="5372100" cy="9525"/>
          </a:xfrm>
          <a:prstGeom prst="rect">
            <a:avLst/>
          </a:prstGeom>
          <a:solidFill>
            <a:srgbClr val="E1EEEC"/>
          </a:solidFill>
          <a:ln/>
        </p:spPr>
      </p:sp>
      <p:sp>
        <p:nvSpPr>
          <p:cNvPr id="34" name="Shape 31"/>
          <p:cNvSpPr/>
          <p:nvPr/>
        </p:nvSpPr>
        <p:spPr>
          <a:xfrm>
            <a:off x="857250" y="5634435"/>
            <a:ext cx="5372100" cy="44450"/>
          </a:xfrm>
          <a:prstGeom prst="rect">
            <a:avLst/>
          </a:prstGeom>
          <a:solidFill>
            <a:srgbClr val="016359"/>
          </a:solidFill>
          <a:ln/>
        </p:spPr>
      </p:sp>
      <p:sp>
        <p:nvSpPr>
          <p:cNvPr id="35" name="Shape 32"/>
          <p:cNvSpPr/>
          <p:nvPr/>
        </p:nvSpPr>
        <p:spPr>
          <a:xfrm>
            <a:off x="857250" y="5634435"/>
            <a:ext cx="9525" cy="2353866"/>
          </a:xfrm>
          <a:prstGeom prst="rect">
            <a:avLst/>
          </a:prstGeom>
          <a:solidFill>
            <a:srgbClr val="E1EEEC"/>
          </a:solidFill>
          <a:ln/>
        </p:spPr>
      </p:sp>
      <p:sp>
        <p:nvSpPr>
          <p:cNvPr id="36" name="Shape 33"/>
          <p:cNvSpPr/>
          <p:nvPr/>
        </p:nvSpPr>
        <p:spPr>
          <a:xfrm>
            <a:off x="6223000" y="5634435"/>
            <a:ext cx="9525" cy="2353866"/>
          </a:xfrm>
          <a:prstGeom prst="rect">
            <a:avLst/>
          </a:prstGeom>
          <a:solidFill>
            <a:srgbClr val="E1EEEC"/>
          </a:solidFill>
          <a:ln/>
        </p:spPr>
      </p:sp>
      <p:sp>
        <p:nvSpPr>
          <p:cNvPr id="37" name="Text 34"/>
          <p:cNvSpPr/>
          <p:nvPr/>
        </p:nvSpPr>
        <p:spPr>
          <a:xfrm>
            <a:off x="1187450" y="5983685"/>
            <a:ext cx="5182870"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Experimental</a:t>
            </a:r>
            <a:endParaRPr lang="en-US" sz="2325" dirty="0"/>
          </a:p>
        </p:txBody>
      </p:sp>
      <p:sp>
        <p:nvSpPr>
          <p:cNvPr id="38" name="Text 35"/>
          <p:cNvSpPr/>
          <p:nvPr/>
        </p:nvSpPr>
        <p:spPr>
          <a:xfrm>
            <a:off x="1187450" y="6519863"/>
            <a:ext cx="4853051" cy="1195388"/>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The classifier evaluated on a held-out test set and on a harder drug-disjoint split, against a majority-class baseline.</a:t>
            </a:r>
            <a:endParaRPr lang="en-US" sz="2025" dirty="0"/>
          </a:p>
        </p:txBody>
      </p:sp>
      <p:sp>
        <p:nvSpPr>
          <p:cNvPr id="39" name="Shape 36"/>
          <p:cNvSpPr/>
          <p:nvPr/>
        </p:nvSpPr>
        <p:spPr>
          <a:xfrm>
            <a:off x="6457950" y="5634435"/>
            <a:ext cx="5372100" cy="2353866"/>
          </a:xfrm>
          <a:prstGeom prst="roundRect">
            <a:avLst>
              <a:gd name="adj" fmla="val 7284"/>
            </a:avLst>
          </a:prstGeom>
          <a:solidFill>
            <a:srgbClr val="FFFFFF"/>
          </a:solidFill>
          <a:ln/>
        </p:spPr>
      </p:sp>
      <p:sp>
        <p:nvSpPr>
          <p:cNvPr id="40" name="Shape 37"/>
          <p:cNvSpPr/>
          <p:nvPr/>
        </p:nvSpPr>
        <p:spPr>
          <a:xfrm>
            <a:off x="6457950" y="7981950"/>
            <a:ext cx="5372100" cy="9525"/>
          </a:xfrm>
          <a:prstGeom prst="rect">
            <a:avLst/>
          </a:prstGeom>
          <a:solidFill>
            <a:srgbClr val="E1EEEC"/>
          </a:solidFill>
          <a:ln/>
        </p:spPr>
      </p:sp>
      <p:sp>
        <p:nvSpPr>
          <p:cNvPr id="41" name="Shape 38"/>
          <p:cNvSpPr/>
          <p:nvPr/>
        </p:nvSpPr>
        <p:spPr>
          <a:xfrm>
            <a:off x="6457950" y="5634435"/>
            <a:ext cx="5372100" cy="44450"/>
          </a:xfrm>
          <a:prstGeom prst="rect">
            <a:avLst/>
          </a:prstGeom>
          <a:solidFill>
            <a:srgbClr val="016359"/>
          </a:solidFill>
          <a:ln/>
        </p:spPr>
      </p:sp>
      <p:sp>
        <p:nvSpPr>
          <p:cNvPr id="42" name="Shape 39"/>
          <p:cNvSpPr/>
          <p:nvPr/>
        </p:nvSpPr>
        <p:spPr>
          <a:xfrm>
            <a:off x="6457950" y="5634435"/>
            <a:ext cx="9525" cy="2353866"/>
          </a:xfrm>
          <a:prstGeom prst="rect">
            <a:avLst/>
          </a:prstGeom>
          <a:solidFill>
            <a:srgbClr val="E1EEEC"/>
          </a:solidFill>
          <a:ln/>
        </p:spPr>
      </p:sp>
      <p:sp>
        <p:nvSpPr>
          <p:cNvPr id="43" name="Shape 40"/>
          <p:cNvSpPr/>
          <p:nvPr/>
        </p:nvSpPr>
        <p:spPr>
          <a:xfrm>
            <a:off x="11823700" y="5634435"/>
            <a:ext cx="9525" cy="2353866"/>
          </a:xfrm>
          <a:prstGeom prst="rect">
            <a:avLst/>
          </a:prstGeom>
          <a:solidFill>
            <a:srgbClr val="E1EEEC"/>
          </a:solidFill>
          <a:ln/>
        </p:spPr>
      </p:sp>
      <p:sp>
        <p:nvSpPr>
          <p:cNvPr id="44" name="Text 41"/>
          <p:cNvSpPr/>
          <p:nvPr/>
        </p:nvSpPr>
        <p:spPr>
          <a:xfrm>
            <a:off x="6788150" y="5983685"/>
            <a:ext cx="5182870"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Functional</a:t>
            </a:r>
            <a:endParaRPr lang="en-US" sz="2325" dirty="0"/>
          </a:p>
        </p:txBody>
      </p:sp>
      <p:sp>
        <p:nvSpPr>
          <p:cNvPr id="45" name="Text 42"/>
          <p:cNvSpPr/>
          <p:nvPr/>
        </p:nvSpPr>
        <p:spPr>
          <a:xfrm>
            <a:off x="6788150" y="6519863"/>
            <a:ext cx="4853051" cy="1195388"/>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Automated tests over every safety check, including a group that runs with the network disabled.</a:t>
            </a:r>
            <a:endParaRPr lang="en-US" sz="2025" dirty="0"/>
          </a:p>
        </p:txBody>
      </p:sp>
      <p:sp>
        <p:nvSpPr>
          <p:cNvPr id="46" name="Shape 43"/>
          <p:cNvSpPr/>
          <p:nvPr/>
        </p:nvSpPr>
        <p:spPr>
          <a:xfrm>
            <a:off x="12058650" y="5634435"/>
            <a:ext cx="5372100" cy="2353866"/>
          </a:xfrm>
          <a:prstGeom prst="roundRect">
            <a:avLst>
              <a:gd name="adj" fmla="val 7284"/>
            </a:avLst>
          </a:prstGeom>
          <a:solidFill>
            <a:srgbClr val="FFFFFF"/>
          </a:solidFill>
          <a:ln/>
        </p:spPr>
      </p:sp>
      <p:sp>
        <p:nvSpPr>
          <p:cNvPr id="47" name="Shape 44"/>
          <p:cNvSpPr/>
          <p:nvPr/>
        </p:nvSpPr>
        <p:spPr>
          <a:xfrm>
            <a:off x="12058650" y="7981950"/>
            <a:ext cx="5372100" cy="9525"/>
          </a:xfrm>
          <a:prstGeom prst="rect">
            <a:avLst/>
          </a:prstGeom>
          <a:solidFill>
            <a:srgbClr val="E1EEEC"/>
          </a:solidFill>
          <a:ln/>
        </p:spPr>
      </p:sp>
      <p:sp>
        <p:nvSpPr>
          <p:cNvPr id="48" name="Shape 45"/>
          <p:cNvSpPr/>
          <p:nvPr/>
        </p:nvSpPr>
        <p:spPr>
          <a:xfrm>
            <a:off x="12058650" y="5634435"/>
            <a:ext cx="5372100" cy="44450"/>
          </a:xfrm>
          <a:prstGeom prst="rect">
            <a:avLst/>
          </a:prstGeom>
          <a:solidFill>
            <a:srgbClr val="016359"/>
          </a:solidFill>
          <a:ln/>
        </p:spPr>
      </p:sp>
      <p:sp>
        <p:nvSpPr>
          <p:cNvPr id="49" name="Shape 46"/>
          <p:cNvSpPr/>
          <p:nvPr/>
        </p:nvSpPr>
        <p:spPr>
          <a:xfrm>
            <a:off x="12058650" y="5634435"/>
            <a:ext cx="9525" cy="2353866"/>
          </a:xfrm>
          <a:prstGeom prst="rect">
            <a:avLst/>
          </a:prstGeom>
          <a:solidFill>
            <a:srgbClr val="E1EEEC"/>
          </a:solidFill>
          <a:ln/>
        </p:spPr>
      </p:sp>
      <p:sp>
        <p:nvSpPr>
          <p:cNvPr id="50" name="Shape 47"/>
          <p:cNvSpPr/>
          <p:nvPr/>
        </p:nvSpPr>
        <p:spPr>
          <a:xfrm>
            <a:off x="17424400" y="5634435"/>
            <a:ext cx="9525" cy="2353866"/>
          </a:xfrm>
          <a:prstGeom prst="rect">
            <a:avLst/>
          </a:prstGeom>
          <a:solidFill>
            <a:srgbClr val="E1EEEC"/>
          </a:solidFill>
          <a:ln/>
        </p:spPr>
      </p:sp>
      <p:sp>
        <p:nvSpPr>
          <p:cNvPr id="51" name="Text 48"/>
          <p:cNvSpPr/>
          <p:nvPr/>
        </p:nvSpPr>
        <p:spPr>
          <a:xfrm>
            <a:off x="12388851" y="5983685"/>
            <a:ext cx="5182870"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Usability</a:t>
            </a:r>
            <a:endParaRPr lang="en-US" sz="2325" dirty="0"/>
          </a:p>
        </p:txBody>
      </p:sp>
      <p:sp>
        <p:nvSpPr>
          <p:cNvPr id="52" name="Text 49"/>
          <p:cNvSpPr/>
          <p:nvPr/>
        </p:nvSpPr>
        <p:spPr>
          <a:xfrm>
            <a:off x="12388851" y="6519863"/>
            <a:ext cx="4853051" cy="1195388"/>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Fifteen participants, five task scenarios each, and the ten-item System Usability Scale.</a:t>
            </a:r>
            <a:endParaRPr lang="en-US" sz="2025" dirty="0"/>
          </a:p>
        </p:txBody>
      </p:sp>
      <p:sp>
        <p:nvSpPr>
          <p:cNvPr id="53" name="Shape 9">
            <a:extLst>
              <a:ext uri="{FF2B5EF4-FFF2-40B4-BE49-F238E27FC236}">
                <a16:creationId xmlns:a16="http://schemas.microsoft.com/office/drawing/2014/main" id="{082A9D4F-4574-ECF3-8212-E3B008BFED8E}"/>
              </a:ext>
            </a:extLst>
          </p:cNvPr>
          <p:cNvSpPr/>
          <p:nvPr/>
        </p:nvSpPr>
        <p:spPr>
          <a:xfrm>
            <a:off x="7482920" y="5304234"/>
            <a:ext cx="3313509" cy="9525"/>
          </a:xfrm>
          <a:prstGeom prst="rect">
            <a:avLst/>
          </a:prstGeom>
          <a:solidFill>
            <a:srgbClr val="E1EEEC"/>
          </a:solidFill>
          <a:ln/>
        </p:spPr>
      </p:sp>
      <p:sp>
        <p:nvSpPr>
          <p:cNvPr id="54" name="Shape 23">
            <a:extLst>
              <a:ext uri="{FF2B5EF4-FFF2-40B4-BE49-F238E27FC236}">
                <a16:creationId xmlns:a16="http://schemas.microsoft.com/office/drawing/2014/main" id="{3BF2647E-B32C-3642-542B-831DEF576E2A}"/>
              </a:ext>
            </a:extLst>
          </p:cNvPr>
          <p:cNvSpPr/>
          <p:nvPr/>
        </p:nvSpPr>
        <p:spPr>
          <a:xfrm>
            <a:off x="7480216" y="3611364"/>
            <a:ext cx="9525" cy="1702395"/>
          </a:xfrm>
          <a:prstGeom prst="rect">
            <a:avLst/>
          </a:prstGeom>
          <a:solidFill>
            <a:srgbClr val="E1EEEC"/>
          </a:solidFill>
          <a:ln/>
        </p:spPr>
      </p:sp>
      <p:sp>
        <p:nvSpPr>
          <p:cNvPr id="55" name="Shape 9">
            <a:extLst>
              <a:ext uri="{FF2B5EF4-FFF2-40B4-BE49-F238E27FC236}">
                <a16:creationId xmlns:a16="http://schemas.microsoft.com/office/drawing/2014/main" id="{48BA3CCD-7D94-8BBB-1071-F7E49DB01A67}"/>
              </a:ext>
            </a:extLst>
          </p:cNvPr>
          <p:cNvSpPr/>
          <p:nvPr/>
        </p:nvSpPr>
        <p:spPr>
          <a:xfrm>
            <a:off x="7484508" y="3609379"/>
            <a:ext cx="3313509" cy="9525"/>
          </a:xfrm>
          <a:prstGeom prst="rect">
            <a:avLst/>
          </a:prstGeom>
          <a:solidFill>
            <a:srgbClr val="E1EEEC"/>
          </a:solidFill>
          <a:ln/>
        </p:spPr>
      </p:sp>
      <p:sp>
        <p:nvSpPr>
          <p:cNvPr id="57" name="Shape 0">
            <a:extLst>
              <a:ext uri="{FF2B5EF4-FFF2-40B4-BE49-F238E27FC236}">
                <a16:creationId xmlns:a16="http://schemas.microsoft.com/office/drawing/2014/main" id="{48AFDFBF-C061-B6E8-58A7-54394A180798}"/>
              </a:ext>
            </a:extLst>
          </p:cNvPr>
          <p:cNvSpPr/>
          <p:nvPr/>
        </p:nvSpPr>
        <p:spPr>
          <a:xfrm>
            <a:off x="914400" y="710826"/>
            <a:ext cx="133350" cy="133350"/>
          </a:xfrm>
          <a:prstGeom prst="rect">
            <a:avLst/>
          </a:prstGeom>
          <a:solidFill>
            <a:srgbClr val="0B5C4A"/>
          </a:solidFill>
          <a:ln/>
        </p:spPr>
      </p:sp>
      <p:sp>
        <p:nvSpPr>
          <p:cNvPr id="58" name="Text 1">
            <a:extLst>
              <a:ext uri="{FF2B5EF4-FFF2-40B4-BE49-F238E27FC236}">
                <a16:creationId xmlns:a16="http://schemas.microsoft.com/office/drawing/2014/main" id="{774AA7B9-3946-90DA-FEAB-3A82355D2E07}"/>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RESEARCH METHODOLOGY</a:t>
            </a:r>
            <a:endParaRPr lang="en-US" sz="2400" dirty="0"/>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571500"/>
            <a:ext cx="814388" cy="247650"/>
          </a:xfrm>
          <a:prstGeom prst="rect">
            <a:avLst/>
          </a:prstGeom>
        </p:spPr>
      </p:pic>
      <p:sp>
        <p:nvSpPr>
          <p:cNvPr id="4" name="Text 1"/>
          <p:cNvSpPr/>
          <p:nvPr/>
        </p:nvSpPr>
        <p:spPr>
          <a:xfrm>
            <a:off x="857250" y="990600"/>
            <a:ext cx="1634490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Four layers, one pipeline from open data to a single alert</a:t>
            </a:r>
            <a:endParaRPr lang="en-US" sz="3975" dirty="0"/>
          </a:p>
        </p:txBody>
      </p:sp>
      <p:sp>
        <p:nvSpPr>
          <p:cNvPr id="5" name="Shape 2"/>
          <p:cNvSpPr/>
          <p:nvPr/>
        </p:nvSpPr>
        <p:spPr>
          <a:xfrm>
            <a:off x="857250" y="1823839"/>
            <a:ext cx="11706325" cy="7891661"/>
          </a:xfrm>
          <a:prstGeom prst="roundRect">
            <a:avLst>
              <a:gd name="adj" fmla="val 2414"/>
            </a:avLst>
          </a:prstGeom>
          <a:solidFill>
            <a:srgbClr val="FFFFFF"/>
          </a:solidFill>
          <a:ln w="6350">
            <a:solidFill>
              <a:srgbClr val="E1EEEC"/>
            </a:solidFill>
            <a:prstDash val="solid"/>
          </a:ln>
        </p:spPr>
      </p:sp>
      <p:pic>
        <p:nvPicPr>
          <p:cNvPr id="6" name="Image 1" descr="preencoded.png"/>
          <p:cNvPicPr>
            <a:picLocks noChangeAspect="1"/>
          </p:cNvPicPr>
          <p:nvPr/>
        </p:nvPicPr>
        <p:blipFill>
          <a:blip r:embed="rId4"/>
          <a:srcRect l="-1" r="-1"/>
          <a:stretch/>
        </p:blipFill>
        <p:spPr>
          <a:xfrm>
            <a:off x="1286570" y="2077839"/>
            <a:ext cx="10847686" cy="7383562"/>
          </a:xfrm>
          <a:prstGeom prst="rect">
            <a:avLst/>
          </a:prstGeom>
        </p:spPr>
      </p:pic>
      <p:sp>
        <p:nvSpPr>
          <p:cNvPr id="7" name="Shape 3"/>
          <p:cNvSpPr/>
          <p:nvPr/>
        </p:nvSpPr>
        <p:spPr>
          <a:xfrm>
            <a:off x="12849325" y="2943920"/>
            <a:ext cx="4581426" cy="3670300"/>
          </a:xfrm>
          <a:prstGeom prst="roundRect">
            <a:avLst>
              <a:gd name="adj" fmla="val 4671"/>
            </a:avLst>
          </a:prstGeom>
          <a:solidFill>
            <a:srgbClr val="FFFFFF"/>
          </a:solidFill>
          <a:ln w="6350">
            <a:solidFill>
              <a:srgbClr val="E1EEEC"/>
            </a:solidFill>
            <a:prstDash val="solid"/>
          </a:ln>
        </p:spPr>
      </p:sp>
      <p:sp>
        <p:nvSpPr>
          <p:cNvPr id="8" name="Text 4"/>
          <p:cNvSpPr/>
          <p:nvPr/>
        </p:nvSpPr>
        <p:spPr>
          <a:xfrm>
            <a:off x="13160475" y="3236020"/>
            <a:ext cx="4077900" cy="3124200"/>
          </a:xfrm>
          <a:prstGeom prst="rect">
            <a:avLst/>
          </a:prstGeom>
          <a:noFill/>
          <a:ln/>
        </p:spPr>
        <p:txBody>
          <a:bodyPr wrap="square" lIns="25400" tIns="25400" rIns="25400" bIns="25400" rtlCol="0" anchor="t">
            <a:normAutofit lnSpcReduction="10000"/>
          </a:bodyPr>
          <a:lstStyle/>
          <a:p>
            <a:pPr marL="0" indent="0" algn="l">
              <a:lnSpc>
                <a:spcPct val="114623"/>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DrugBank, RxNorm, OpenFDA and DDInter are parsed into one SQLite database. That database feeds two consumers: the model, which learns severity from pharmacological features, and the application, which bundles the same file for offline checking.</a:t>
            </a:r>
            <a:endParaRPr lang="en-US" sz="2025" dirty="0"/>
          </a:p>
        </p:txBody>
      </p:sp>
      <p:sp>
        <p:nvSpPr>
          <p:cNvPr id="9" name="Shape 5"/>
          <p:cNvSpPr/>
          <p:nvPr/>
        </p:nvSpPr>
        <p:spPr>
          <a:xfrm>
            <a:off x="12849325" y="6804720"/>
            <a:ext cx="4581426" cy="1790700"/>
          </a:xfrm>
          <a:prstGeom prst="roundRect">
            <a:avLst>
              <a:gd name="adj" fmla="val 9574"/>
            </a:avLst>
          </a:prstGeom>
          <a:solidFill>
            <a:srgbClr val="003F39"/>
          </a:solidFill>
          <a:ln/>
        </p:spPr>
      </p:sp>
      <p:sp>
        <p:nvSpPr>
          <p:cNvPr id="10" name="Text 6"/>
          <p:cNvSpPr/>
          <p:nvPr/>
        </p:nvSpPr>
        <p:spPr>
          <a:xfrm>
            <a:off x="13154125" y="7090470"/>
            <a:ext cx="3933725" cy="533400"/>
          </a:xfrm>
          <a:prstGeom prst="rect">
            <a:avLst/>
          </a:prstGeom>
          <a:noFill/>
          <a:ln/>
        </p:spPr>
        <p:txBody>
          <a:bodyPr wrap="square" lIns="25400" tIns="25400" rIns="25400" bIns="25400" rtlCol="0" anchor="t">
            <a:normAutofit fontScale="92500" lnSpcReduction="10000"/>
          </a:bodyPr>
          <a:lstStyle/>
          <a:p>
            <a:pPr marL="0" indent="0" algn="l">
              <a:buNone/>
            </a:pPr>
            <a:r>
              <a:rPr lang="en-US" kern="0" spc="234" dirty="0">
                <a:solidFill>
                  <a:srgbClr val="9FDCD4"/>
                </a:solidFill>
                <a:latin typeface="Inter" panose="02000503000000020004" pitchFamily="2" charset="0"/>
                <a:ea typeface="Inter" panose="02000503000000020004" pitchFamily="2" charset="0"/>
                <a:cs typeface="IBM Plex Sans" pitchFamily="34" charset="-120"/>
              </a:rPr>
              <a:t>EVERYTHING ENDS IN ONE OF THREE TIERS</a:t>
            </a:r>
            <a:endParaRPr lang="en-US" dirty="0"/>
          </a:p>
        </p:txBody>
      </p:sp>
      <p:sp>
        <p:nvSpPr>
          <p:cNvPr id="11" name="Shape 7"/>
          <p:cNvSpPr/>
          <p:nvPr/>
        </p:nvSpPr>
        <p:spPr>
          <a:xfrm>
            <a:off x="13154125" y="7757220"/>
            <a:ext cx="1247676" cy="552450"/>
          </a:xfrm>
          <a:prstGeom prst="roundRect">
            <a:avLst>
              <a:gd name="adj" fmla="val 17241"/>
            </a:avLst>
          </a:prstGeom>
          <a:solidFill>
            <a:srgbClr val="FFFFFF">
              <a:alpha val="12000"/>
            </a:srgbClr>
          </a:solidFill>
          <a:ln/>
        </p:spPr>
      </p:sp>
      <p:sp>
        <p:nvSpPr>
          <p:cNvPr id="12" name="Text 8"/>
          <p:cNvSpPr/>
          <p:nvPr/>
        </p:nvSpPr>
        <p:spPr>
          <a:xfrm>
            <a:off x="13192225" y="7909620"/>
            <a:ext cx="1171476" cy="285750"/>
          </a:xfrm>
          <a:prstGeom prst="rect">
            <a:avLst/>
          </a:prstGeom>
          <a:noFill/>
          <a:ln/>
        </p:spPr>
        <p:txBody>
          <a:bodyPr wrap="square" lIns="25400" tIns="25400" rIns="25400" bIns="25400" rtlCol="0" anchor="t">
            <a:normAutofit fontScale="92500" lnSpcReduction="10000"/>
          </a:bodyPr>
          <a:lstStyle/>
          <a:p>
            <a:pPr marL="0" indent="0" algn="ctr">
              <a:lnSpc>
                <a:spcPct val="92857"/>
              </a:lnSpc>
              <a:buNone/>
            </a:pPr>
            <a:r>
              <a:rPr lang="en-US" sz="1950" b="1" dirty="0">
                <a:solidFill>
                  <a:srgbClr val="FFFFFF"/>
                </a:solidFill>
                <a:latin typeface="Inter" panose="02000503000000020004" pitchFamily="2" charset="0"/>
                <a:ea typeface="Inter" panose="02000503000000020004" pitchFamily="2" charset="0"/>
                <a:cs typeface="Archivo" pitchFamily="34" charset="-120"/>
              </a:rPr>
              <a:t>Low</a:t>
            </a:r>
            <a:endParaRPr lang="en-US" sz="1950" dirty="0"/>
          </a:p>
        </p:txBody>
      </p:sp>
      <p:sp>
        <p:nvSpPr>
          <p:cNvPr id="13" name="Shape 9"/>
          <p:cNvSpPr/>
          <p:nvPr/>
        </p:nvSpPr>
        <p:spPr>
          <a:xfrm>
            <a:off x="14516100" y="7757220"/>
            <a:ext cx="1247775" cy="552450"/>
          </a:xfrm>
          <a:prstGeom prst="roundRect">
            <a:avLst>
              <a:gd name="adj" fmla="val 17241"/>
            </a:avLst>
          </a:prstGeom>
          <a:solidFill>
            <a:srgbClr val="B45309"/>
          </a:solidFill>
          <a:ln/>
        </p:spPr>
      </p:sp>
      <p:sp>
        <p:nvSpPr>
          <p:cNvPr id="14" name="Text 10"/>
          <p:cNvSpPr/>
          <p:nvPr/>
        </p:nvSpPr>
        <p:spPr>
          <a:xfrm>
            <a:off x="14554200" y="7909620"/>
            <a:ext cx="1171575" cy="285750"/>
          </a:xfrm>
          <a:prstGeom prst="rect">
            <a:avLst/>
          </a:prstGeom>
          <a:noFill/>
          <a:ln/>
        </p:spPr>
        <p:txBody>
          <a:bodyPr wrap="square" lIns="25400" tIns="25400" rIns="25400" bIns="25400" rtlCol="0" anchor="t">
            <a:normAutofit fontScale="92500" lnSpcReduction="10000"/>
          </a:bodyPr>
          <a:lstStyle/>
          <a:p>
            <a:pPr marL="0" indent="0" algn="ctr">
              <a:lnSpc>
                <a:spcPct val="92857"/>
              </a:lnSpc>
              <a:buNone/>
            </a:pPr>
            <a:r>
              <a:rPr lang="en-US" sz="1950" b="1" dirty="0">
                <a:solidFill>
                  <a:srgbClr val="FFFFFF"/>
                </a:solidFill>
                <a:latin typeface="Inter" panose="02000503000000020004" pitchFamily="2" charset="0"/>
                <a:ea typeface="Inter" panose="02000503000000020004" pitchFamily="2" charset="0"/>
                <a:cs typeface="Archivo" pitchFamily="34" charset="-120"/>
              </a:rPr>
              <a:t>Moderate</a:t>
            </a:r>
            <a:endParaRPr lang="en-US" sz="1950" dirty="0"/>
          </a:p>
        </p:txBody>
      </p:sp>
      <p:sp>
        <p:nvSpPr>
          <p:cNvPr id="15" name="Shape 11"/>
          <p:cNvSpPr/>
          <p:nvPr/>
        </p:nvSpPr>
        <p:spPr>
          <a:xfrm>
            <a:off x="15878175" y="7757220"/>
            <a:ext cx="1247775" cy="552450"/>
          </a:xfrm>
          <a:prstGeom prst="roundRect">
            <a:avLst>
              <a:gd name="adj" fmla="val 17241"/>
            </a:avLst>
          </a:prstGeom>
          <a:solidFill>
            <a:srgbClr val="D93639"/>
          </a:solidFill>
          <a:ln/>
        </p:spPr>
      </p:sp>
      <p:sp>
        <p:nvSpPr>
          <p:cNvPr id="16" name="Text 12"/>
          <p:cNvSpPr/>
          <p:nvPr/>
        </p:nvSpPr>
        <p:spPr>
          <a:xfrm>
            <a:off x="15916275" y="7909620"/>
            <a:ext cx="1171575" cy="285750"/>
          </a:xfrm>
          <a:prstGeom prst="rect">
            <a:avLst/>
          </a:prstGeom>
          <a:noFill/>
          <a:ln/>
        </p:spPr>
        <p:txBody>
          <a:bodyPr wrap="square" lIns="25400" tIns="25400" rIns="25400" bIns="25400" rtlCol="0" anchor="t">
            <a:normAutofit fontScale="92500" lnSpcReduction="10000"/>
          </a:bodyPr>
          <a:lstStyle/>
          <a:p>
            <a:pPr marL="0" indent="0" algn="ctr">
              <a:lnSpc>
                <a:spcPct val="92857"/>
              </a:lnSpc>
              <a:buNone/>
            </a:pPr>
            <a:r>
              <a:rPr lang="en-US" sz="1950" b="1" dirty="0">
                <a:solidFill>
                  <a:srgbClr val="FFFFFF"/>
                </a:solidFill>
                <a:latin typeface="Inter" panose="02000503000000020004" pitchFamily="2" charset="0"/>
                <a:ea typeface="Inter" panose="02000503000000020004" pitchFamily="2" charset="0"/>
                <a:cs typeface="Archivo" pitchFamily="34" charset="-120"/>
              </a:rPr>
              <a:t>High</a:t>
            </a:r>
            <a:endParaRPr lang="en-US" sz="1950" dirty="0"/>
          </a:p>
        </p:txBody>
      </p:sp>
      <p:sp>
        <p:nvSpPr>
          <p:cNvPr id="20" name="Shape 0">
            <a:extLst>
              <a:ext uri="{FF2B5EF4-FFF2-40B4-BE49-F238E27FC236}">
                <a16:creationId xmlns:a16="http://schemas.microsoft.com/office/drawing/2014/main" id="{1B8A2EA6-3ABE-48A5-B5BD-BF6B31168CD0}"/>
              </a:ext>
            </a:extLst>
          </p:cNvPr>
          <p:cNvSpPr/>
          <p:nvPr/>
        </p:nvSpPr>
        <p:spPr>
          <a:xfrm>
            <a:off x="914400" y="710826"/>
            <a:ext cx="133350" cy="133350"/>
          </a:xfrm>
          <a:prstGeom prst="rect">
            <a:avLst/>
          </a:prstGeom>
          <a:solidFill>
            <a:srgbClr val="0B5C4A"/>
          </a:solidFill>
          <a:ln/>
        </p:spPr>
      </p:sp>
      <p:sp>
        <p:nvSpPr>
          <p:cNvPr id="21" name="Text 1">
            <a:extLst>
              <a:ext uri="{FF2B5EF4-FFF2-40B4-BE49-F238E27FC236}">
                <a16:creationId xmlns:a16="http://schemas.microsoft.com/office/drawing/2014/main" id="{13FE5D20-A2B5-EAD0-822F-B9340DC0BF99}"/>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CONCEPTUAL FRAMEWORK</a:t>
            </a:r>
            <a:endParaRPr lang="en-US" sz="2400" dirty="0"/>
          </a:p>
        </p:txBody>
      </p:sp>
      <p:sp>
        <p:nvSpPr>
          <p:cNvPr id="22" name="Text 4">
            <a:extLst>
              <a:ext uri="{FF2B5EF4-FFF2-40B4-BE49-F238E27FC236}">
                <a16:creationId xmlns:a16="http://schemas.microsoft.com/office/drawing/2014/main" id="{AB1C4D71-E60E-72F2-30DB-6799C8E9C996}"/>
              </a:ext>
            </a:extLst>
          </p:cNvPr>
          <p:cNvSpPr/>
          <p:nvPr/>
        </p:nvSpPr>
        <p:spPr>
          <a:xfrm>
            <a:off x="2381352" y="9255686"/>
            <a:ext cx="8658119" cy="419100"/>
          </a:xfrm>
          <a:prstGeom prst="rect">
            <a:avLst/>
          </a:prstGeom>
          <a:noFill/>
          <a:ln/>
        </p:spPr>
        <p:txBody>
          <a:bodyPr wrap="square" lIns="25400" tIns="25400" rIns="25400" bIns="25400" rtlCol="0" anchor="t">
            <a:normAutofit/>
          </a:bodyPr>
          <a:lstStyle/>
          <a:p>
            <a:pPr marL="0" indent="0" algn="ctr">
              <a:lnSpc>
                <a:spcPct val="114623"/>
              </a:lnSpc>
              <a:buNone/>
            </a:pPr>
            <a:r>
              <a:rPr lang="en-GB" dirty="0">
                <a:solidFill>
                  <a:srgbClr val="33464B"/>
                </a:solidFill>
                <a:latin typeface="Inter" panose="02000503000000020004" pitchFamily="2" charset="0"/>
                <a:ea typeface="Inter" panose="02000503000000020004" pitchFamily="2" charset="0"/>
                <a:cs typeface="IBM Plex Sans" pitchFamily="34" charset="-120"/>
              </a:rPr>
              <a:t>Figure 2. Conceptual framework of the </a:t>
            </a:r>
            <a:r>
              <a:rPr lang="en-GB" dirty="0" err="1">
                <a:solidFill>
                  <a:srgbClr val="33464B"/>
                </a:solidFill>
                <a:latin typeface="Inter" panose="02000503000000020004" pitchFamily="2" charset="0"/>
                <a:ea typeface="Inter" panose="02000503000000020004" pitchFamily="2" charset="0"/>
                <a:cs typeface="IBM Plex Sans" pitchFamily="34" charset="-120"/>
              </a:rPr>
              <a:t>MedGuard</a:t>
            </a:r>
            <a:r>
              <a:rPr lang="en-GB" dirty="0">
                <a:solidFill>
                  <a:srgbClr val="33464B"/>
                </a:solidFill>
                <a:latin typeface="Inter" panose="02000503000000020004" pitchFamily="2" charset="0"/>
                <a:ea typeface="Inter" panose="02000503000000020004" pitchFamily="2" charset="0"/>
                <a:cs typeface="IBM Plex Sans" pitchFamily="34" charset="-120"/>
              </a:rPr>
              <a:t> system.</a:t>
            </a:r>
            <a:endParaRPr lang="en-US" dirty="0"/>
          </a:p>
        </p:txBody>
      </p:sp>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571500"/>
            <a:ext cx="814388" cy="247650"/>
          </a:xfrm>
          <a:prstGeom prst="rect">
            <a:avLst/>
          </a:prstGeom>
        </p:spPr>
      </p:pic>
      <p:sp>
        <p:nvSpPr>
          <p:cNvPr id="4" name="Text 1"/>
          <p:cNvSpPr/>
          <p:nvPr/>
        </p:nvSpPr>
        <p:spPr>
          <a:xfrm>
            <a:off x="857250" y="990600"/>
            <a:ext cx="1634490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The phone holds everything it needs. The cloud is optional.</a:t>
            </a:r>
            <a:endParaRPr lang="en-US" sz="3975" dirty="0"/>
          </a:p>
        </p:txBody>
      </p:sp>
      <p:sp>
        <p:nvSpPr>
          <p:cNvPr id="5" name="Shape 2"/>
          <p:cNvSpPr/>
          <p:nvPr/>
        </p:nvSpPr>
        <p:spPr>
          <a:xfrm>
            <a:off x="857250" y="1823839"/>
            <a:ext cx="11706325" cy="7891661"/>
          </a:xfrm>
          <a:prstGeom prst="roundRect">
            <a:avLst>
              <a:gd name="adj" fmla="val 2414"/>
            </a:avLst>
          </a:prstGeom>
          <a:solidFill>
            <a:srgbClr val="FFFFFF"/>
          </a:solidFill>
          <a:ln w="6350">
            <a:solidFill>
              <a:srgbClr val="E1EEEC"/>
            </a:solidFill>
            <a:prstDash val="solid"/>
          </a:ln>
        </p:spPr>
      </p:sp>
      <p:pic>
        <p:nvPicPr>
          <p:cNvPr id="6" name="Image 1" descr="preencoded.png"/>
          <p:cNvPicPr>
            <a:picLocks noChangeAspect="1"/>
          </p:cNvPicPr>
          <p:nvPr/>
        </p:nvPicPr>
        <p:blipFill>
          <a:blip r:embed="rId4"/>
          <a:srcRect/>
          <a:stretch/>
        </p:blipFill>
        <p:spPr>
          <a:xfrm>
            <a:off x="1168400" y="2886174"/>
            <a:ext cx="11084025" cy="5766892"/>
          </a:xfrm>
          <a:prstGeom prst="rect">
            <a:avLst/>
          </a:prstGeom>
        </p:spPr>
      </p:pic>
      <p:sp>
        <p:nvSpPr>
          <p:cNvPr id="7" name="Shape 3"/>
          <p:cNvSpPr/>
          <p:nvPr/>
        </p:nvSpPr>
        <p:spPr>
          <a:xfrm>
            <a:off x="12849325" y="3160613"/>
            <a:ext cx="4581426" cy="2898775"/>
          </a:xfrm>
          <a:prstGeom prst="roundRect">
            <a:avLst>
              <a:gd name="adj" fmla="val 5915"/>
            </a:avLst>
          </a:prstGeom>
          <a:solidFill>
            <a:srgbClr val="FFFFFF"/>
          </a:solidFill>
          <a:ln w="6350">
            <a:solidFill>
              <a:srgbClr val="E1EEEC"/>
            </a:solidFill>
            <a:prstDash val="solid"/>
          </a:ln>
        </p:spPr>
      </p:sp>
      <p:sp>
        <p:nvSpPr>
          <p:cNvPr id="8" name="Text 4"/>
          <p:cNvSpPr/>
          <p:nvPr/>
        </p:nvSpPr>
        <p:spPr>
          <a:xfrm>
            <a:off x="13160475" y="3452713"/>
            <a:ext cx="4077900" cy="2352675"/>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Presentation, checking logic, the 79 MB reference database and an 8 KB model all sit on the device. Only an uncatalogued pair reaches the network, and only as two drug identifiers.</a:t>
            </a:r>
            <a:endParaRPr lang="en-US" sz="2025" dirty="0"/>
          </a:p>
        </p:txBody>
      </p:sp>
      <p:sp>
        <p:nvSpPr>
          <p:cNvPr id="9" name="Shape 5"/>
          <p:cNvSpPr/>
          <p:nvPr/>
        </p:nvSpPr>
        <p:spPr>
          <a:xfrm>
            <a:off x="12849325" y="6249888"/>
            <a:ext cx="4581426" cy="2128838"/>
          </a:xfrm>
          <a:prstGeom prst="roundRect">
            <a:avLst>
              <a:gd name="adj" fmla="val 8054"/>
            </a:avLst>
          </a:prstGeom>
          <a:solidFill>
            <a:srgbClr val="003F39"/>
          </a:solidFill>
          <a:ln/>
        </p:spPr>
      </p:sp>
      <p:sp>
        <p:nvSpPr>
          <p:cNvPr id="10" name="Text 6"/>
          <p:cNvSpPr/>
          <p:nvPr/>
        </p:nvSpPr>
        <p:spPr>
          <a:xfrm>
            <a:off x="13154125" y="6535638"/>
            <a:ext cx="4369008" cy="285750"/>
          </a:xfrm>
          <a:prstGeom prst="rect">
            <a:avLst/>
          </a:prstGeom>
          <a:noFill/>
          <a:ln/>
        </p:spPr>
        <p:txBody>
          <a:bodyPr wrap="square" lIns="25400" tIns="25400" rIns="25400" bIns="25400" rtlCol="0" anchor="t">
            <a:normAutofit/>
          </a:bodyPr>
          <a:lstStyle/>
          <a:p>
            <a:pPr marL="0" indent="0" algn="l">
              <a:lnSpc>
                <a:spcPct val="76471"/>
              </a:lnSpc>
              <a:buNone/>
            </a:pPr>
            <a:r>
              <a:rPr lang="en-US" sz="1700" kern="0" spc="234" dirty="0">
                <a:solidFill>
                  <a:srgbClr val="7FC7BE"/>
                </a:solidFill>
                <a:latin typeface="Inter" panose="02000503000000020004" pitchFamily="2" charset="0"/>
                <a:ea typeface="Inter" panose="02000503000000020004" pitchFamily="2" charset="0"/>
                <a:cs typeface="IBM Plex Sans" pitchFamily="34" charset="-120"/>
              </a:rPr>
              <a:t>FALLBACK ORDER</a:t>
            </a:r>
            <a:endParaRPr lang="en-US" sz="1700" dirty="0"/>
          </a:p>
        </p:txBody>
      </p:sp>
      <p:sp>
        <p:nvSpPr>
          <p:cNvPr id="11" name="Text 7"/>
          <p:cNvSpPr/>
          <p:nvPr/>
        </p:nvSpPr>
        <p:spPr>
          <a:xfrm>
            <a:off x="13154125" y="6935688"/>
            <a:ext cx="4090981" cy="1195388"/>
          </a:xfrm>
          <a:prstGeom prst="rect">
            <a:avLst/>
          </a:prstGeom>
          <a:noFill/>
          <a:ln/>
        </p:spPr>
        <p:txBody>
          <a:bodyPr wrap="square" lIns="25400" tIns="25400" rIns="25400" bIns="25400" rtlCol="0" anchor="t">
            <a:normAutofit/>
          </a:bodyPr>
          <a:lstStyle/>
          <a:p>
            <a:pPr marL="0" indent="0" algn="l">
              <a:lnSpc>
                <a:spcPct val="114623"/>
              </a:lnSpc>
              <a:buNone/>
            </a:pPr>
            <a:r>
              <a:rPr lang="en-US" dirty="0">
                <a:solidFill>
                  <a:schemeClr val="bg1"/>
                </a:solidFill>
                <a:latin typeface="Inter" panose="02000503000000020004" pitchFamily="2" charset="0"/>
                <a:ea typeface="Inter" panose="02000503000000020004" pitchFamily="2" charset="0"/>
                <a:cs typeface="IBM Plex Sans" pitchFamily="34" charset="-120"/>
              </a:rPr>
              <a:t>Local database → cloud model → on-device model. The feature degrades; it never fails.</a:t>
            </a:r>
            <a:endParaRPr lang="en-US" dirty="0">
              <a:solidFill>
                <a:schemeClr val="bg1"/>
              </a:solidFill>
            </a:endParaRPr>
          </a:p>
        </p:txBody>
      </p:sp>
      <p:sp>
        <p:nvSpPr>
          <p:cNvPr id="14" name="Text 4">
            <a:extLst>
              <a:ext uri="{FF2B5EF4-FFF2-40B4-BE49-F238E27FC236}">
                <a16:creationId xmlns:a16="http://schemas.microsoft.com/office/drawing/2014/main" id="{B9FDDAC7-EE1D-B200-A522-B07BC7F65E37}"/>
              </a:ext>
            </a:extLst>
          </p:cNvPr>
          <p:cNvSpPr/>
          <p:nvPr/>
        </p:nvSpPr>
        <p:spPr>
          <a:xfrm>
            <a:off x="2381352" y="8653066"/>
            <a:ext cx="8658119" cy="419100"/>
          </a:xfrm>
          <a:prstGeom prst="rect">
            <a:avLst/>
          </a:prstGeom>
          <a:noFill/>
          <a:ln/>
        </p:spPr>
        <p:txBody>
          <a:bodyPr wrap="square" lIns="25400" tIns="25400" rIns="25400" bIns="25400" rtlCol="0" anchor="t">
            <a:normAutofit/>
          </a:bodyPr>
          <a:lstStyle/>
          <a:p>
            <a:pPr marL="0" indent="0" algn="ctr">
              <a:lnSpc>
                <a:spcPct val="114623"/>
              </a:lnSpc>
              <a:buNone/>
            </a:pPr>
            <a:r>
              <a:rPr lang="en-GB" dirty="0">
                <a:solidFill>
                  <a:srgbClr val="33464B"/>
                </a:solidFill>
                <a:latin typeface="Inter" panose="02000503000000020004" pitchFamily="2" charset="0"/>
                <a:ea typeface="Inter" panose="02000503000000020004" pitchFamily="2" charset="0"/>
                <a:cs typeface="IBM Plex Sans" pitchFamily="34" charset="-120"/>
              </a:rPr>
              <a:t>Figure 3. High-level offline-first architecture of the </a:t>
            </a:r>
            <a:r>
              <a:rPr lang="en-GB" dirty="0" err="1">
                <a:solidFill>
                  <a:srgbClr val="33464B"/>
                </a:solidFill>
                <a:latin typeface="Inter" panose="02000503000000020004" pitchFamily="2" charset="0"/>
                <a:ea typeface="Inter" panose="02000503000000020004" pitchFamily="2" charset="0"/>
                <a:cs typeface="IBM Plex Sans" pitchFamily="34" charset="-120"/>
              </a:rPr>
              <a:t>MedGuard</a:t>
            </a:r>
            <a:r>
              <a:rPr lang="en-GB" dirty="0">
                <a:solidFill>
                  <a:srgbClr val="33464B"/>
                </a:solidFill>
                <a:latin typeface="Inter" panose="02000503000000020004" pitchFamily="2" charset="0"/>
                <a:ea typeface="Inter" panose="02000503000000020004" pitchFamily="2" charset="0"/>
                <a:cs typeface="IBM Plex Sans" pitchFamily="34" charset="-120"/>
              </a:rPr>
              <a:t> system.</a:t>
            </a:r>
            <a:endParaRPr lang="en-US" dirty="0"/>
          </a:p>
        </p:txBody>
      </p:sp>
      <p:sp>
        <p:nvSpPr>
          <p:cNvPr id="15" name="Shape 0">
            <a:extLst>
              <a:ext uri="{FF2B5EF4-FFF2-40B4-BE49-F238E27FC236}">
                <a16:creationId xmlns:a16="http://schemas.microsoft.com/office/drawing/2014/main" id="{E8FB11EE-4A77-0C4E-2C95-9B036A231E19}"/>
              </a:ext>
            </a:extLst>
          </p:cNvPr>
          <p:cNvSpPr/>
          <p:nvPr/>
        </p:nvSpPr>
        <p:spPr>
          <a:xfrm>
            <a:off x="914400" y="710826"/>
            <a:ext cx="133350" cy="133350"/>
          </a:xfrm>
          <a:prstGeom prst="rect">
            <a:avLst/>
          </a:prstGeom>
          <a:solidFill>
            <a:srgbClr val="0B5C4A"/>
          </a:solidFill>
          <a:ln/>
        </p:spPr>
      </p:sp>
      <p:sp>
        <p:nvSpPr>
          <p:cNvPr id="16" name="Text 1">
            <a:extLst>
              <a:ext uri="{FF2B5EF4-FFF2-40B4-BE49-F238E27FC236}">
                <a16:creationId xmlns:a16="http://schemas.microsoft.com/office/drawing/2014/main" id="{6260CF2C-1F85-0839-57E8-F3BB9E9E4407}"/>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SYSTEM ARCHITECTURE</a:t>
            </a:r>
            <a:endParaRPr lang="en-US" sz="2400" dirty="0"/>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571500"/>
            <a:ext cx="814388" cy="247650"/>
          </a:xfrm>
          <a:prstGeom prst="rect">
            <a:avLst/>
          </a:prstGeom>
        </p:spPr>
      </p:pic>
      <p:sp>
        <p:nvSpPr>
          <p:cNvPr id="4" name="Text 1"/>
          <p:cNvSpPr/>
          <p:nvPr/>
        </p:nvSpPr>
        <p:spPr>
          <a:xfrm>
            <a:off x="857250" y="990600"/>
            <a:ext cx="1823085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How one safety check runs, start to finish</a:t>
            </a:r>
            <a:endParaRPr lang="en-US" sz="3975" dirty="0"/>
          </a:p>
        </p:txBody>
      </p:sp>
      <p:sp>
        <p:nvSpPr>
          <p:cNvPr id="5" name="Shape 2"/>
          <p:cNvSpPr/>
          <p:nvPr/>
        </p:nvSpPr>
        <p:spPr>
          <a:xfrm>
            <a:off x="857250" y="1823839"/>
            <a:ext cx="9167118" cy="7891661"/>
          </a:xfrm>
          <a:prstGeom prst="roundRect">
            <a:avLst>
              <a:gd name="adj" fmla="val 2414"/>
            </a:avLst>
          </a:prstGeom>
          <a:solidFill>
            <a:srgbClr val="FFFFFF"/>
          </a:solidFill>
          <a:ln w="6350">
            <a:solidFill>
              <a:srgbClr val="E1EEEC"/>
            </a:solidFill>
            <a:prstDash val="solid"/>
          </a:ln>
        </p:spPr>
      </p:sp>
      <p:pic>
        <p:nvPicPr>
          <p:cNvPr id="6" name="Image 1" descr="preencoded.png"/>
          <p:cNvPicPr>
            <a:picLocks noChangeAspect="1"/>
          </p:cNvPicPr>
          <p:nvPr/>
        </p:nvPicPr>
        <p:blipFill>
          <a:blip r:embed="rId4"/>
          <a:srcRect/>
          <a:stretch/>
        </p:blipFill>
        <p:spPr>
          <a:xfrm>
            <a:off x="1926034" y="2316857"/>
            <a:ext cx="7029450" cy="6905625"/>
          </a:xfrm>
          <a:prstGeom prst="rect">
            <a:avLst/>
          </a:prstGeom>
        </p:spPr>
      </p:pic>
      <p:sp>
        <p:nvSpPr>
          <p:cNvPr id="7" name="Shape 3"/>
          <p:cNvSpPr/>
          <p:nvPr/>
        </p:nvSpPr>
        <p:spPr>
          <a:xfrm>
            <a:off x="10310118" y="3451920"/>
            <a:ext cx="7120632" cy="1422400"/>
          </a:xfrm>
          <a:prstGeom prst="roundRect">
            <a:avLst>
              <a:gd name="adj" fmla="val 12054"/>
            </a:avLst>
          </a:prstGeom>
          <a:solidFill>
            <a:srgbClr val="FFFFFF"/>
          </a:solidFill>
          <a:ln/>
        </p:spPr>
      </p:sp>
      <p:sp>
        <p:nvSpPr>
          <p:cNvPr id="8" name="Shape 4"/>
          <p:cNvSpPr/>
          <p:nvPr/>
        </p:nvSpPr>
        <p:spPr>
          <a:xfrm>
            <a:off x="10310118" y="4867970"/>
            <a:ext cx="7120632" cy="9525"/>
          </a:xfrm>
          <a:prstGeom prst="rect">
            <a:avLst/>
          </a:prstGeom>
          <a:solidFill>
            <a:srgbClr val="E1EEEC"/>
          </a:solidFill>
          <a:ln/>
        </p:spPr>
      </p:sp>
      <p:sp>
        <p:nvSpPr>
          <p:cNvPr id="9" name="Shape 5"/>
          <p:cNvSpPr/>
          <p:nvPr/>
        </p:nvSpPr>
        <p:spPr>
          <a:xfrm>
            <a:off x="10310118" y="3451920"/>
            <a:ext cx="7120632" cy="9525"/>
          </a:xfrm>
          <a:prstGeom prst="rect">
            <a:avLst/>
          </a:prstGeom>
          <a:solidFill>
            <a:srgbClr val="E1EEEC"/>
          </a:solidFill>
          <a:ln/>
        </p:spPr>
      </p:sp>
      <p:sp>
        <p:nvSpPr>
          <p:cNvPr id="10" name="Shape 6"/>
          <p:cNvSpPr/>
          <p:nvPr/>
        </p:nvSpPr>
        <p:spPr>
          <a:xfrm>
            <a:off x="10310118" y="3451920"/>
            <a:ext cx="57150" cy="1422400"/>
          </a:xfrm>
          <a:prstGeom prst="rect">
            <a:avLst/>
          </a:prstGeom>
          <a:solidFill>
            <a:srgbClr val="016359"/>
          </a:solidFill>
          <a:ln/>
        </p:spPr>
      </p:sp>
      <p:sp>
        <p:nvSpPr>
          <p:cNvPr id="11" name="Shape 7"/>
          <p:cNvSpPr/>
          <p:nvPr/>
        </p:nvSpPr>
        <p:spPr>
          <a:xfrm>
            <a:off x="17424401" y="3451920"/>
            <a:ext cx="9525" cy="1422400"/>
          </a:xfrm>
          <a:prstGeom prst="rect">
            <a:avLst/>
          </a:prstGeom>
          <a:solidFill>
            <a:srgbClr val="E1EEEC"/>
          </a:solidFill>
          <a:ln/>
        </p:spPr>
      </p:sp>
      <p:sp>
        <p:nvSpPr>
          <p:cNvPr id="12" name="Text 8"/>
          <p:cNvSpPr/>
          <p:nvPr/>
        </p:nvSpPr>
        <p:spPr>
          <a:xfrm>
            <a:off x="10691118" y="3763070"/>
            <a:ext cx="6601715" cy="838200"/>
          </a:xfrm>
          <a:prstGeom prst="rect">
            <a:avLst/>
          </a:prstGeom>
          <a:noFill/>
          <a:ln/>
        </p:spPr>
        <p:txBody>
          <a:bodyPr wrap="square" lIns="25400" tIns="25400" rIns="25400" bIns="25400" rtlCol="0" anchor="t">
            <a:normAutofit/>
          </a:bodyPr>
          <a:lstStyle/>
          <a:p>
            <a:pPr marL="0" indent="0" algn="l">
              <a:lnSpc>
                <a:spcPct val="114545"/>
              </a:lnSpc>
              <a:buNone/>
            </a:pPr>
            <a:r>
              <a:rPr lang="en-US" sz="2100" dirty="0">
                <a:solidFill>
                  <a:srgbClr val="33464B"/>
                </a:solidFill>
                <a:latin typeface="Inter" panose="02000503000000020004" pitchFamily="2" charset="0"/>
                <a:ea typeface="Inter" panose="02000503000000020004" pitchFamily="2" charset="0"/>
                <a:cs typeface="IBM Plex Sans" pitchFamily="34" charset="-120"/>
              </a:rPr>
              <a:t>A catalogued pair returns its curated severity grade straight from the bundled database.</a:t>
            </a:r>
            <a:endParaRPr lang="en-US" sz="2100" dirty="0"/>
          </a:p>
        </p:txBody>
      </p:sp>
      <p:sp>
        <p:nvSpPr>
          <p:cNvPr id="13" name="Shape 9"/>
          <p:cNvSpPr/>
          <p:nvPr/>
        </p:nvSpPr>
        <p:spPr>
          <a:xfrm>
            <a:off x="10310118" y="5064820"/>
            <a:ext cx="7120632" cy="1422400"/>
          </a:xfrm>
          <a:prstGeom prst="roundRect">
            <a:avLst>
              <a:gd name="adj" fmla="val 12054"/>
            </a:avLst>
          </a:prstGeom>
          <a:solidFill>
            <a:srgbClr val="FFFFFF"/>
          </a:solidFill>
          <a:ln/>
        </p:spPr>
      </p:sp>
      <p:sp>
        <p:nvSpPr>
          <p:cNvPr id="14" name="Shape 10"/>
          <p:cNvSpPr/>
          <p:nvPr/>
        </p:nvSpPr>
        <p:spPr>
          <a:xfrm>
            <a:off x="10310118" y="6480870"/>
            <a:ext cx="7120632" cy="9525"/>
          </a:xfrm>
          <a:prstGeom prst="rect">
            <a:avLst/>
          </a:prstGeom>
          <a:solidFill>
            <a:srgbClr val="E1EEEC"/>
          </a:solidFill>
          <a:ln/>
        </p:spPr>
      </p:sp>
      <p:sp>
        <p:nvSpPr>
          <p:cNvPr id="15" name="Shape 11"/>
          <p:cNvSpPr/>
          <p:nvPr/>
        </p:nvSpPr>
        <p:spPr>
          <a:xfrm>
            <a:off x="10310118" y="5064820"/>
            <a:ext cx="7120632" cy="9525"/>
          </a:xfrm>
          <a:prstGeom prst="rect">
            <a:avLst/>
          </a:prstGeom>
          <a:solidFill>
            <a:srgbClr val="E1EEEC"/>
          </a:solidFill>
          <a:ln/>
        </p:spPr>
      </p:sp>
      <p:sp>
        <p:nvSpPr>
          <p:cNvPr id="16" name="Shape 12"/>
          <p:cNvSpPr/>
          <p:nvPr/>
        </p:nvSpPr>
        <p:spPr>
          <a:xfrm>
            <a:off x="10310118" y="5064820"/>
            <a:ext cx="57150" cy="1422400"/>
          </a:xfrm>
          <a:prstGeom prst="rect">
            <a:avLst/>
          </a:prstGeom>
          <a:solidFill>
            <a:srgbClr val="016359"/>
          </a:solidFill>
          <a:ln/>
        </p:spPr>
      </p:sp>
      <p:sp>
        <p:nvSpPr>
          <p:cNvPr id="17" name="Shape 13"/>
          <p:cNvSpPr/>
          <p:nvPr/>
        </p:nvSpPr>
        <p:spPr>
          <a:xfrm>
            <a:off x="17424401" y="5064820"/>
            <a:ext cx="9525" cy="1422400"/>
          </a:xfrm>
          <a:prstGeom prst="rect">
            <a:avLst/>
          </a:prstGeom>
          <a:solidFill>
            <a:srgbClr val="E1EEEC"/>
          </a:solidFill>
          <a:ln/>
        </p:spPr>
      </p:sp>
      <p:sp>
        <p:nvSpPr>
          <p:cNvPr id="18" name="Text 14"/>
          <p:cNvSpPr/>
          <p:nvPr/>
        </p:nvSpPr>
        <p:spPr>
          <a:xfrm>
            <a:off x="10691118" y="5375970"/>
            <a:ext cx="6601715" cy="838200"/>
          </a:xfrm>
          <a:prstGeom prst="rect">
            <a:avLst/>
          </a:prstGeom>
          <a:noFill/>
          <a:ln/>
        </p:spPr>
        <p:txBody>
          <a:bodyPr wrap="square" lIns="25400" tIns="25400" rIns="25400" bIns="25400" rtlCol="0" anchor="t">
            <a:normAutofit fontScale="92500"/>
          </a:bodyPr>
          <a:lstStyle/>
          <a:p>
            <a:pPr marL="0" indent="0" algn="l">
              <a:lnSpc>
                <a:spcPct val="114545"/>
              </a:lnSpc>
              <a:buNone/>
            </a:pPr>
            <a:r>
              <a:rPr lang="en-US" sz="2100" dirty="0">
                <a:solidFill>
                  <a:srgbClr val="33464B"/>
                </a:solidFill>
                <a:latin typeface="Inter" panose="02000503000000020004" pitchFamily="2" charset="0"/>
                <a:ea typeface="Inter" panose="02000503000000020004" pitchFamily="2" charset="0"/>
                <a:cs typeface="IBM Plex Sans" pitchFamily="34" charset="-120"/>
              </a:rPr>
              <a:t>An uncatalogued pair goes to the model: cloud when there is a network, on-device when there is not.</a:t>
            </a:r>
            <a:endParaRPr lang="en-US" sz="2100" dirty="0"/>
          </a:p>
        </p:txBody>
      </p:sp>
      <p:sp>
        <p:nvSpPr>
          <p:cNvPr id="19" name="Shape 15"/>
          <p:cNvSpPr/>
          <p:nvPr/>
        </p:nvSpPr>
        <p:spPr>
          <a:xfrm>
            <a:off x="10310118" y="6677720"/>
            <a:ext cx="7120632" cy="1409700"/>
          </a:xfrm>
          <a:prstGeom prst="roundRect">
            <a:avLst>
              <a:gd name="adj" fmla="val 12162"/>
            </a:avLst>
          </a:prstGeom>
          <a:solidFill>
            <a:srgbClr val="003F39"/>
          </a:solidFill>
          <a:ln/>
        </p:spPr>
      </p:sp>
      <p:sp>
        <p:nvSpPr>
          <p:cNvPr id="20" name="Text 16"/>
          <p:cNvSpPr/>
          <p:nvPr/>
        </p:nvSpPr>
        <p:spPr>
          <a:xfrm>
            <a:off x="10633968" y="6982520"/>
            <a:ext cx="6667120" cy="838200"/>
          </a:xfrm>
          <a:prstGeom prst="rect">
            <a:avLst/>
          </a:prstGeom>
          <a:noFill/>
          <a:ln/>
        </p:spPr>
        <p:txBody>
          <a:bodyPr wrap="square" lIns="25400" tIns="25400" rIns="25400" bIns="25400" rtlCol="0" anchor="t">
            <a:normAutofit/>
          </a:bodyPr>
          <a:lstStyle/>
          <a:p>
            <a:pPr marL="0" indent="0" algn="l">
              <a:lnSpc>
                <a:spcPct val="114545"/>
              </a:lnSpc>
              <a:buNone/>
            </a:pPr>
            <a:r>
              <a:rPr lang="en-US" sz="2100" dirty="0">
                <a:solidFill>
                  <a:srgbClr val="CFEAE6"/>
                </a:solidFill>
                <a:latin typeface="Inter" panose="02000503000000020004" pitchFamily="2" charset="0"/>
                <a:ea typeface="Inter" panose="02000503000000020004" pitchFamily="2" charset="0"/>
                <a:cs typeface="IBM Plex Sans" pitchFamily="34" charset="-120"/>
              </a:rPr>
              <a:t>Food, duplicate-therapy and allergy checks then run, and the verdict is the highest tier present.</a:t>
            </a:r>
            <a:endParaRPr lang="en-US" sz="2100" dirty="0"/>
          </a:p>
        </p:txBody>
      </p:sp>
      <p:sp>
        <p:nvSpPr>
          <p:cNvPr id="21" name="Shape 0">
            <a:extLst>
              <a:ext uri="{FF2B5EF4-FFF2-40B4-BE49-F238E27FC236}">
                <a16:creationId xmlns:a16="http://schemas.microsoft.com/office/drawing/2014/main" id="{6D0750D9-724B-84DD-43C0-B99F94DBA6B4}"/>
              </a:ext>
            </a:extLst>
          </p:cNvPr>
          <p:cNvSpPr/>
          <p:nvPr/>
        </p:nvSpPr>
        <p:spPr>
          <a:xfrm>
            <a:off x="914400" y="710826"/>
            <a:ext cx="133350" cy="133350"/>
          </a:xfrm>
          <a:prstGeom prst="rect">
            <a:avLst/>
          </a:prstGeom>
          <a:solidFill>
            <a:srgbClr val="0B5C4A"/>
          </a:solidFill>
          <a:ln/>
        </p:spPr>
      </p:sp>
      <p:sp>
        <p:nvSpPr>
          <p:cNvPr id="22" name="Text 1">
            <a:extLst>
              <a:ext uri="{FF2B5EF4-FFF2-40B4-BE49-F238E27FC236}">
                <a16:creationId xmlns:a16="http://schemas.microsoft.com/office/drawing/2014/main" id="{6E5F70AF-F368-A4C3-24E7-F756265750B7}"/>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SYSTEM FLOWCHART</a:t>
            </a:r>
            <a:endParaRPr lang="en-US" sz="2400" dirty="0"/>
          </a:p>
        </p:txBody>
      </p:sp>
      <p:sp>
        <p:nvSpPr>
          <p:cNvPr id="23" name="Text 4">
            <a:extLst>
              <a:ext uri="{FF2B5EF4-FFF2-40B4-BE49-F238E27FC236}">
                <a16:creationId xmlns:a16="http://schemas.microsoft.com/office/drawing/2014/main" id="{2EBD60BC-AD50-DC29-A6AE-EC0CDB15354B}"/>
              </a:ext>
            </a:extLst>
          </p:cNvPr>
          <p:cNvSpPr/>
          <p:nvPr/>
        </p:nvSpPr>
        <p:spPr>
          <a:xfrm>
            <a:off x="1111699" y="9222482"/>
            <a:ext cx="8658119" cy="419100"/>
          </a:xfrm>
          <a:prstGeom prst="rect">
            <a:avLst/>
          </a:prstGeom>
          <a:noFill/>
          <a:ln/>
        </p:spPr>
        <p:txBody>
          <a:bodyPr wrap="square" lIns="25400" tIns="25400" rIns="25400" bIns="25400" rtlCol="0" anchor="t">
            <a:normAutofit/>
          </a:bodyPr>
          <a:lstStyle/>
          <a:p>
            <a:pPr marL="0" indent="0" algn="ctr">
              <a:lnSpc>
                <a:spcPct val="114623"/>
              </a:lnSpc>
              <a:buNone/>
            </a:pPr>
            <a:r>
              <a:rPr lang="en-GB" dirty="0">
                <a:solidFill>
                  <a:srgbClr val="33464B"/>
                </a:solidFill>
                <a:latin typeface="Inter" panose="02000503000000020004" pitchFamily="2" charset="0"/>
                <a:ea typeface="Inter" panose="02000503000000020004" pitchFamily="2" charset="0"/>
                <a:cs typeface="IBM Plex Sans" pitchFamily="34" charset="-120"/>
              </a:rPr>
              <a:t>Figure 4. System flowchart of the </a:t>
            </a:r>
            <a:r>
              <a:rPr lang="en-GB" dirty="0" err="1">
                <a:solidFill>
                  <a:srgbClr val="33464B"/>
                </a:solidFill>
                <a:latin typeface="Inter" panose="02000503000000020004" pitchFamily="2" charset="0"/>
                <a:ea typeface="Inter" panose="02000503000000020004" pitchFamily="2" charset="0"/>
                <a:cs typeface="IBM Plex Sans" pitchFamily="34" charset="-120"/>
              </a:rPr>
              <a:t>MedGuard</a:t>
            </a:r>
            <a:r>
              <a:rPr lang="en-GB" dirty="0">
                <a:solidFill>
                  <a:srgbClr val="33464B"/>
                </a:solidFill>
                <a:latin typeface="Inter" panose="02000503000000020004" pitchFamily="2" charset="0"/>
                <a:ea typeface="Inter" panose="02000503000000020004" pitchFamily="2" charset="0"/>
                <a:cs typeface="IBM Plex Sans" pitchFamily="34" charset="-120"/>
              </a:rPr>
              <a:t> safety-check process.</a:t>
            </a:r>
            <a:endParaRPr lang="en-US" dirty="0"/>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571500"/>
            <a:ext cx="814388" cy="247650"/>
          </a:xfrm>
          <a:prstGeom prst="rect">
            <a:avLst/>
          </a:prstGeom>
        </p:spPr>
      </p:pic>
      <p:sp>
        <p:nvSpPr>
          <p:cNvPr id="4" name="Text 1"/>
          <p:cNvSpPr/>
          <p:nvPr/>
        </p:nvSpPr>
        <p:spPr>
          <a:xfrm>
            <a:off x="857250" y="990600"/>
            <a:ext cx="1823085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One drugs table at the centre, six spokes around it</a:t>
            </a:r>
            <a:endParaRPr lang="en-US" sz="3975" dirty="0"/>
          </a:p>
        </p:txBody>
      </p:sp>
      <p:sp>
        <p:nvSpPr>
          <p:cNvPr id="5" name="Shape 2"/>
          <p:cNvSpPr/>
          <p:nvPr/>
        </p:nvSpPr>
        <p:spPr>
          <a:xfrm>
            <a:off x="857250" y="1823839"/>
            <a:ext cx="10692904" cy="7891661"/>
          </a:xfrm>
          <a:prstGeom prst="roundRect">
            <a:avLst>
              <a:gd name="adj" fmla="val 2414"/>
            </a:avLst>
          </a:prstGeom>
          <a:solidFill>
            <a:srgbClr val="FFFFFF"/>
          </a:solidFill>
          <a:ln w="6350">
            <a:solidFill>
              <a:srgbClr val="E1EEEC"/>
            </a:solidFill>
            <a:prstDash val="solid"/>
          </a:ln>
        </p:spPr>
      </p:sp>
      <p:pic>
        <p:nvPicPr>
          <p:cNvPr id="6" name="Image 1" descr="preencoded.png"/>
          <p:cNvPicPr>
            <a:picLocks noChangeAspect="1"/>
          </p:cNvPicPr>
          <p:nvPr/>
        </p:nvPicPr>
        <p:blipFill>
          <a:blip r:embed="rId4"/>
          <a:srcRect/>
          <a:stretch/>
        </p:blipFill>
        <p:spPr>
          <a:xfrm>
            <a:off x="1168400" y="2259906"/>
            <a:ext cx="10070604" cy="7019529"/>
          </a:xfrm>
          <a:prstGeom prst="rect">
            <a:avLst/>
          </a:prstGeom>
        </p:spPr>
      </p:pic>
      <p:sp>
        <p:nvSpPr>
          <p:cNvPr id="7" name="Shape 3"/>
          <p:cNvSpPr/>
          <p:nvPr/>
        </p:nvSpPr>
        <p:spPr>
          <a:xfrm>
            <a:off x="11835904" y="2574727"/>
            <a:ext cx="5594846" cy="2898775"/>
          </a:xfrm>
          <a:prstGeom prst="roundRect">
            <a:avLst>
              <a:gd name="adj" fmla="val 5915"/>
            </a:avLst>
          </a:prstGeom>
          <a:solidFill>
            <a:srgbClr val="FFFFFF"/>
          </a:solidFill>
          <a:ln w="6350">
            <a:solidFill>
              <a:srgbClr val="E1EEEC"/>
            </a:solidFill>
            <a:prstDash val="solid"/>
          </a:ln>
        </p:spPr>
      </p:sp>
      <p:sp>
        <p:nvSpPr>
          <p:cNvPr id="8" name="Text 4"/>
          <p:cNvSpPr/>
          <p:nvPr/>
        </p:nvSpPr>
        <p:spPr>
          <a:xfrm>
            <a:off x="12147054" y="2866827"/>
            <a:ext cx="5121723" cy="2352675"/>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Every spoke holds a foreign key back to </a:t>
            </a:r>
            <a:r>
              <a:rPr lang="en-US" sz="2025" b="1" dirty="0">
                <a:solidFill>
                  <a:srgbClr val="152428"/>
                </a:solidFill>
                <a:latin typeface="Inter" panose="02000503000000020004" pitchFamily="2" charset="0"/>
                <a:ea typeface="Inter" panose="02000503000000020004" pitchFamily="2" charset="0"/>
                <a:cs typeface="IBM Plex Sans" pitchFamily="34" charset="-120"/>
              </a:rPr>
              <a:t>drugs </a:t>
            </a:r>
            <a:r>
              <a:rPr lang="en-US" sz="2025" dirty="0">
                <a:solidFill>
                  <a:srgbClr val="33464B"/>
                </a:solidFill>
                <a:latin typeface="Inter" panose="02000503000000020004" pitchFamily="2" charset="0"/>
                <a:ea typeface="Inter" panose="02000503000000020004" pitchFamily="2" charset="0"/>
                <a:cs typeface="IBM Plex Sans" pitchFamily="34" charset="-120"/>
              </a:rPr>
              <a:t>, normalised to third normal form. Repeated descriptions are stored as integer codes and rebuilt through a SQL view, which is what keeps the file small enough to ship.</a:t>
            </a:r>
            <a:endParaRPr lang="en-US" sz="2025" dirty="0"/>
          </a:p>
        </p:txBody>
      </p:sp>
      <p:sp>
        <p:nvSpPr>
          <p:cNvPr id="9" name="Shape 5"/>
          <p:cNvSpPr/>
          <p:nvPr/>
        </p:nvSpPr>
        <p:spPr>
          <a:xfrm>
            <a:off x="11835904" y="5664002"/>
            <a:ext cx="2721173" cy="1394420"/>
          </a:xfrm>
          <a:prstGeom prst="roundRect">
            <a:avLst>
              <a:gd name="adj" fmla="val 10929"/>
            </a:avLst>
          </a:prstGeom>
          <a:solidFill>
            <a:srgbClr val="003F39"/>
          </a:solidFill>
          <a:ln/>
        </p:spPr>
      </p:sp>
      <p:sp>
        <p:nvSpPr>
          <p:cNvPr id="10" name="Text 6"/>
          <p:cNvSpPr/>
          <p:nvPr/>
        </p:nvSpPr>
        <p:spPr>
          <a:xfrm>
            <a:off x="12102604" y="5911652"/>
            <a:ext cx="2406551" cy="476250"/>
          </a:xfrm>
          <a:prstGeom prst="rect">
            <a:avLst/>
          </a:prstGeom>
          <a:noFill/>
          <a:ln/>
        </p:spPr>
        <p:txBody>
          <a:bodyPr wrap="square" lIns="25400" tIns="25400" rIns="25400" bIns="25400" rtlCol="0" anchor="t">
            <a:normAutofit fontScale="92500" lnSpcReduction="10000"/>
          </a:bodyPr>
          <a:lstStyle/>
          <a:p>
            <a:pPr marL="0" indent="0" algn="l">
              <a:lnSpc>
                <a:spcPct val="92000"/>
              </a:lnSpc>
              <a:buNone/>
            </a:pPr>
            <a:r>
              <a:rPr lang="en-US" sz="3450" b="1" kern="0" spc="-103" dirty="0">
                <a:solidFill>
                  <a:srgbClr val="FFFFFF"/>
                </a:solidFill>
                <a:latin typeface="Inter" panose="02000503000000020004" pitchFamily="2" charset="0"/>
                <a:ea typeface="Inter" panose="02000503000000020004" pitchFamily="2" charset="0"/>
                <a:cs typeface="Archivo" pitchFamily="34" charset="-120"/>
              </a:rPr>
              <a:t>4,955</a:t>
            </a:r>
            <a:endParaRPr lang="en-US" sz="3450" dirty="0"/>
          </a:p>
        </p:txBody>
      </p:sp>
      <p:sp>
        <p:nvSpPr>
          <p:cNvPr id="11" name="Text 7"/>
          <p:cNvSpPr/>
          <p:nvPr/>
        </p:nvSpPr>
        <p:spPr>
          <a:xfrm>
            <a:off x="12102604" y="6464102"/>
            <a:ext cx="2406551" cy="384770"/>
          </a:xfrm>
          <a:prstGeom prst="rect">
            <a:avLst/>
          </a:prstGeom>
          <a:noFill/>
          <a:ln/>
        </p:spPr>
        <p:txBody>
          <a:bodyPr wrap="square" lIns="25400" tIns="25400" rIns="25400" bIns="25400" rtlCol="0" anchor="t">
            <a:normAutofit/>
          </a:bodyPr>
          <a:lstStyle/>
          <a:p>
            <a:pPr marL="0" indent="0" algn="l">
              <a:lnSpc>
                <a:spcPct val="107059"/>
              </a:lnSpc>
              <a:buNone/>
            </a:pPr>
            <a:r>
              <a:rPr lang="en-US" sz="1950" dirty="0">
                <a:solidFill>
                  <a:srgbClr val="B8D6D1"/>
                </a:solidFill>
                <a:latin typeface="Inter" panose="02000503000000020004" pitchFamily="2" charset="0"/>
                <a:ea typeface="Inter" panose="02000503000000020004" pitchFamily="2" charset="0"/>
                <a:cs typeface="IBM Plex Sans" pitchFamily="34" charset="-120"/>
              </a:rPr>
              <a:t>drugs</a:t>
            </a:r>
            <a:endParaRPr lang="en-US" sz="1950" dirty="0"/>
          </a:p>
        </p:txBody>
      </p:sp>
      <p:sp>
        <p:nvSpPr>
          <p:cNvPr id="12" name="Shape 8"/>
          <p:cNvSpPr/>
          <p:nvPr/>
        </p:nvSpPr>
        <p:spPr>
          <a:xfrm>
            <a:off x="14709478" y="5664002"/>
            <a:ext cx="2721273" cy="1394420"/>
          </a:xfrm>
          <a:prstGeom prst="roundRect">
            <a:avLst>
              <a:gd name="adj" fmla="val 10929"/>
            </a:avLst>
          </a:prstGeom>
          <a:solidFill>
            <a:srgbClr val="003F39"/>
          </a:solidFill>
          <a:ln/>
        </p:spPr>
      </p:sp>
      <p:sp>
        <p:nvSpPr>
          <p:cNvPr id="13" name="Text 9"/>
          <p:cNvSpPr/>
          <p:nvPr/>
        </p:nvSpPr>
        <p:spPr>
          <a:xfrm>
            <a:off x="14976178" y="5911652"/>
            <a:ext cx="2406660" cy="476250"/>
          </a:xfrm>
          <a:prstGeom prst="rect">
            <a:avLst/>
          </a:prstGeom>
          <a:noFill/>
          <a:ln/>
        </p:spPr>
        <p:txBody>
          <a:bodyPr wrap="square" lIns="25400" tIns="25400" rIns="25400" bIns="25400" rtlCol="0" anchor="t">
            <a:normAutofit fontScale="92500" lnSpcReduction="10000"/>
          </a:bodyPr>
          <a:lstStyle/>
          <a:p>
            <a:pPr marL="0" indent="0" algn="l">
              <a:lnSpc>
                <a:spcPct val="92000"/>
              </a:lnSpc>
              <a:buNone/>
            </a:pPr>
            <a:r>
              <a:rPr lang="en-US" sz="3450" b="1" kern="0" spc="-103" dirty="0">
                <a:solidFill>
                  <a:srgbClr val="FFFFFF"/>
                </a:solidFill>
                <a:latin typeface="Inter" panose="02000503000000020004" pitchFamily="2" charset="0"/>
                <a:ea typeface="Inter" panose="02000503000000020004" pitchFamily="2" charset="0"/>
                <a:cs typeface="Archivo" pitchFamily="34" charset="-120"/>
              </a:rPr>
              <a:t>851,868</a:t>
            </a:r>
            <a:endParaRPr lang="en-US" sz="3450" dirty="0"/>
          </a:p>
        </p:txBody>
      </p:sp>
      <p:sp>
        <p:nvSpPr>
          <p:cNvPr id="14" name="Text 10"/>
          <p:cNvSpPr/>
          <p:nvPr/>
        </p:nvSpPr>
        <p:spPr>
          <a:xfrm>
            <a:off x="14976178" y="6464102"/>
            <a:ext cx="2406660" cy="384770"/>
          </a:xfrm>
          <a:prstGeom prst="rect">
            <a:avLst/>
          </a:prstGeom>
          <a:noFill/>
          <a:ln/>
        </p:spPr>
        <p:txBody>
          <a:bodyPr wrap="square" lIns="25400" tIns="25400" rIns="25400" bIns="25400" rtlCol="0" anchor="t">
            <a:normAutofit/>
          </a:bodyPr>
          <a:lstStyle/>
          <a:p>
            <a:pPr marL="0" indent="0" algn="l">
              <a:lnSpc>
                <a:spcPct val="107059"/>
              </a:lnSpc>
              <a:buNone/>
            </a:pPr>
            <a:r>
              <a:rPr lang="en-US" sz="1950" dirty="0">
                <a:solidFill>
                  <a:srgbClr val="B8D6D1"/>
                </a:solidFill>
                <a:latin typeface="Inter" panose="02000503000000020004" pitchFamily="2" charset="0"/>
                <a:ea typeface="Inter" panose="02000503000000020004" pitchFamily="2" charset="0"/>
                <a:cs typeface="IBM Plex Sans" pitchFamily="34" charset="-120"/>
              </a:rPr>
              <a:t>interaction records</a:t>
            </a:r>
            <a:endParaRPr lang="en-US" sz="1950" dirty="0"/>
          </a:p>
        </p:txBody>
      </p:sp>
      <p:sp>
        <p:nvSpPr>
          <p:cNvPr id="15" name="Shape 11"/>
          <p:cNvSpPr/>
          <p:nvPr/>
        </p:nvSpPr>
        <p:spPr>
          <a:xfrm>
            <a:off x="11835904" y="7210822"/>
            <a:ext cx="2721173" cy="1753791"/>
          </a:xfrm>
          <a:prstGeom prst="roundRect">
            <a:avLst>
              <a:gd name="adj" fmla="val 8690"/>
            </a:avLst>
          </a:prstGeom>
          <a:solidFill>
            <a:srgbClr val="FFFFFF"/>
          </a:solidFill>
          <a:ln w="6350">
            <a:solidFill>
              <a:srgbClr val="E1EEEC"/>
            </a:solidFill>
            <a:prstDash val="solid"/>
          </a:ln>
        </p:spPr>
      </p:sp>
      <p:sp>
        <p:nvSpPr>
          <p:cNvPr id="16" name="Text 12"/>
          <p:cNvSpPr/>
          <p:nvPr/>
        </p:nvSpPr>
        <p:spPr>
          <a:xfrm>
            <a:off x="12108954" y="7464822"/>
            <a:ext cx="2392581" cy="476250"/>
          </a:xfrm>
          <a:prstGeom prst="rect">
            <a:avLst/>
          </a:prstGeom>
          <a:noFill/>
          <a:ln/>
        </p:spPr>
        <p:txBody>
          <a:bodyPr wrap="square" lIns="25400" tIns="25400" rIns="25400" bIns="25400" rtlCol="0" anchor="t">
            <a:normAutofit fontScale="92500" lnSpcReduction="10000"/>
          </a:bodyPr>
          <a:lstStyle/>
          <a:p>
            <a:pPr marL="0" indent="0" algn="l">
              <a:lnSpc>
                <a:spcPct val="92000"/>
              </a:lnSpc>
              <a:buNone/>
            </a:pPr>
            <a:r>
              <a:rPr lang="en-US" sz="3450" b="1" kern="0" spc="-103" dirty="0">
                <a:solidFill>
                  <a:srgbClr val="152428"/>
                </a:solidFill>
                <a:latin typeface="Inter" panose="02000503000000020004" pitchFamily="2" charset="0"/>
                <a:ea typeface="Inter" panose="02000503000000020004" pitchFamily="2" charset="0"/>
                <a:cs typeface="Archivo" pitchFamily="34" charset="-120"/>
              </a:rPr>
              <a:t>252,046</a:t>
            </a:r>
            <a:endParaRPr lang="en-US" sz="3450" dirty="0"/>
          </a:p>
        </p:txBody>
      </p:sp>
      <p:sp>
        <p:nvSpPr>
          <p:cNvPr id="17" name="Text 13"/>
          <p:cNvSpPr/>
          <p:nvPr/>
        </p:nvSpPr>
        <p:spPr>
          <a:xfrm>
            <a:off x="12108954" y="8017272"/>
            <a:ext cx="2251273" cy="731441"/>
          </a:xfrm>
          <a:prstGeom prst="rect">
            <a:avLst/>
          </a:prstGeom>
          <a:noFill/>
          <a:ln/>
        </p:spPr>
        <p:txBody>
          <a:bodyPr wrap="square" lIns="25400" tIns="25400" rIns="25400" bIns="25400" rtlCol="0" anchor="t">
            <a:normAutofit/>
          </a:bodyPr>
          <a:lstStyle/>
          <a:p>
            <a:pPr marL="0" indent="0" algn="l">
              <a:lnSpc>
                <a:spcPct val="107059"/>
              </a:lnSpc>
              <a:buNone/>
            </a:pPr>
            <a:r>
              <a:rPr lang="en-US" sz="1950" dirty="0">
                <a:solidFill>
                  <a:srgbClr val="6F7D81"/>
                </a:solidFill>
                <a:latin typeface="Inter" panose="02000503000000020004" pitchFamily="2" charset="0"/>
                <a:ea typeface="Inter" panose="02000503000000020004" pitchFamily="2" charset="0"/>
                <a:cs typeface="IBM Plex Sans" pitchFamily="34" charset="-120"/>
              </a:rPr>
              <a:t>synonyms for search</a:t>
            </a:r>
            <a:endParaRPr lang="en-US" sz="1950" dirty="0"/>
          </a:p>
        </p:txBody>
      </p:sp>
      <p:sp>
        <p:nvSpPr>
          <p:cNvPr id="18" name="Shape 14"/>
          <p:cNvSpPr/>
          <p:nvPr/>
        </p:nvSpPr>
        <p:spPr>
          <a:xfrm>
            <a:off x="14709478" y="7210822"/>
            <a:ext cx="2721273" cy="1753791"/>
          </a:xfrm>
          <a:prstGeom prst="roundRect">
            <a:avLst>
              <a:gd name="adj" fmla="val 8690"/>
            </a:avLst>
          </a:prstGeom>
          <a:solidFill>
            <a:srgbClr val="FFFFFF"/>
          </a:solidFill>
          <a:ln w="6350">
            <a:solidFill>
              <a:srgbClr val="E1EEEC"/>
            </a:solidFill>
            <a:prstDash val="solid"/>
          </a:ln>
        </p:spPr>
      </p:sp>
      <p:sp>
        <p:nvSpPr>
          <p:cNvPr id="19" name="Text 15"/>
          <p:cNvSpPr/>
          <p:nvPr/>
        </p:nvSpPr>
        <p:spPr>
          <a:xfrm>
            <a:off x="14982527" y="7464822"/>
            <a:ext cx="2392690" cy="476250"/>
          </a:xfrm>
          <a:prstGeom prst="rect">
            <a:avLst/>
          </a:prstGeom>
          <a:noFill/>
          <a:ln/>
        </p:spPr>
        <p:txBody>
          <a:bodyPr wrap="square" lIns="25400" tIns="25400" rIns="25400" bIns="25400" rtlCol="0" anchor="t">
            <a:normAutofit fontScale="92500" lnSpcReduction="10000"/>
          </a:bodyPr>
          <a:lstStyle/>
          <a:p>
            <a:pPr marL="0" indent="0" algn="l">
              <a:lnSpc>
                <a:spcPct val="92000"/>
              </a:lnSpc>
              <a:buNone/>
            </a:pPr>
            <a:r>
              <a:rPr lang="en-US" sz="3450" b="1" kern="0" spc="-103" dirty="0">
                <a:solidFill>
                  <a:srgbClr val="016359"/>
                </a:solidFill>
                <a:latin typeface="Inter" panose="02000503000000020004" pitchFamily="2" charset="0"/>
                <a:ea typeface="Inter" panose="02000503000000020004" pitchFamily="2" charset="0"/>
                <a:cs typeface="Archivo" pitchFamily="34" charset="-120"/>
              </a:rPr>
              <a:t>79 MB</a:t>
            </a:r>
            <a:endParaRPr lang="en-US" sz="3450" dirty="0"/>
          </a:p>
        </p:txBody>
      </p:sp>
      <p:sp>
        <p:nvSpPr>
          <p:cNvPr id="20" name="Text 16"/>
          <p:cNvSpPr/>
          <p:nvPr/>
        </p:nvSpPr>
        <p:spPr>
          <a:xfrm>
            <a:off x="14982527" y="8017272"/>
            <a:ext cx="2251373" cy="731441"/>
          </a:xfrm>
          <a:prstGeom prst="rect">
            <a:avLst/>
          </a:prstGeom>
          <a:noFill/>
          <a:ln/>
        </p:spPr>
        <p:txBody>
          <a:bodyPr wrap="square" lIns="25400" tIns="25400" rIns="25400" bIns="25400" rtlCol="0" anchor="t">
            <a:normAutofit/>
          </a:bodyPr>
          <a:lstStyle/>
          <a:p>
            <a:pPr marL="0" indent="0" algn="l">
              <a:lnSpc>
                <a:spcPct val="107059"/>
              </a:lnSpc>
              <a:buNone/>
            </a:pPr>
            <a:r>
              <a:rPr lang="en-US" sz="1950" dirty="0">
                <a:solidFill>
                  <a:srgbClr val="6F7D81"/>
                </a:solidFill>
                <a:latin typeface="Inter" panose="02000503000000020004" pitchFamily="2" charset="0"/>
                <a:ea typeface="Inter" panose="02000503000000020004" pitchFamily="2" charset="0"/>
                <a:cs typeface="IBM Plex Sans" pitchFamily="34" charset="-120"/>
              </a:rPr>
              <a:t>shipped inside the app</a:t>
            </a:r>
            <a:endParaRPr lang="en-US" sz="1950" dirty="0"/>
          </a:p>
        </p:txBody>
      </p:sp>
      <p:sp>
        <p:nvSpPr>
          <p:cNvPr id="21" name="Text 4">
            <a:extLst>
              <a:ext uri="{FF2B5EF4-FFF2-40B4-BE49-F238E27FC236}">
                <a16:creationId xmlns:a16="http://schemas.microsoft.com/office/drawing/2014/main" id="{06E137D3-DD14-D977-940D-F0C28EA0F0BF}"/>
              </a:ext>
            </a:extLst>
          </p:cNvPr>
          <p:cNvSpPr/>
          <p:nvPr/>
        </p:nvSpPr>
        <p:spPr>
          <a:xfrm>
            <a:off x="1842029" y="9086850"/>
            <a:ext cx="8658119" cy="419100"/>
          </a:xfrm>
          <a:prstGeom prst="rect">
            <a:avLst/>
          </a:prstGeom>
          <a:noFill/>
          <a:ln/>
        </p:spPr>
        <p:txBody>
          <a:bodyPr wrap="square" lIns="25400" tIns="25400" rIns="25400" bIns="25400" rtlCol="0" anchor="t">
            <a:normAutofit/>
          </a:bodyPr>
          <a:lstStyle/>
          <a:p>
            <a:pPr marL="0" indent="0" algn="ctr">
              <a:lnSpc>
                <a:spcPct val="114623"/>
              </a:lnSpc>
              <a:buNone/>
            </a:pPr>
            <a:r>
              <a:rPr lang="en-GB" dirty="0">
                <a:solidFill>
                  <a:srgbClr val="33464B"/>
                </a:solidFill>
                <a:latin typeface="Inter" panose="02000503000000020004" pitchFamily="2" charset="0"/>
                <a:ea typeface="Inter" panose="02000503000000020004" pitchFamily="2" charset="0"/>
                <a:cs typeface="IBM Plex Sans" pitchFamily="34" charset="-120"/>
              </a:rPr>
              <a:t>Figure 5. Entity–relationship diagram of the </a:t>
            </a:r>
            <a:r>
              <a:rPr lang="en-GB" dirty="0" err="1">
                <a:solidFill>
                  <a:srgbClr val="33464B"/>
                </a:solidFill>
                <a:latin typeface="Inter" panose="02000503000000020004" pitchFamily="2" charset="0"/>
                <a:ea typeface="Inter" panose="02000503000000020004" pitchFamily="2" charset="0"/>
                <a:cs typeface="IBM Plex Sans" pitchFamily="34" charset="-120"/>
              </a:rPr>
              <a:t>MedGuard</a:t>
            </a:r>
            <a:r>
              <a:rPr lang="en-GB" dirty="0">
                <a:solidFill>
                  <a:srgbClr val="33464B"/>
                </a:solidFill>
                <a:latin typeface="Inter" panose="02000503000000020004" pitchFamily="2" charset="0"/>
                <a:ea typeface="Inter" panose="02000503000000020004" pitchFamily="2" charset="0"/>
                <a:cs typeface="IBM Plex Sans" pitchFamily="34" charset="-120"/>
              </a:rPr>
              <a:t> reference database.</a:t>
            </a:r>
            <a:endParaRPr lang="en-US" dirty="0"/>
          </a:p>
        </p:txBody>
      </p:sp>
      <p:sp>
        <p:nvSpPr>
          <p:cNvPr id="22" name="Shape 0">
            <a:extLst>
              <a:ext uri="{FF2B5EF4-FFF2-40B4-BE49-F238E27FC236}">
                <a16:creationId xmlns:a16="http://schemas.microsoft.com/office/drawing/2014/main" id="{A914530B-39E2-848D-7DC7-859E6F5E9A89}"/>
              </a:ext>
            </a:extLst>
          </p:cNvPr>
          <p:cNvSpPr/>
          <p:nvPr/>
        </p:nvSpPr>
        <p:spPr>
          <a:xfrm>
            <a:off x="914400" y="710826"/>
            <a:ext cx="133350" cy="133350"/>
          </a:xfrm>
          <a:prstGeom prst="rect">
            <a:avLst/>
          </a:prstGeom>
          <a:solidFill>
            <a:srgbClr val="0B5C4A"/>
          </a:solidFill>
          <a:ln/>
        </p:spPr>
      </p:sp>
      <p:sp>
        <p:nvSpPr>
          <p:cNvPr id="23" name="Text 1">
            <a:extLst>
              <a:ext uri="{FF2B5EF4-FFF2-40B4-BE49-F238E27FC236}">
                <a16:creationId xmlns:a16="http://schemas.microsoft.com/office/drawing/2014/main" id="{534BAB50-4416-D33F-EDDC-3ED7FCAA7EB4}"/>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ENTITY RELATIONSHIP DIAGRAM</a:t>
            </a:r>
            <a:endParaRPr lang="en-US" sz="2400" dirty="0"/>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609600"/>
            <a:ext cx="814388" cy="247650"/>
          </a:xfrm>
          <a:prstGeom prst="rect">
            <a:avLst/>
          </a:prstGeom>
        </p:spPr>
      </p:pic>
      <p:sp>
        <p:nvSpPr>
          <p:cNvPr id="4" name="Text 1"/>
          <p:cNvSpPr/>
          <p:nvPr/>
        </p:nvSpPr>
        <p:spPr>
          <a:xfrm>
            <a:off x="857250" y="1028700"/>
            <a:ext cx="1823085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Three classifiers were compared. The forest was kept.</a:t>
            </a:r>
            <a:endParaRPr lang="en-US" sz="3975" dirty="0"/>
          </a:p>
        </p:txBody>
      </p:sp>
      <p:sp>
        <p:nvSpPr>
          <p:cNvPr id="5" name="Shape 2"/>
          <p:cNvSpPr/>
          <p:nvPr/>
        </p:nvSpPr>
        <p:spPr>
          <a:xfrm>
            <a:off x="857250" y="1938139"/>
            <a:ext cx="8882460" cy="7739261"/>
          </a:xfrm>
          <a:prstGeom prst="roundRect">
            <a:avLst>
              <a:gd name="adj" fmla="val 2461"/>
            </a:avLst>
          </a:prstGeom>
          <a:solidFill>
            <a:srgbClr val="FFFFFF"/>
          </a:solidFill>
          <a:ln w="6350">
            <a:solidFill>
              <a:srgbClr val="E1EEEC"/>
            </a:solidFill>
            <a:prstDash val="solid"/>
          </a:ln>
        </p:spPr>
      </p:sp>
      <p:sp>
        <p:nvSpPr>
          <p:cNvPr id="6" name="Text 3"/>
          <p:cNvSpPr/>
          <p:nvPr/>
        </p:nvSpPr>
        <p:spPr>
          <a:xfrm>
            <a:off x="1225550" y="4170759"/>
            <a:ext cx="1992471"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016359"/>
                </a:solidFill>
                <a:latin typeface="Inter" panose="02000503000000020004" pitchFamily="2" charset="0"/>
                <a:ea typeface="Inter" panose="02000503000000020004" pitchFamily="2" charset="0"/>
                <a:cs typeface="Archivo" pitchFamily="34" charset="-120"/>
              </a:rPr>
              <a:t>Random Forest</a:t>
            </a:r>
            <a:endParaRPr lang="en-US" sz="2025" dirty="0"/>
          </a:p>
        </p:txBody>
      </p:sp>
      <p:sp>
        <p:nvSpPr>
          <p:cNvPr id="7" name="Text 4"/>
          <p:cNvSpPr/>
          <p:nvPr/>
        </p:nvSpPr>
        <p:spPr>
          <a:xfrm>
            <a:off x="8652669" y="4158060"/>
            <a:ext cx="794941" cy="33655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016359"/>
                </a:solidFill>
                <a:latin typeface="Inter" panose="02000503000000020004" pitchFamily="2" charset="0"/>
                <a:ea typeface="Inter" panose="02000503000000020004" pitchFamily="2" charset="0"/>
                <a:cs typeface="Archivo" pitchFamily="34" charset="-120"/>
              </a:rPr>
              <a:t>0.562</a:t>
            </a:r>
            <a:endParaRPr lang="en-US" sz="2175" dirty="0"/>
          </a:p>
        </p:txBody>
      </p:sp>
      <p:sp>
        <p:nvSpPr>
          <p:cNvPr id="8" name="Shape 5"/>
          <p:cNvSpPr/>
          <p:nvPr/>
        </p:nvSpPr>
        <p:spPr>
          <a:xfrm>
            <a:off x="1225550" y="4570809"/>
            <a:ext cx="8145860" cy="228600"/>
          </a:xfrm>
          <a:prstGeom prst="roundRect">
            <a:avLst>
              <a:gd name="adj" fmla="val 25000"/>
            </a:avLst>
          </a:prstGeom>
          <a:solidFill>
            <a:srgbClr val="F2F7F7"/>
          </a:solidFill>
          <a:ln/>
        </p:spPr>
      </p:sp>
      <p:sp>
        <p:nvSpPr>
          <p:cNvPr id="9" name="Shape 6"/>
          <p:cNvSpPr/>
          <p:nvPr/>
        </p:nvSpPr>
        <p:spPr>
          <a:xfrm>
            <a:off x="1225550" y="4570809"/>
            <a:ext cx="7575649" cy="228600"/>
          </a:xfrm>
          <a:prstGeom prst="roundRect">
            <a:avLst>
              <a:gd name="adj" fmla="val 25000"/>
            </a:avLst>
          </a:prstGeom>
          <a:solidFill>
            <a:srgbClr val="016359"/>
          </a:solidFill>
          <a:ln/>
        </p:spPr>
      </p:sp>
      <p:sp>
        <p:nvSpPr>
          <p:cNvPr id="10" name="Text 7"/>
          <p:cNvSpPr/>
          <p:nvPr/>
        </p:nvSpPr>
        <p:spPr>
          <a:xfrm>
            <a:off x="1225550" y="5104209"/>
            <a:ext cx="2330916" cy="374650"/>
          </a:xfrm>
          <a:prstGeom prst="rect">
            <a:avLst/>
          </a:prstGeom>
          <a:noFill/>
          <a:ln/>
        </p:spPr>
        <p:txBody>
          <a:bodyPr wrap="square" lIns="25400" tIns="25400" rIns="25400" bIns="25400" rtlCol="0" anchor="t">
            <a:normAutofit/>
          </a:bodyPr>
          <a:lstStyle/>
          <a:p>
            <a:pPr marL="0" indent="0" algn="l">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Gradient Boosting</a:t>
            </a:r>
            <a:endParaRPr lang="en-US" sz="2025" dirty="0"/>
          </a:p>
        </p:txBody>
      </p:sp>
      <p:sp>
        <p:nvSpPr>
          <p:cNvPr id="11" name="Text 8"/>
          <p:cNvSpPr/>
          <p:nvPr/>
        </p:nvSpPr>
        <p:spPr>
          <a:xfrm>
            <a:off x="8652371" y="5129610"/>
            <a:ext cx="795238" cy="33655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33464B"/>
                </a:solidFill>
                <a:latin typeface="Inter" panose="02000503000000020004" pitchFamily="2" charset="0"/>
                <a:ea typeface="Inter" panose="02000503000000020004" pitchFamily="2" charset="0"/>
                <a:cs typeface="Archivo" pitchFamily="34" charset="-120"/>
              </a:rPr>
              <a:t>0.548</a:t>
            </a:r>
            <a:endParaRPr lang="en-US" sz="2175" dirty="0"/>
          </a:p>
        </p:txBody>
      </p:sp>
      <p:sp>
        <p:nvSpPr>
          <p:cNvPr id="12" name="Shape 9"/>
          <p:cNvSpPr/>
          <p:nvPr/>
        </p:nvSpPr>
        <p:spPr>
          <a:xfrm>
            <a:off x="1225550" y="5555060"/>
            <a:ext cx="8145860" cy="228600"/>
          </a:xfrm>
          <a:prstGeom prst="roundRect">
            <a:avLst>
              <a:gd name="adj" fmla="val 25000"/>
            </a:avLst>
          </a:prstGeom>
          <a:solidFill>
            <a:srgbClr val="F2F7F7"/>
          </a:solidFill>
          <a:ln/>
        </p:spPr>
      </p:sp>
      <p:sp>
        <p:nvSpPr>
          <p:cNvPr id="13" name="Shape 10"/>
          <p:cNvSpPr/>
          <p:nvPr/>
        </p:nvSpPr>
        <p:spPr>
          <a:xfrm>
            <a:off x="1225550" y="5555060"/>
            <a:ext cx="7412732" cy="228600"/>
          </a:xfrm>
          <a:prstGeom prst="roundRect">
            <a:avLst>
              <a:gd name="adj" fmla="val 25000"/>
            </a:avLst>
          </a:prstGeom>
          <a:solidFill>
            <a:srgbClr val="8FCCC4"/>
          </a:solidFill>
          <a:ln/>
        </p:spPr>
      </p:sp>
      <p:sp>
        <p:nvSpPr>
          <p:cNvPr id="14" name="Text 11"/>
          <p:cNvSpPr/>
          <p:nvPr/>
        </p:nvSpPr>
        <p:spPr>
          <a:xfrm>
            <a:off x="1225550" y="6088460"/>
            <a:ext cx="2485023" cy="374650"/>
          </a:xfrm>
          <a:prstGeom prst="rect">
            <a:avLst/>
          </a:prstGeom>
          <a:noFill/>
          <a:ln/>
        </p:spPr>
        <p:txBody>
          <a:bodyPr wrap="square" lIns="25400" tIns="25400" rIns="25400" bIns="25400" rtlCol="0" anchor="t">
            <a:normAutofit/>
          </a:bodyPr>
          <a:lstStyle/>
          <a:p>
            <a:pPr marL="0" indent="0" algn="l">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Logistic Regression</a:t>
            </a:r>
            <a:endParaRPr lang="en-US" sz="2025" dirty="0"/>
          </a:p>
        </p:txBody>
      </p:sp>
      <p:sp>
        <p:nvSpPr>
          <p:cNvPr id="15" name="Text 12"/>
          <p:cNvSpPr/>
          <p:nvPr/>
        </p:nvSpPr>
        <p:spPr>
          <a:xfrm>
            <a:off x="8652074" y="6113859"/>
            <a:ext cx="795536" cy="336550"/>
          </a:xfrm>
          <a:prstGeom prst="rect">
            <a:avLst/>
          </a:prstGeom>
          <a:noFill/>
          <a:ln/>
        </p:spPr>
        <p:txBody>
          <a:bodyPr wrap="square" lIns="25400" tIns="25400" rIns="25400" bIns="25400" rtlCol="0" anchor="t">
            <a:normAutofit fontScale="85000" lnSpcReduction="10000"/>
          </a:bodyPr>
          <a:lstStyle/>
          <a:p>
            <a:pPr marL="0" indent="0" algn="l">
              <a:buNone/>
            </a:pPr>
            <a:r>
              <a:rPr lang="en-US" sz="2175" b="1" dirty="0">
                <a:solidFill>
                  <a:srgbClr val="33464B"/>
                </a:solidFill>
                <a:latin typeface="Inter" panose="02000503000000020004" pitchFamily="2" charset="0"/>
                <a:ea typeface="Inter" panose="02000503000000020004" pitchFamily="2" charset="0"/>
                <a:cs typeface="Archivo" pitchFamily="34" charset="-120"/>
              </a:rPr>
              <a:t>0.486</a:t>
            </a:r>
            <a:endParaRPr lang="en-US" sz="2175" dirty="0"/>
          </a:p>
        </p:txBody>
      </p:sp>
      <p:sp>
        <p:nvSpPr>
          <p:cNvPr id="16" name="Shape 13"/>
          <p:cNvSpPr/>
          <p:nvPr/>
        </p:nvSpPr>
        <p:spPr>
          <a:xfrm>
            <a:off x="1225550" y="6539310"/>
            <a:ext cx="8145860" cy="228600"/>
          </a:xfrm>
          <a:prstGeom prst="roundRect">
            <a:avLst>
              <a:gd name="adj" fmla="val 25000"/>
            </a:avLst>
          </a:prstGeom>
          <a:solidFill>
            <a:srgbClr val="F2F7F7"/>
          </a:solidFill>
          <a:ln/>
        </p:spPr>
      </p:sp>
      <p:sp>
        <p:nvSpPr>
          <p:cNvPr id="17" name="Shape 14"/>
          <p:cNvSpPr/>
          <p:nvPr/>
        </p:nvSpPr>
        <p:spPr>
          <a:xfrm>
            <a:off x="1225550" y="6539310"/>
            <a:ext cx="6598146" cy="228600"/>
          </a:xfrm>
          <a:prstGeom prst="roundRect">
            <a:avLst>
              <a:gd name="adj" fmla="val 25000"/>
            </a:avLst>
          </a:prstGeom>
          <a:solidFill>
            <a:srgbClr val="D1E8E5"/>
          </a:solidFill>
          <a:ln/>
        </p:spPr>
      </p:sp>
      <p:sp>
        <p:nvSpPr>
          <p:cNvPr id="18" name="Text 15"/>
          <p:cNvSpPr/>
          <p:nvPr/>
        </p:nvSpPr>
        <p:spPr>
          <a:xfrm>
            <a:off x="1225550" y="7110810"/>
            <a:ext cx="8960446" cy="384770"/>
          </a:xfrm>
          <a:prstGeom prst="rect">
            <a:avLst/>
          </a:prstGeom>
          <a:noFill/>
          <a:ln/>
        </p:spPr>
        <p:txBody>
          <a:bodyPr wrap="square" lIns="25400" tIns="25400" rIns="25400" bIns="25400" rtlCol="0" anchor="t">
            <a:normAutofit/>
          </a:bodyPr>
          <a:lstStyle/>
          <a:p>
            <a:pPr marL="0" indent="0" algn="l">
              <a:lnSpc>
                <a:spcPct val="107059"/>
              </a:lnSpc>
              <a:buNone/>
            </a:pPr>
            <a:r>
              <a:rPr lang="en-US" sz="1950" dirty="0">
                <a:solidFill>
                  <a:srgbClr val="6F7D81"/>
                </a:solidFill>
                <a:latin typeface="Inter" panose="02000503000000020004" pitchFamily="2" charset="0"/>
                <a:ea typeface="Inter" panose="02000503000000020004" pitchFamily="2" charset="0"/>
                <a:cs typeface="IBM Plex Sans" pitchFamily="34" charset="-120"/>
              </a:rPr>
              <a:t>Validation macro-averaged F1 — same features, same splits</a:t>
            </a:r>
            <a:endParaRPr lang="en-US" sz="1950" dirty="0"/>
          </a:p>
        </p:txBody>
      </p:sp>
      <p:sp>
        <p:nvSpPr>
          <p:cNvPr id="19" name="Shape 16"/>
          <p:cNvSpPr/>
          <p:nvPr/>
        </p:nvSpPr>
        <p:spPr>
          <a:xfrm>
            <a:off x="10185996" y="3260229"/>
            <a:ext cx="7244755" cy="2495550"/>
          </a:xfrm>
          <a:prstGeom prst="roundRect">
            <a:avLst>
              <a:gd name="adj" fmla="val 7634"/>
            </a:avLst>
          </a:prstGeom>
          <a:solidFill>
            <a:srgbClr val="003F39"/>
          </a:solidFill>
          <a:ln/>
        </p:spPr>
      </p:sp>
      <p:sp>
        <p:nvSpPr>
          <p:cNvPr id="20" name="Text 17"/>
          <p:cNvSpPr/>
          <p:nvPr/>
        </p:nvSpPr>
        <p:spPr>
          <a:xfrm>
            <a:off x="10554796" y="3622179"/>
            <a:ext cx="6694253" cy="1809750"/>
          </a:xfrm>
          <a:prstGeom prst="rect">
            <a:avLst/>
          </a:prstGeom>
          <a:noFill/>
          <a:ln/>
        </p:spPr>
        <p:txBody>
          <a:bodyPr wrap="square" lIns="25400" tIns="25400" rIns="25400" bIns="25400" rtlCol="0" anchor="t">
            <a:normAutofit/>
          </a:bodyPr>
          <a:lstStyle/>
          <a:p>
            <a:pPr marL="0" indent="0" algn="l">
              <a:lnSpc>
                <a:spcPct val="114344"/>
              </a:lnSpc>
              <a:buNone/>
            </a:pPr>
            <a:r>
              <a:rPr lang="en-US" sz="2325" dirty="0">
                <a:solidFill>
                  <a:srgbClr val="FFFFFF"/>
                </a:solidFill>
                <a:latin typeface="Inter" panose="02000503000000020004" pitchFamily="2" charset="0"/>
                <a:ea typeface="Inter" panose="02000503000000020004" pitchFamily="2" charset="0"/>
                <a:cs typeface="IBM Plex Sans" pitchFamily="34" charset="-120"/>
              </a:rPr>
              <a:t>Twenty-seven features per pair: shared enzymes, inhibition profiles, ATC-class overlap, half-life, narrow-therapeutic-index flags and each drug's recorded risk history.</a:t>
            </a:r>
            <a:endParaRPr lang="en-US" sz="2325" dirty="0"/>
          </a:p>
        </p:txBody>
      </p:sp>
      <p:sp>
        <p:nvSpPr>
          <p:cNvPr id="21" name="Shape 18"/>
          <p:cNvSpPr/>
          <p:nvPr/>
        </p:nvSpPr>
        <p:spPr>
          <a:xfrm>
            <a:off x="10185996" y="5965329"/>
            <a:ext cx="7244755" cy="2389981"/>
          </a:xfrm>
          <a:prstGeom prst="roundRect">
            <a:avLst>
              <a:gd name="adj" fmla="val 7971"/>
            </a:avLst>
          </a:prstGeom>
          <a:solidFill>
            <a:srgbClr val="FFFFFF"/>
          </a:solidFill>
          <a:ln w="6350">
            <a:solidFill>
              <a:srgbClr val="E1EEEC"/>
            </a:solidFill>
            <a:prstDash val="solid"/>
          </a:ln>
        </p:spPr>
      </p:sp>
      <p:sp>
        <p:nvSpPr>
          <p:cNvPr id="22" name="Text 19"/>
          <p:cNvSpPr/>
          <p:nvPr/>
        </p:nvSpPr>
        <p:spPr>
          <a:xfrm>
            <a:off x="10560864" y="6333629"/>
            <a:ext cx="6681454" cy="1691481"/>
          </a:xfrm>
          <a:prstGeom prst="rect">
            <a:avLst/>
          </a:prstGeom>
          <a:noFill/>
          <a:ln/>
        </p:spPr>
        <p:txBody>
          <a:bodyPr wrap="square" lIns="25400" tIns="25400" rIns="25400" bIns="25400" rtlCol="0" anchor="t">
            <a:normAutofit/>
          </a:bodyPr>
          <a:lstStyle/>
          <a:p>
            <a:pPr marL="0" indent="0" algn="l">
              <a:lnSpc>
                <a:spcPct val="118364"/>
              </a:lnSpc>
              <a:buNone/>
            </a:pPr>
            <a:r>
              <a:rPr lang="en-US" sz="2100" dirty="0">
                <a:solidFill>
                  <a:srgbClr val="33464B"/>
                </a:solidFill>
                <a:latin typeface="Inter" panose="02000503000000020004" pitchFamily="2" charset="0"/>
                <a:ea typeface="Inter" panose="02000503000000020004" pitchFamily="2" charset="0"/>
                <a:cs typeface="IBM Plex Sans" pitchFamily="34" charset="-120"/>
              </a:rPr>
              <a:t>The forest was chosen for the highest macro-F1, a firmer hold on the minority High tier, and feature importances a clinician can interrogate without a second model to explain the first.</a:t>
            </a:r>
            <a:endParaRPr lang="en-US" sz="2100" dirty="0"/>
          </a:p>
        </p:txBody>
      </p:sp>
      <p:sp>
        <p:nvSpPr>
          <p:cNvPr id="25" name="Shape 0">
            <a:extLst>
              <a:ext uri="{FF2B5EF4-FFF2-40B4-BE49-F238E27FC236}">
                <a16:creationId xmlns:a16="http://schemas.microsoft.com/office/drawing/2014/main" id="{3345B07F-FEE2-98F0-8C3C-09497144B96A}"/>
              </a:ext>
            </a:extLst>
          </p:cNvPr>
          <p:cNvSpPr/>
          <p:nvPr/>
        </p:nvSpPr>
        <p:spPr>
          <a:xfrm>
            <a:off x="914400" y="710826"/>
            <a:ext cx="133350" cy="133350"/>
          </a:xfrm>
          <a:prstGeom prst="rect">
            <a:avLst/>
          </a:prstGeom>
          <a:solidFill>
            <a:srgbClr val="0B5C4A"/>
          </a:solidFill>
          <a:ln/>
        </p:spPr>
      </p:sp>
      <p:sp>
        <p:nvSpPr>
          <p:cNvPr id="26" name="Text 1">
            <a:extLst>
              <a:ext uri="{FF2B5EF4-FFF2-40B4-BE49-F238E27FC236}">
                <a16:creationId xmlns:a16="http://schemas.microsoft.com/office/drawing/2014/main" id="{30C2E680-E7B6-822D-284F-140D056CDE09}"/>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THE MACHINE LEARNING PIPELINE</a:t>
            </a:r>
            <a:endParaRPr lang="en-US" sz="2400" dirty="0"/>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7F7"/>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571500"/>
            <a:ext cx="814388" cy="247650"/>
          </a:xfrm>
          <a:prstGeom prst="rect">
            <a:avLst/>
          </a:prstGeom>
        </p:spPr>
      </p:pic>
      <p:sp>
        <p:nvSpPr>
          <p:cNvPr id="4" name="Text 1"/>
          <p:cNvSpPr/>
          <p:nvPr/>
        </p:nvSpPr>
        <p:spPr>
          <a:xfrm>
            <a:off x="857250" y="990600"/>
            <a:ext cx="1592580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The regimen is the unit of safety, not the single drug</a:t>
            </a:r>
            <a:endParaRPr lang="en-US" sz="3975" dirty="0"/>
          </a:p>
        </p:txBody>
      </p:sp>
      <p:sp>
        <p:nvSpPr>
          <p:cNvPr id="5" name="Shape 2"/>
          <p:cNvSpPr/>
          <p:nvPr/>
        </p:nvSpPr>
        <p:spPr>
          <a:xfrm>
            <a:off x="857250" y="3496469"/>
            <a:ext cx="9639300" cy="2411016"/>
          </a:xfrm>
          <a:prstGeom prst="roundRect">
            <a:avLst>
              <a:gd name="adj" fmla="val 7901"/>
            </a:avLst>
          </a:prstGeom>
          <a:solidFill>
            <a:srgbClr val="FFFFFF"/>
          </a:solidFill>
          <a:ln w="6350">
            <a:solidFill>
              <a:srgbClr val="E1EEEC"/>
            </a:solidFill>
            <a:prstDash val="solid"/>
          </a:ln>
        </p:spPr>
      </p:sp>
      <p:sp>
        <p:nvSpPr>
          <p:cNvPr id="6" name="Text 3"/>
          <p:cNvSpPr/>
          <p:nvPr/>
        </p:nvSpPr>
        <p:spPr>
          <a:xfrm>
            <a:off x="1225550" y="3845719"/>
            <a:ext cx="9169781" cy="1750616"/>
          </a:xfrm>
          <a:prstGeom prst="rect">
            <a:avLst/>
          </a:prstGeom>
          <a:noFill/>
          <a:ln/>
        </p:spPr>
        <p:txBody>
          <a:bodyPr wrap="square" lIns="25400" tIns="25400" rIns="25400" bIns="25400" rtlCol="0" anchor="t">
            <a:normAutofit/>
          </a:bodyPr>
          <a:lstStyle/>
          <a:p>
            <a:pPr marL="0" indent="0" algn="l">
              <a:lnSpc>
                <a:spcPct val="118289"/>
              </a:lnSpc>
              <a:buNone/>
            </a:pPr>
            <a:r>
              <a:rPr lang="en-US" sz="2175" dirty="0">
                <a:solidFill>
                  <a:srgbClr val="33464B"/>
                </a:solidFill>
                <a:latin typeface="Inter" panose="02000503000000020004" pitchFamily="2" charset="0"/>
                <a:ea typeface="Inter" panose="02000503000000020004" pitchFamily="2" charset="0"/>
                <a:cs typeface="IBM Plex Sans" pitchFamily="34" charset="-120"/>
              </a:rPr>
              <a:t>The dashboard opens on the current status of everything the user is taking. Drugs are added through autocomplete over 252,046 synonyms, so a brand name or a misspelling still resolves to one normalised medicine.</a:t>
            </a:r>
            <a:endParaRPr lang="en-US" sz="2175" dirty="0"/>
          </a:p>
        </p:txBody>
      </p:sp>
      <p:sp>
        <p:nvSpPr>
          <p:cNvPr id="7" name="Shape 4"/>
          <p:cNvSpPr/>
          <p:nvPr/>
        </p:nvSpPr>
        <p:spPr>
          <a:xfrm>
            <a:off x="857250" y="6117035"/>
            <a:ext cx="9639300" cy="1925836"/>
          </a:xfrm>
          <a:prstGeom prst="roundRect">
            <a:avLst>
              <a:gd name="adj" fmla="val 9892"/>
            </a:avLst>
          </a:prstGeom>
          <a:solidFill>
            <a:srgbClr val="016359"/>
          </a:solidFill>
          <a:ln/>
        </p:spPr>
      </p:sp>
      <p:sp>
        <p:nvSpPr>
          <p:cNvPr id="8" name="Text 5"/>
          <p:cNvSpPr/>
          <p:nvPr/>
        </p:nvSpPr>
        <p:spPr>
          <a:xfrm>
            <a:off x="1219200" y="6459935"/>
            <a:ext cx="9182862" cy="1278136"/>
          </a:xfrm>
          <a:prstGeom prst="rect">
            <a:avLst/>
          </a:prstGeom>
          <a:noFill/>
          <a:ln/>
        </p:spPr>
        <p:txBody>
          <a:bodyPr wrap="square" lIns="25400" tIns="25400" rIns="25400" bIns="25400" rtlCol="0" anchor="t">
            <a:normAutofit/>
          </a:bodyPr>
          <a:lstStyle/>
          <a:p>
            <a:pPr marL="0" indent="0" algn="l">
              <a:lnSpc>
                <a:spcPct val="118364"/>
              </a:lnSpc>
              <a:buNone/>
            </a:pPr>
            <a:r>
              <a:rPr lang="en-US" sz="2100" dirty="0">
                <a:solidFill>
                  <a:srgbClr val="CFEAE6"/>
                </a:solidFill>
                <a:latin typeface="Inter" panose="02000503000000020004" pitchFamily="2" charset="0"/>
                <a:ea typeface="Inter" panose="02000503000000020004" pitchFamily="2" charset="0"/>
                <a:cs typeface="IBM Plex Sans" pitchFamily="34" charset="-120"/>
              </a:rPr>
              <a:t>Adding or removing a medicine re-screens the whole list immediately. There is no separate check button to forget, and the lookup runs against the bundled database with no network call.</a:t>
            </a:r>
            <a:endParaRPr lang="en-US" sz="2100" dirty="0"/>
          </a:p>
        </p:txBody>
      </p:sp>
      <p:sp>
        <p:nvSpPr>
          <p:cNvPr id="9" name="Shape 6"/>
          <p:cNvSpPr/>
          <p:nvPr/>
        </p:nvSpPr>
        <p:spPr>
          <a:xfrm>
            <a:off x="10953750" y="2251373"/>
            <a:ext cx="3028950" cy="6518374"/>
          </a:xfrm>
          <a:prstGeom prst="roundRect">
            <a:avLst>
              <a:gd name="adj" fmla="val 10063"/>
            </a:avLst>
          </a:prstGeom>
          <a:solidFill>
            <a:srgbClr val="152428"/>
          </a:solidFill>
          <a:ln/>
        </p:spPr>
      </p:sp>
      <p:pic>
        <p:nvPicPr>
          <p:cNvPr id="10" name="Image 1" descr="preencoded.png"/>
          <p:cNvPicPr>
            <a:picLocks noChangeAspect="1"/>
          </p:cNvPicPr>
          <p:nvPr/>
        </p:nvPicPr>
        <p:blipFill>
          <a:blip r:embed="rId4"/>
          <a:stretch>
            <a:fillRect/>
          </a:stretch>
        </p:blipFill>
        <p:spPr>
          <a:xfrm>
            <a:off x="11039475" y="2337098"/>
            <a:ext cx="2857500" cy="6346924"/>
          </a:xfrm>
          <a:prstGeom prst="roundRect">
            <a:avLst>
              <a:gd name="adj" fmla="val 8074"/>
            </a:avLst>
          </a:prstGeom>
        </p:spPr>
      </p:pic>
      <p:sp>
        <p:nvSpPr>
          <p:cNvPr id="11" name="Text 7"/>
          <p:cNvSpPr/>
          <p:nvPr/>
        </p:nvSpPr>
        <p:spPr>
          <a:xfrm>
            <a:off x="11497767" y="8941197"/>
            <a:ext cx="2134900" cy="384770"/>
          </a:xfrm>
          <a:prstGeom prst="rect">
            <a:avLst/>
          </a:prstGeom>
          <a:noFill/>
          <a:ln/>
        </p:spPr>
        <p:txBody>
          <a:bodyPr wrap="square" lIns="25400" tIns="25400" rIns="25400" bIns="25400" rtlCol="0" anchor="t">
            <a:normAutofit/>
          </a:bodyPr>
          <a:lstStyle/>
          <a:p>
            <a:pPr marL="0" indent="0" algn="l">
              <a:lnSpc>
                <a:spcPct val="107059"/>
              </a:lnSpc>
              <a:buNone/>
            </a:pPr>
            <a:r>
              <a:rPr lang="en-US" sz="1950" dirty="0">
                <a:solidFill>
                  <a:srgbClr val="33464B"/>
                </a:solidFill>
                <a:latin typeface="Inter" panose="02000503000000020004" pitchFamily="2" charset="0"/>
                <a:ea typeface="Inter" panose="02000503000000020004" pitchFamily="2" charset="0"/>
                <a:cs typeface="IBM Plex Sans" pitchFamily="34" charset="-120"/>
              </a:rPr>
              <a:t>Home dashboard</a:t>
            </a:r>
            <a:endParaRPr lang="en-US" sz="1950" dirty="0"/>
          </a:p>
        </p:txBody>
      </p:sp>
      <p:sp>
        <p:nvSpPr>
          <p:cNvPr id="12" name="Shape 8"/>
          <p:cNvSpPr/>
          <p:nvPr/>
        </p:nvSpPr>
        <p:spPr>
          <a:xfrm>
            <a:off x="14401800" y="2251373"/>
            <a:ext cx="3028950" cy="6518374"/>
          </a:xfrm>
          <a:prstGeom prst="roundRect">
            <a:avLst>
              <a:gd name="adj" fmla="val 10063"/>
            </a:avLst>
          </a:prstGeom>
          <a:solidFill>
            <a:srgbClr val="152428"/>
          </a:solidFill>
          <a:ln/>
        </p:spPr>
      </p:sp>
      <p:pic>
        <p:nvPicPr>
          <p:cNvPr id="13" name="Image 2" descr="preencoded.png"/>
          <p:cNvPicPr>
            <a:picLocks noChangeAspect="1"/>
          </p:cNvPicPr>
          <p:nvPr/>
        </p:nvPicPr>
        <p:blipFill>
          <a:blip r:embed="rId5"/>
          <a:stretch>
            <a:fillRect/>
          </a:stretch>
        </p:blipFill>
        <p:spPr>
          <a:xfrm>
            <a:off x="14487525" y="2337098"/>
            <a:ext cx="2857500" cy="6346924"/>
          </a:xfrm>
          <a:prstGeom prst="roundRect">
            <a:avLst>
              <a:gd name="adj" fmla="val 7186"/>
            </a:avLst>
          </a:prstGeom>
        </p:spPr>
      </p:pic>
      <p:sp>
        <p:nvSpPr>
          <p:cNvPr id="14" name="Text 9"/>
          <p:cNvSpPr/>
          <p:nvPr/>
        </p:nvSpPr>
        <p:spPr>
          <a:xfrm>
            <a:off x="15237123" y="8941197"/>
            <a:ext cx="1494026" cy="384770"/>
          </a:xfrm>
          <a:prstGeom prst="rect">
            <a:avLst/>
          </a:prstGeom>
          <a:noFill/>
          <a:ln/>
        </p:spPr>
        <p:txBody>
          <a:bodyPr wrap="square" lIns="25400" tIns="25400" rIns="25400" bIns="25400" rtlCol="0" anchor="t">
            <a:normAutofit/>
          </a:bodyPr>
          <a:lstStyle/>
          <a:p>
            <a:pPr marL="0" indent="0" algn="l">
              <a:lnSpc>
                <a:spcPct val="107059"/>
              </a:lnSpc>
              <a:buNone/>
            </a:pPr>
            <a:r>
              <a:rPr lang="en-US" sz="1950" dirty="0">
                <a:solidFill>
                  <a:srgbClr val="33464B"/>
                </a:solidFill>
                <a:latin typeface="Inter" panose="02000503000000020004" pitchFamily="2" charset="0"/>
                <a:ea typeface="Inter" panose="02000503000000020004" pitchFamily="2" charset="0"/>
                <a:cs typeface="IBM Plex Sans" pitchFamily="34" charset="-120"/>
              </a:rPr>
              <a:t>Drug search</a:t>
            </a:r>
            <a:endParaRPr lang="en-US" sz="1950" dirty="0"/>
          </a:p>
        </p:txBody>
      </p:sp>
      <p:sp>
        <p:nvSpPr>
          <p:cNvPr id="15" name="Shape 0">
            <a:extLst>
              <a:ext uri="{FF2B5EF4-FFF2-40B4-BE49-F238E27FC236}">
                <a16:creationId xmlns:a16="http://schemas.microsoft.com/office/drawing/2014/main" id="{47B54536-C7D3-60C6-3C08-0D508AF61E41}"/>
              </a:ext>
            </a:extLst>
          </p:cNvPr>
          <p:cNvSpPr/>
          <p:nvPr/>
        </p:nvSpPr>
        <p:spPr>
          <a:xfrm>
            <a:off x="914400" y="710826"/>
            <a:ext cx="133350" cy="133350"/>
          </a:xfrm>
          <a:prstGeom prst="rect">
            <a:avLst/>
          </a:prstGeom>
          <a:solidFill>
            <a:srgbClr val="0B5C4A"/>
          </a:solidFill>
          <a:ln/>
        </p:spPr>
      </p:sp>
      <p:sp>
        <p:nvSpPr>
          <p:cNvPr id="16" name="Text 1">
            <a:extLst>
              <a:ext uri="{FF2B5EF4-FFF2-40B4-BE49-F238E27FC236}">
                <a16:creationId xmlns:a16="http://schemas.microsoft.com/office/drawing/2014/main" id="{592B6305-43AD-B61C-09CE-2576848B9AA4}"/>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IMPLEMENTATIONS: HOME &amp; SEARCH SCREEN</a:t>
            </a:r>
            <a:endParaRPr lang="en-US" sz="2400" dirty="0"/>
          </a:p>
        </p:txBody>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7F7"/>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571500"/>
            <a:ext cx="814388" cy="247650"/>
          </a:xfrm>
          <a:prstGeom prst="rect">
            <a:avLst/>
          </a:prstGeom>
        </p:spPr>
      </p:pic>
      <p:sp>
        <p:nvSpPr>
          <p:cNvPr id="4" name="Text 1"/>
          <p:cNvSpPr/>
          <p:nvPr/>
        </p:nvSpPr>
        <p:spPr>
          <a:xfrm>
            <a:off x="857250" y="990600"/>
            <a:ext cx="1592580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Four checks, one verdict, in plain language</a:t>
            </a:r>
            <a:endParaRPr lang="en-US" sz="3975" dirty="0"/>
          </a:p>
        </p:txBody>
      </p:sp>
      <p:sp>
        <p:nvSpPr>
          <p:cNvPr id="5" name="Shape 2"/>
          <p:cNvSpPr/>
          <p:nvPr/>
        </p:nvSpPr>
        <p:spPr>
          <a:xfrm>
            <a:off x="857250" y="2810470"/>
            <a:ext cx="9639300" cy="1906687"/>
          </a:xfrm>
          <a:prstGeom prst="roundRect">
            <a:avLst>
              <a:gd name="adj" fmla="val 9991"/>
            </a:avLst>
          </a:prstGeom>
          <a:solidFill>
            <a:srgbClr val="FFFFFF"/>
          </a:solidFill>
          <a:ln w="6350">
            <a:solidFill>
              <a:srgbClr val="E1EEEC"/>
            </a:solidFill>
            <a:prstDash val="solid"/>
          </a:ln>
        </p:spPr>
      </p:sp>
      <p:sp>
        <p:nvSpPr>
          <p:cNvPr id="6" name="Text 3"/>
          <p:cNvSpPr/>
          <p:nvPr/>
        </p:nvSpPr>
        <p:spPr>
          <a:xfrm>
            <a:off x="1206500" y="3121621"/>
            <a:ext cx="9209024" cy="1322487"/>
          </a:xfrm>
          <a:prstGeom prst="rect">
            <a:avLst/>
          </a:prstGeom>
          <a:noFill/>
          <a:ln/>
        </p:spPr>
        <p:txBody>
          <a:bodyPr wrap="square" lIns="25400" tIns="25400" rIns="25400" bIns="25400" rtlCol="0" anchor="t">
            <a:normAutofit/>
          </a:bodyPr>
          <a:lstStyle/>
          <a:p>
            <a:pPr marL="0" indent="0" algn="l">
              <a:lnSpc>
                <a:spcPct val="118289"/>
              </a:lnSpc>
              <a:buNone/>
            </a:pPr>
            <a:r>
              <a:rPr lang="en-US" sz="2175" dirty="0">
                <a:solidFill>
                  <a:srgbClr val="33464B"/>
                </a:solidFill>
                <a:latin typeface="Inter" panose="02000503000000020004" pitchFamily="2" charset="0"/>
                <a:ea typeface="Inter" panose="02000503000000020004" pitchFamily="2" charset="0"/>
                <a:cs typeface="IBM Plex Sans" pitchFamily="34" charset="-120"/>
              </a:rPr>
              <a:t>Interactions, food conflicts, duplicate therapy and allergies resolve into a single verdict equal to the highest tier present. The report then says what to do about it, ordered by how much it matters.</a:t>
            </a:r>
            <a:endParaRPr lang="en-US" sz="2175" dirty="0"/>
          </a:p>
        </p:txBody>
      </p:sp>
      <p:grpSp>
        <p:nvGrpSpPr>
          <p:cNvPr id="33" name="Group 32">
            <a:extLst>
              <a:ext uri="{FF2B5EF4-FFF2-40B4-BE49-F238E27FC236}">
                <a16:creationId xmlns:a16="http://schemas.microsoft.com/office/drawing/2014/main" id="{6DB37C32-47AC-81A1-9C1B-0D88D31C611B}"/>
              </a:ext>
            </a:extLst>
          </p:cNvPr>
          <p:cNvGrpSpPr/>
          <p:nvPr/>
        </p:nvGrpSpPr>
        <p:grpSpPr>
          <a:xfrm>
            <a:off x="863591" y="5063976"/>
            <a:ext cx="2520000" cy="1906687"/>
            <a:chOff x="863591" y="5063976"/>
            <a:chExt cx="2520000" cy="1906687"/>
          </a:xfrm>
        </p:grpSpPr>
        <p:sp>
          <p:nvSpPr>
            <p:cNvPr id="7" name="Shape 4"/>
            <p:cNvSpPr/>
            <p:nvPr/>
          </p:nvSpPr>
          <p:spPr>
            <a:xfrm>
              <a:off x="863591" y="5063976"/>
              <a:ext cx="2520000" cy="1906687"/>
            </a:xfrm>
            <a:prstGeom prst="roundRect">
              <a:avLst>
                <a:gd name="adj" fmla="val 6826"/>
              </a:avLst>
            </a:prstGeom>
            <a:solidFill>
              <a:srgbClr val="FFFFFF"/>
            </a:solidFill>
            <a:ln w="19050">
              <a:solidFill>
                <a:srgbClr val="016359"/>
              </a:solidFill>
              <a:prstDash val="solid"/>
            </a:ln>
          </p:spPr>
        </p:sp>
        <p:grpSp>
          <p:nvGrpSpPr>
            <p:cNvPr id="30" name="Group 29">
              <a:extLst>
                <a:ext uri="{FF2B5EF4-FFF2-40B4-BE49-F238E27FC236}">
                  <a16:creationId xmlns:a16="http://schemas.microsoft.com/office/drawing/2014/main" id="{A5CC76A3-EBF5-B4F7-F68A-8CE8EDB855CC}"/>
                </a:ext>
              </a:extLst>
            </p:cNvPr>
            <p:cNvGrpSpPr/>
            <p:nvPr/>
          </p:nvGrpSpPr>
          <p:grpSpPr>
            <a:xfrm>
              <a:off x="1206500" y="5192246"/>
              <a:ext cx="1807552" cy="1535331"/>
              <a:chOff x="1206500" y="5192246"/>
              <a:chExt cx="1807552" cy="1535331"/>
            </a:xfrm>
          </p:grpSpPr>
          <p:sp>
            <p:nvSpPr>
              <p:cNvPr id="8" name="Shape 5"/>
              <p:cNvSpPr/>
              <p:nvPr/>
            </p:nvSpPr>
            <p:spPr>
              <a:xfrm>
                <a:off x="1853101" y="5298926"/>
                <a:ext cx="514350" cy="514350"/>
              </a:xfrm>
              <a:prstGeom prst="roundRect">
                <a:avLst>
                  <a:gd name="adj" fmla="val 29630"/>
                </a:avLst>
              </a:prstGeom>
              <a:solidFill>
                <a:srgbClr val="016359"/>
              </a:solidFill>
              <a:ln/>
            </p:spPr>
          </p:sp>
          <p:sp>
            <p:nvSpPr>
              <p:cNvPr id="9" name="Text 6"/>
              <p:cNvSpPr/>
              <p:nvPr/>
            </p:nvSpPr>
            <p:spPr>
              <a:xfrm>
                <a:off x="1815001" y="5192246"/>
                <a:ext cx="590550" cy="552450"/>
              </a:xfrm>
              <a:prstGeom prst="rect">
                <a:avLst/>
              </a:prstGeom>
              <a:noFill/>
              <a:ln/>
            </p:spPr>
            <p:txBody>
              <a:bodyPr wrap="square" lIns="25400" tIns="25400" rIns="25400" bIns="25400" rtlCol="0" anchor="t">
                <a:normAutofit/>
              </a:bodyPr>
              <a:lstStyle/>
              <a:p>
                <a:pPr marL="0" indent="0" algn="ctr">
                  <a:lnSpc>
                    <a:spcPct val="192857"/>
                  </a:lnSpc>
                  <a:buNone/>
                </a:pPr>
                <a:r>
                  <a:rPr lang="en-US" sz="1950" b="1" dirty="0">
                    <a:solidFill>
                      <a:srgbClr val="FFFFFF"/>
                    </a:solidFill>
                    <a:latin typeface="Inter" panose="02000503000000020004" pitchFamily="2" charset="0"/>
                    <a:ea typeface="Inter" panose="02000503000000020004" pitchFamily="2" charset="0"/>
                    <a:cs typeface="Archivo" pitchFamily="34" charset="-120"/>
                  </a:rPr>
                  <a:t>1</a:t>
                </a:r>
                <a:endParaRPr lang="en-US" sz="1950" dirty="0"/>
              </a:p>
            </p:txBody>
          </p:sp>
          <p:sp>
            <p:nvSpPr>
              <p:cNvPr id="10" name="Text 7"/>
              <p:cNvSpPr/>
              <p:nvPr/>
            </p:nvSpPr>
            <p:spPr>
              <a:xfrm>
                <a:off x="1815001" y="5946626"/>
                <a:ext cx="590550" cy="358080"/>
              </a:xfrm>
              <a:prstGeom prst="rect">
                <a:avLst/>
              </a:prstGeom>
              <a:noFill/>
              <a:ln/>
            </p:spPr>
            <p:txBody>
              <a:bodyPr wrap="square" lIns="25400" tIns="25400" rIns="25400" bIns="25400" rtlCol="0" anchor="t">
                <a:normAutofit fontScale="92500"/>
              </a:bodyPr>
              <a:lstStyle/>
              <a:p>
                <a:pPr marL="0" indent="0" algn="ctr">
                  <a:lnSpc>
                    <a:spcPct val="109565"/>
                  </a:lnSpc>
                  <a:buNone/>
                </a:pPr>
                <a:r>
                  <a:rPr lang="en-US" sz="2100" b="1" dirty="0">
                    <a:solidFill>
                      <a:srgbClr val="016359"/>
                    </a:solidFill>
                    <a:latin typeface="Inter" panose="02000503000000020004" pitchFamily="2" charset="0"/>
                    <a:ea typeface="Inter" panose="02000503000000020004" pitchFamily="2" charset="0"/>
                    <a:cs typeface="Archivo" pitchFamily="34" charset="-120"/>
                  </a:rPr>
                  <a:t>Low</a:t>
                </a:r>
                <a:endParaRPr lang="en-US" sz="2100" dirty="0"/>
              </a:p>
            </p:txBody>
          </p:sp>
          <p:sp>
            <p:nvSpPr>
              <p:cNvPr id="11" name="Text 8"/>
              <p:cNvSpPr/>
              <p:nvPr/>
            </p:nvSpPr>
            <p:spPr>
              <a:xfrm>
                <a:off x="1206500" y="6342807"/>
                <a:ext cx="1807552" cy="384770"/>
              </a:xfrm>
              <a:prstGeom prst="rect">
                <a:avLst/>
              </a:prstGeom>
              <a:noFill/>
              <a:ln/>
            </p:spPr>
            <p:txBody>
              <a:bodyPr wrap="square" lIns="25400" tIns="25400" rIns="25400" bIns="25400" rtlCol="0" anchor="t">
                <a:normAutofit/>
              </a:bodyPr>
              <a:lstStyle/>
              <a:p>
                <a:pPr marL="0" indent="0" algn="ctr">
                  <a:lnSpc>
                    <a:spcPct val="107059"/>
                  </a:lnSpc>
                  <a:buNone/>
                </a:pPr>
                <a:r>
                  <a:rPr lang="en-US" dirty="0">
                    <a:solidFill>
                      <a:srgbClr val="6F7D81"/>
                    </a:solidFill>
                    <a:latin typeface="Inter" panose="02000503000000020004" pitchFamily="2" charset="0"/>
                    <a:ea typeface="Inter" panose="02000503000000020004" pitchFamily="2" charset="0"/>
                    <a:cs typeface="IBM Plex Sans" pitchFamily="34" charset="-120"/>
                  </a:rPr>
                  <a:t>No alert raised</a:t>
                </a:r>
                <a:endParaRPr lang="en-US" dirty="0"/>
              </a:p>
            </p:txBody>
          </p:sp>
        </p:grpSp>
      </p:grpSp>
      <p:grpSp>
        <p:nvGrpSpPr>
          <p:cNvPr id="32" name="Group 31">
            <a:extLst>
              <a:ext uri="{FF2B5EF4-FFF2-40B4-BE49-F238E27FC236}">
                <a16:creationId xmlns:a16="http://schemas.microsoft.com/office/drawing/2014/main" id="{40C7C53F-5F8E-DAAA-08A4-17CDA428F60E}"/>
              </a:ext>
            </a:extLst>
          </p:cNvPr>
          <p:cNvGrpSpPr/>
          <p:nvPr/>
        </p:nvGrpSpPr>
        <p:grpSpPr>
          <a:xfrm>
            <a:off x="4396517" y="5048477"/>
            <a:ext cx="2520000" cy="1923307"/>
            <a:chOff x="4222539" y="5048477"/>
            <a:chExt cx="2520000" cy="1923307"/>
          </a:xfrm>
        </p:grpSpPr>
        <p:sp>
          <p:nvSpPr>
            <p:cNvPr id="12" name="Shape 9"/>
            <p:cNvSpPr/>
            <p:nvPr/>
          </p:nvSpPr>
          <p:spPr>
            <a:xfrm>
              <a:off x="4222539" y="5048477"/>
              <a:ext cx="2520000" cy="1908000"/>
            </a:xfrm>
            <a:prstGeom prst="roundRect">
              <a:avLst>
                <a:gd name="adj" fmla="val 6826"/>
              </a:avLst>
            </a:prstGeom>
            <a:solidFill>
              <a:srgbClr val="FFFFFF"/>
            </a:solidFill>
            <a:ln w="19050">
              <a:solidFill>
                <a:srgbClr val="B45309"/>
              </a:solidFill>
              <a:prstDash val="solid"/>
            </a:ln>
          </p:spPr>
          <p:txBody>
            <a:bodyPr/>
            <a:lstStyle/>
            <a:p>
              <a:endParaRPr lang="en-US" dirty="0"/>
            </a:p>
          </p:txBody>
        </p:sp>
        <p:sp>
          <p:nvSpPr>
            <p:cNvPr id="13" name="Shape 10"/>
            <p:cNvSpPr/>
            <p:nvPr/>
          </p:nvSpPr>
          <p:spPr>
            <a:xfrm>
              <a:off x="5212050" y="5196462"/>
              <a:ext cx="514350" cy="514350"/>
            </a:xfrm>
            <a:prstGeom prst="roundRect">
              <a:avLst>
                <a:gd name="adj" fmla="val 29630"/>
              </a:avLst>
            </a:prstGeom>
            <a:solidFill>
              <a:srgbClr val="B45309"/>
            </a:solidFill>
            <a:ln/>
          </p:spPr>
        </p:sp>
        <p:sp>
          <p:nvSpPr>
            <p:cNvPr id="14" name="Text 11"/>
            <p:cNvSpPr/>
            <p:nvPr/>
          </p:nvSpPr>
          <p:spPr>
            <a:xfrm>
              <a:off x="5173950" y="5089782"/>
              <a:ext cx="590550" cy="552450"/>
            </a:xfrm>
            <a:prstGeom prst="rect">
              <a:avLst/>
            </a:prstGeom>
            <a:noFill/>
            <a:ln/>
          </p:spPr>
          <p:txBody>
            <a:bodyPr wrap="square" lIns="25400" tIns="25400" rIns="25400" bIns="25400" rtlCol="0" anchor="t">
              <a:normAutofit/>
            </a:bodyPr>
            <a:lstStyle/>
            <a:p>
              <a:pPr marL="0" indent="0" algn="ctr">
                <a:lnSpc>
                  <a:spcPct val="192857"/>
                </a:lnSpc>
                <a:buNone/>
              </a:pPr>
              <a:r>
                <a:rPr lang="en-US" sz="1950" b="1" dirty="0">
                  <a:solidFill>
                    <a:srgbClr val="FFFFFF"/>
                  </a:solidFill>
                  <a:latin typeface="Inter" panose="02000503000000020004" pitchFamily="2" charset="0"/>
                  <a:ea typeface="Inter" panose="02000503000000020004" pitchFamily="2" charset="0"/>
                  <a:cs typeface="Archivo" pitchFamily="34" charset="-120"/>
                </a:rPr>
                <a:t>2</a:t>
              </a:r>
              <a:endParaRPr lang="en-US" sz="1950" dirty="0"/>
            </a:p>
          </p:txBody>
        </p:sp>
        <p:sp>
          <p:nvSpPr>
            <p:cNvPr id="15" name="Text 12"/>
            <p:cNvSpPr/>
            <p:nvPr/>
          </p:nvSpPr>
          <p:spPr>
            <a:xfrm>
              <a:off x="4796125" y="5844162"/>
              <a:ext cx="1346300" cy="358080"/>
            </a:xfrm>
            <a:prstGeom prst="rect">
              <a:avLst/>
            </a:prstGeom>
            <a:noFill/>
            <a:ln/>
          </p:spPr>
          <p:txBody>
            <a:bodyPr wrap="square" lIns="25400" tIns="25400" rIns="25400" bIns="25400" rtlCol="0" anchor="t">
              <a:normAutofit fontScale="92500"/>
            </a:bodyPr>
            <a:lstStyle/>
            <a:p>
              <a:pPr marL="0" indent="0" algn="ctr">
                <a:lnSpc>
                  <a:spcPct val="109565"/>
                </a:lnSpc>
                <a:buNone/>
              </a:pPr>
              <a:r>
                <a:rPr lang="en-US" sz="2100" b="1" dirty="0">
                  <a:solidFill>
                    <a:srgbClr val="B45309"/>
                  </a:solidFill>
                  <a:latin typeface="Inter" panose="02000503000000020004" pitchFamily="2" charset="0"/>
                  <a:ea typeface="Inter" panose="02000503000000020004" pitchFamily="2" charset="0"/>
                  <a:cs typeface="Archivo" pitchFamily="34" charset="-120"/>
                </a:rPr>
                <a:t>Moderate</a:t>
              </a:r>
              <a:endParaRPr lang="en-US" sz="2100" dirty="0"/>
            </a:p>
          </p:txBody>
        </p:sp>
        <p:sp>
          <p:nvSpPr>
            <p:cNvPr id="16" name="Text 13"/>
            <p:cNvSpPr/>
            <p:nvPr/>
          </p:nvSpPr>
          <p:spPr>
            <a:xfrm>
              <a:off x="4370675" y="6240343"/>
              <a:ext cx="2197200" cy="731441"/>
            </a:xfrm>
            <a:prstGeom prst="rect">
              <a:avLst/>
            </a:prstGeom>
            <a:noFill/>
            <a:ln/>
          </p:spPr>
          <p:txBody>
            <a:bodyPr wrap="square" lIns="25400" tIns="25400" rIns="25400" bIns="25400" rtlCol="0" anchor="t">
              <a:normAutofit/>
            </a:bodyPr>
            <a:lstStyle/>
            <a:p>
              <a:pPr marL="0" indent="0" algn="ctr">
                <a:lnSpc>
                  <a:spcPct val="107059"/>
                </a:lnSpc>
                <a:buNone/>
              </a:pPr>
              <a:r>
                <a:rPr lang="en-US" dirty="0">
                  <a:solidFill>
                    <a:srgbClr val="6F7D81"/>
                  </a:solidFill>
                  <a:latin typeface="Inter" panose="02000503000000020004" pitchFamily="2" charset="0"/>
                  <a:ea typeface="Inter" panose="02000503000000020004" pitchFamily="2" charset="0"/>
                  <a:cs typeface="IBM Plex Sans" pitchFamily="34" charset="-120"/>
                </a:rPr>
                <a:t>Monitor or separate doses</a:t>
              </a:r>
              <a:endParaRPr lang="en-US" dirty="0"/>
            </a:p>
          </p:txBody>
        </p:sp>
      </p:grpSp>
      <p:grpSp>
        <p:nvGrpSpPr>
          <p:cNvPr id="31" name="Group 30">
            <a:extLst>
              <a:ext uri="{FF2B5EF4-FFF2-40B4-BE49-F238E27FC236}">
                <a16:creationId xmlns:a16="http://schemas.microsoft.com/office/drawing/2014/main" id="{1B8570F2-BC21-7DE1-2409-3A0F7C030FE3}"/>
              </a:ext>
            </a:extLst>
          </p:cNvPr>
          <p:cNvGrpSpPr/>
          <p:nvPr/>
        </p:nvGrpSpPr>
        <p:grpSpPr>
          <a:xfrm>
            <a:off x="7929443" y="5076051"/>
            <a:ext cx="2520000" cy="1908000"/>
            <a:chOff x="7929443" y="5076051"/>
            <a:chExt cx="2520000" cy="1908000"/>
          </a:xfrm>
        </p:grpSpPr>
        <p:sp>
          <p:nvSpPr>
            <p:cNvPr id="17" name="Shape 14"/>
            <p:cNvSpPr/>
            <p:nvPr/>
          </p:nvSpPr>
          <p:spPr>
            <a:xfrm>
              <a:off x="7929443" y="5076051"/>
              <a:ext cx="2520000" cy="1908000"/>
            </a:xfrm>
            <a:prstGeom prst="roundRect">
              <a:avLst>
                <a:gd name="adj" fmla="val 6826"/>
              </a:avLst>
            </a:prstGeom>
            <a:solidFill>
              <a:srgbClr val="FFFFFF"/>
            </a:solidFill>
            <a:ln w="19050">
              <a:solidFill>
                <a:srgbClr val="D93639"/>
              </a:solidFill>
              <a:prstDash val="solid"/>
            </a:ln>
          </p:spPr>
        </p:sp>
        <p:sp>
          <p:nvSpPr>
            <p:cNvPr id="18" name="Shape 15"/>
            <p:cNvSpPr/>
            <p:nvPr/>
          </p:nvSpPr>
          <p:spPr>
            <a:xfrm>
              <a:off x="8957050" y="5208729"/>
              <a:ext cx="514350" cy="514350"/>
            </a:xfrm>
            <a:prstGeom prst="roundRect">
              <a:avLst>
                <a:gd name="adj" fmla="val 29630"/>
              </a:avLst>
            </a:prstGeom>
            <a:solidFill>
              <a:srgbClr val="D93639"/>
            </a:solidFill>
            <a:ln/>
          </p:spPr>
        </p:sp>
        <p:sp>
          <p:nvSpPr>
            <p:cNvPr id="19" name="Text 16"/>
            <p:cNvSpPr/>
            <p:nvPr/>
          </p:nvSpPr>
          <p:spPr>
            <a:xfrm>
              <a:off x="8918950" y="5102049"/>
              <a:ext cx="590550" cy="552450"/>
            </a:xfrm>
            <a:prstGeom prst="rect">
              <a:avLst/>
            </a:prstGeom>
            <a:noFill/>
            <a:ln/>
          </p:spPr>
          <p:txBody>
            <a:bodyPr wrap="square" lIns="25400" tIns="25400" rIns="25400" bIns="25400" rtlCol="0" anchor="t">
              <a:normAutofit/>
            </a:bodyPr>
            <a:lstStyle/>
            <a:p>
              <a:pPr marL="0" indent="0" algn="ctr">
                <a:lnSpc>
                  <a:spcPct val="192857"/>
                </a:lnSpc>
                <a:buNone/>
              </a:pPr>
              <a:r>
                <a:rPr lang="en-US" sz="1950" b="1" dirty="0">
                  <a:solidFill>
                    <a:srgbClr val="FFFFFF"/>
                  </a:solidFill>
                  <a:latin typeface="Inter" panose="02000503000000020004" pitchFamily="2" charset="0"/>
                  <a:ea typeface="Inter" panose="02000503000000020004" pitchFamily="2" charset="0"/>
                  <a:cs typeface="Archivo" pitchFamily="34" charset="-120"/>
                </a:rPr>
                <a:t>3</a:t>
              </a:r>
              <a:endParaRPr lang="en-US" sz="1950" dirty="0"/>
            </a:p>
          </p:txBody>
        </p:sp>
        <p:sp>
          <p:nvSpPr>
            <p:cNvPr id="20" name="Text 17"/>
            <p:cNvSpPr/>
            <p:nvPr/>
          </p:nvSpPr>
          <p:spPr>
            <a:xfrm>
              <a:off x="8786692" y="5856429"/>
              <a:ext cx="855166" cy="358080"/>
            </a:xfrm>
            <a:prstGeom prst="rect">
              <a:avLst/>
            </a:prstGeom>
            <a:noFill/>
            <a:ln/>
          </p:spPr>
          <p:txBody>
            <a:bodyPr wrap="square" lIns="25400" tIns="25400" rIns="25400" bIns="25400" rtlCol="0" anchor="t">
              <a:normAutofit fontScale="92500"/>
            </a:bodyPr>
            <a:lstStyle/>
            <a:p>
              <a:pPr marL="0" indent="0" algn="ctr">
                <a:lnSpc>
                  <a:spcPct val="109565"/>
                </a:lnSpc>
                <a:buNone/>
              </a:pPr>
              <a:r>
                <a:rPr lang="en-US" sz="2100" b="1" dirty="0">
                  <a:solidFill>
                    <a:srgbClr val="D93639"/>
                  </a:solidFill>
                  <a:latin typeface="Inter" panose="02000503000000020004" pitchFamily="2" charset="0"/>
                  <a:ea typeface="Inter" panose="02000503000000020004" pitchFamily="2" charset="0"/>
                  <a:cs typeface="Archivo" pitchFamily="34" charset="-120"/>
                </a:rPr>
                <a:t>High</a:t>
              </a:r>
              <a:endParaRPr lang="en-US" sz="2100" dirty="0"/>
            </a:p>
          </p:txBody>
        </p:sp>
        <p:sp>
          <p:nvSpPr>
            <p:cNvPr id="21" name="Text 18"/>
            <p:cNvSpPr/>
            <p:nvPr/>
          </p:nvSpPr>
          <p:spPr>
            <a:xfrm>
              <a:off x="8170882" y="6252610"/>
              <a:ext cx="2086786" cy="731441"/>
            </a:xfrm>
            <a:prstGeom prst="rect">
              <a:avLst/>
            </a:prstGeom>
            <a:noFill/>
            <a:ln/>
          </p:spPr>
          <p:txBody>
            <a:bodyPr wrap="square" lIns="25400" tIns="25400" rIns="25400" bIns="25400" rtlCol="0" anchor="t">
              <a:normAutofit/>
            </a:bodyPr>
            <a:lstStyle/>
            <a:p>
              <a:pPr marL="0" indent="0" algn="ctr">
                <a:lnSpc>
                  <a:spcPct val="107059"/>
                </a:lnSpc>
                <a:buNone/>
              </a:pPr>
              <a:r>
                <a:rPr lang="en-US" dirty="0">
                  <a:solidFill>
                    <a:srgbClr val="6F7D81"/>
                  </a:solidFill>
                  <a:latin typeface="Inter" panose="02000503000000020004" pitchFamily="2" charset="0"/>
                  <a:ea typeface="Inter" panose="02000503000000020004" pitchFamily="2" charset="0"/>
                  <a:cs typeface="IBM Plex Sans" pitchFamily="34" charset="-120"/>
                </a:rPr>
                <a:t>Seek professional advice</a:t>
              </a:r>
              <a:endParaRPr lang="en-US" dirty="0"/>
            </a:p>
          </p:txBody>
        </p:sp>
      </p:grpSp>
      <p:sp>
        <p:nvSpPr>
          <p:cNvPr id="22" name="Shape 19"/>
          <p:cNvSpPr/>
          <p:nvPr/>
        </p:nvSpPr>
        <p:spPr>
          <a:xfrm>
            <a:off x="857250" y="7330678"/>
            <a:ext cx="9639300" cy="1398191"/>
          </a:xfrm>
          <a:prstGeom prst="roundRect">
            <a:avLst>
              <a:gd name="adj" fmla="val 13625"/>
            </a:avLst>
          </a:prstGeom>
          <a:solidFill>
            <a:srgbClr val="016359"/>
          </a:solidFill>
          <a:ln/>
        </p:spPr>
      </p:sp>
      <p:sp>
        <p:nvSpPr>
          <p:cNvPr id="23" name="Text 20"/>
          <p:cNvSpPr/>
          <p:nvPr/>
        </p:nvSpPr>
        <p:spPr>
          <a:xfrm>
            <a:off x="1200150" y="7616428"/>
            <a:ext cx="9222105" cy="864791"/>
          </a:xfrm>
          <a:prstGeom prst="rect">
            <a:avLst/>
          </a:prstGeom>
          <a:noFill/>
          <a:ln/>
        </p:spPr>
        <p:txBody>
          <a:bodyPr wrap="square" lIns="25400" tIns="25400" rIns="25400" bIns="25400" rtlCol="0" anchor="t">
            <a:normAutofit/>
          </a:bodyPr>
          <a:lstStyle/>
          <a:p>
            <a:pPr marL="0" indent="0" algn="l">
              <a:lnSpc>
                <a:spcPct val="118364"/>
              </a:lnSpc>
              <a:buNone/>
            </a:pPr>
            <a:r>
              <a:rPr lang="en-US" sz="2100" dirty="0">
                <a:solidFill>
                  <a:srgbClr val="CFEAE6"/>
                </a:solidFill>
                <a:latin typeface="Inter" panose="02000503000000020004" pitchFamily="2" charset="0"/>
                <a:ea typeface="Inter" panose="02000503000000020004" pitchFamily="2" charset="0"/>
                <a:cs typeface="IBM Plex Sans" pitchFamily="34" charset="-120"/>
              </a:rPr>
              <a:t>Severity is carried by the fill of the dial, the colour and the wording together, so it still reads for a user who cannot tell red from amber.</a:t>
            </a:r>
            <a:endParaRPr lang="en-US" sz="2100" dirty="0"/>
          </a:p>
        </p:txBody>
      </p:sp>
      <p:sp>
        <p:nvSpPr>
          <p:cNvPr id="24" name="Shape 21"/>
          <p:cNvSpPr/>
          <p:nvPr/>
        </p:nvSpPr>
        <p:spPr>
          <a:xfrm>
            <a:off x="10953750" y="2251373"/>
            <a:ext cx="3028950" cy="6518374"/>
          </a:xfrm>
          <a:prstGeom prst="roundRect">
            <a:avLst>
              <a:gd name="adj" fmla="val 10063"/>
            </a:avLst>
          </a:prstGeom>
          <a:solidFill>
            <a:srgbClr val="152428"/>
          </a:solidFill>
          <a:ln/>
        </p:spPr>
      </p:sp>
      <p:pic>
        <p:nvPicPr>
          <p:cNvPr id="25" name="Image 1" descr="preencoded.png"/>
          <p:cNvPicPr>
            <a:picLocks noChangeAspect="1"/>
          </p:cNvPicPr>
          <p:nvPr/>
        </p:nvPicPr>
        <p:blipFill>
          <a:blip r:embed="rId4"/>
          <a:stretch>
            <a:fillRect/>
          </a:stretch>
        </p:blipFill>
        <p:spPr>
          <a:xfrm>
            <a:off x="11039475" y="2337098"/>
            <a:ext cx="2857500" cy="6346924"/>
          </a:xfrm>
          <a:prstGeom prst="roundRect">
            <a:avLst>
              <a:gd name="adj" fmla="val 8667"/>
            </a:avLst>
          </a:prstGeom>
        </p:spPr>
      </p:pic>
      <p:sp>
        <p:nvSpPr>
          <p:cNvPr id="26" name="Text 22"/>
          <p:cNvSpPr/>
          <p:nvPr/>
        </p:nvSpPr>
        <p:spPr>
          <a:xfrm>
            <a:off x="11726069" y="8941197"/>
            <a:ext cx="1632635" cy="384770"/>
          </a:xfrm>
          <a:prstGeom prst="rect">
            <a:avLst/>
          </a:prstGeom>
          <a:noFill/>
          <a:ln/>
        </p:spPr>
        <p:txBody>
          <a:bodyPr wrap="square" lIns="25400" tIns="25400" rIns="25400" bIns="25400" rtlCol="0" anchor="t">
            <a:normAutofit/>
          </a:bodyPr>
          <a:lstStyle/>
          <a:p>
            <a:pPr marL="0" indent="0" algn="l">
              <a:lnSpc>
                <a:spcPct val="107059"/>
              </a:lnSpc>
              <a:buNone/>
            </a:pPr>
            <a:r>
              <a:rPr lang="en-US" sz="1950" dirty="0">
                <a:solidFill>
                  <a:srgbClr val="33464B"/>
                </a:solidFill>
                <a:latin typeface="Inter" panose="02000503000000020004" pitchFamily="2" charset="0"/>
                <a:ea typeface="Inter" panose="02000503000000020004" pitchFamily="2" charset="0"/>
                <a:cs typeface="IBM Plex Sans" pitchFamily="34" charset="-120"/>
              </a:rPr>
              <a:t>Safety report</a:t>
            </a:r>
            <a:endParaRPr lang="en-US" sz="1950" dirty="0"/>
          </a:p>
        </p:txBody>
      </p:sp>
      <p:sp>
        <p:nvSpPr>
          <p:cNvPr id="27" name="Shape 23"/>
          <p:cNvSpPr/>
          <p:nvPr/>
        </p:nvSpPr>
        <p:spPr>
          <a:xfrm>
            <a:off x="14401800" y="2251373"/>
            <a:ext cx="3028950" cy="6518374"/>
          </a:xfrm>
          <a:prstGeom prst="roundRect">
            <a:avLst>
              <a:gd name="adj" fmla="val 10063"/>
            </a:avLst>
          </a:prstGeom>
          <a:solidFill>
            <a:srgbClr val="152428"/>
          </a:solidFill>
          <a:ln/>
        </p:spPr>
      </p:sp>
      <p:pic>
        <p:nvPicPr>
          <p:cNvPr id="28" name="Image 2" descr="preencoded.png"/>
          <p:cNvPicPr>
            <a:picLocks noChangeAspect="1"/>
          </p:cNvPicPr>
          <p:nvPr/>
        </p:nvPicPr>
        <p:blipFill>
          <a:blip r:embed="rId5"/>
          <a:stretch>
            <a:fillRect/>
          </a:stretch>
        </p:blipFill>
        <p:spPr>
          <a:xfrm>
            <a:off x="14487525" y="2337098"/>
            <a:ext cx="2857500" cy="6346924"/>
          </a:xfrm>
          <a:prstGeom prst="roundRect">
            <a:avLst>
              <a:gd name="adj" fmla="val 7111"/>
            </a:avLst>
          </a:prstGeom>
        </p:spPr>
      </p:pic>
      <p:sp>
        <p:nvSpPr>
          <p:cNvPr id="29" name="Text 24"/>
          <p:cNvSpPr/>
          <p:nvPr/>
        </p:nvSpPr>
        <p:spPr>
          <a:xfrm>
            <a:off x="14834196" y="8941197"/>
            <a:ext cx="2380466" cy="384770"/>
          </a:xfrm>
          <a:prstGeom prst="rect">
            <a:avLst/>
          </a:prstGeom>
          <a:noFill/>
          <a:ln/>
        </p:spPr>
        <p:txBody>
          <a:bodyPr wrap="square" lIns="25400" tIns="25400" rIns="25400" bIns="25400" rtlCol="0" anchor="t">
            <a:normAutofit/>
          </a:bodyPr>
          <a:lstStyle/>
          <a:p>
            <a:pPr marL="0" indent="0" algn="l">
              <a:lnSpc>
                <a:spcPct val="107059"/>
              </a:lnSpc>
              <a:buNone/>
            </a:pPr>
            <a:r>
              <a:rPr lang="en-US" sz="1950" dirty="0">
                <a:solidFill>
                  <a:srgbClr val="33464B"/>
                </a:solidFill>
                <a:latin typeface="Inter" panose="02000503000000020004" pitchFamily="2" charset="0"/>
                <a:ea typeface="Inter" panose="02000503000000020004" pitchFamily="2" charset="0"/>
                <a:cs typeface="IBM Plex Sans" pitchFamily="34" charset="-120"/>
              </a:rPr>
              <a:t>Regimen risk panel</a:t>
            </a:r>
            <a:endParaRPr lang="en-US" sz="1950" dirty="0"/>
          </a:p>
        </p:txBody>
      </p:sp>
      <p:sp>
        <p:nvSpPr>
          <p:cNvPr id="34" name="Shape 0">
            <a:extLst>
              <a:ext uri="{FF2B5EF4-FFF2-40B4-BE49-F238E27FC236}">
                <a16:creationId xmlns:a16="http://schemas.microsoft.com/office/drawing/2014/main" id="{3853123E-8880-5FB3-1E03-A31A434B076C}"/>
              </a:ext>
            </a:extLst>
          </p:cNvPr>
          <p:cNvSpPr/>
          <p:nvPr/>
        </p:nvSpPr>
        <p:spPr>
          <a:xfrm>
            <a:off x="914400" y="710826"/>
            <a:ext cx="133350" cy="133350"/>
          </a:xfrm>
          <a:prstGeom prst="rect">
            <a:avLst/>
          </a:prstGeom>
          <a:solidFill>
            <a:srgbClr val="0B5C4A"/>
          </a:solidFill>
          <a:ln/>
        </p:spPr>
      </p:sp>
      <p:sp>
        <p:nvSpPr>
          <p:cNvPr id="35" name="Text 1">
            <a:extLst>
              <a:ext uri="{FF2B5EF4-FFF2-40B4-BE49-F238E27FC236}">
                <a16:creationId xmlns:a16="http://schemas.microsoft.com/office/drawing/2014/main" id="{81E54206-5BEF-20FB-1E13-8E6ED4E75F0E}"/>
              </a:ext>
            </a:extLst>
          </p:cNvPr>
          <p:cNvSpPr/>
          <p:nvPr/>
        </p:nvSpPr>
        <p:spPr>
          <a:xfrm>
            <a:off x="1219200" y="574114"/>
            <a:ext cx="7865534"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IMPLEMENTATION: SAFETY REPORT AND REGIMEN RISK </a:t>
            </a:r>
            <a:endParaRPr lang="en-US" sz="2400" dirty="0"/>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7F7"/>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571500"/>
            <a:ext cx="814388" cy="247650"/>
          </a:xfrm>
          <a:prstGeom prst="rect">
            <a:avLst/>
          </a:prstGeom>
        </p:spPr>
      </p:pic>
      <p:sp>
        <p:nvSpPr>
          <p:cNvPr id="4" name="Text 1"/>
          <p:cNvSpPr/>
          <p:nvPr/>
        </p:nvSpPr>
        <p:spPr>
          <a:xfrm>
            <a:off x="857250" y="990600"/>
            <a:ext cx="1592580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Safety continues after the check</a:t>
            </a:r>
            <a:endParaRPr lang="en-US" sz="3975" dirty="0"/>
          </a:p>
        </p:txBody>
      </p:sp>
      <p:sp>
        <p:nvSpPr>
          <p:cNvPr id="5" name="Shape 2"/>
          <p:cNvSpPr/>
          <p:nvPr/>
        </p:nvSpPr>
        <p:spPr>
          <a:xfrm>
            <a:off x="857250" y="3710484"/>
            <a:ext cx="9639300" cy="1982887"/>
          </a:xfrm>
          <a:prstGeom prst="roundRect">
            <a:avLst>
              <a:gd name="adj" fmla="val 9607"/>
            </a:avLst>
          </a:prstGeom>
          <a:solidFill>
            <a:srgbClr val="FFFFFF"/>
          </a:solidFill>
          <a:ln w="6350">
            <a:solidFill>
              <a:srgbClr val="E1EEEC"/>
            </a:solidFill>
            <a:prstDash val="solid"/>
          </a:ln>
        </p:spPr>
      </p:sp>
      <p:sp>
        <p:nvSpPr>
          <p:cNvPr id="6" name="Text 3"/>
          <p:cNvSpPr/>
          <p:nvPr/>
        </p:nvSpPr>
        <p:spPr>
          <a:xfrm>
            <a:off x="1225550" y="4059734"/>
            <a:ext cx="9169781" cy="1322487"/>
          </a:xfrm>
          <a:prstGeom prst="rect">
            <a:avLst/>
          </a:prstGeom>
          <a:noFill/>
          <a:ln/>
        </p:spPr>
        <p:txBody>
          <a:bodyPr wrap="square" lIns="25400" tIns="25400" rIns="25400" bIns="25400" rtlCol="0" anchor="t">
            <a:normAutofit/>
          </a:bodyPr>
          <a:lstStyle/>
          <a:p>
            <a:pPr marL="0" indent="0" algn="l">
              <a:lnSpc>
                <a:spcPct val="118289"/>
              </a:lnSpc>
              <a:buNone/>
            </a:pPr>
            <a:r>
              <a:rPr lang="en-US" sz="2175" dirty="0">
                <a:solidFill>
                  <a:srgbClr val="33464B"/>
                </a:solidFill>
                <a:latin typeface="Inter" panose="02000503000000020004" pitchFamily="2" charset="0"/>
                <a:ea typeface="Inter" panose="02000503000000020004" pitchFamily="2" charset="0"/>
                <a:cs typeface="IBM Plex Sans" pitchFamily="34" charset="-120"/>
              </a:rPr>
              <a:t>Dose scheduling, reminders, refill tracking and a QR emergency card. Every one of these runs against the bundled database, with the network switched off.</a:t>
            </a:r>
            <a:endParaRPr lang="en-US" sz="2175" dirty="0"/>
          </a:p>
        </p:txBody>
      </p:sp>
      <p:sp>
        <p:nvSpPr>
          <p:cNvPr id="7" name="Shape 4"/>
          <p:cNvSpPr/>
          <p:nvPr/>
        </p:nvSpPr>
        <p:spPr>
          <a:xfrm>
            <a:off x="857250" y="5902921"/>
            <a:ext cx="9639300" cy="1925836"/>
          </a:xfrm>
          <a:prstGeom prst="roundRect">
            <a:avLst>
              <a:gd name="adj" fmla="val 9892"/>
            </a:avLst>
          </a:prstGeom>
          <a:solidFill>
            <a:srgbClr val="016359"/>
          </a:solidFill>
          <a:ln/>
        </p:spPr>
      </p:sp>
      <p:sp>
        <p:nvSpPr>
          <p:cNvPr id="8" name="Text 5"/>
          <p:cNvSpPr/>
          <p:nvPr/>
        </p:nvSpPr>
        <p:spPr>
          <a:xfrm>
            <a:off x="1219200" y="6245821"/>
            <a:ext cx="9182862" cy="1278136"/>
          </a:xfrm>
          <a:prstGeom prst="rect">
            <a:avLst/>
          </a:prstGeom>
          <a:noFill/>
          <a:ln/>
        </p:spPr>
        <p:txBody>
          <a:bodyPr wrap="square" lIns="25400" tIns="25400" rIns="25400" bIns="25400" rtlCol="0" anchor="t">
            <a:normAutofit/>
          </a:bodyPr>
          <a:lstStyle/>
          <a:p>
            <a:pPr marL="0" indent="0" algn="l">
              <a:lnSpc>
                <a:spcPct val="118364"/>
              </a:lnSpc>
              <a:buNone/>
            </a:pPr>
            <a:r>
              <a:rPr lang="en-US" sz="2100" dirty="0">
                <a:solidFill>
                  <a:srgbClr val="CFEAE6"/>
                </a:solidFill>
                <a:latin typeface="Inter" panose="02000503000000020004" pitchFamily="2" charset="0"/>
                <a:ea typeface="Inter" panose="02000503000000020004" pitchFamily="2" charset="0"/>
                <a:cs typeface="IBM Plex Sans" pitchFamily="34" charset="-120"/>
              </a:rPr>
              <a:t>These features are what give the app a reason to be opened between checks, which is what keeps the medication list current enough for the checks to mean anything.</a:t>
            </a:r>
            <a:endParaRPr lang="en-US" sz="2100" dirty="0"/>
          </a:p>
        </p:txBody>
      </p:sp>
      <p:sp>
        <p:nvSpPr>
          <p:cNvPr id="9" name="Shape 6"/>
          <p:cNvSpPr/>
          <p:nvPr/>
        </p:nvSpPr>
        <p:spPr>
          <a:xfrm>
            <a:off x="10953750" y="2251373"/>
            <a:ext cx="3028950" cy="6518374"/>
          </a:xfrm>
          <a:prstGeom prst="roundRect">
            <a:avLst>
              <a:gd name="adj" fmla="val 10063"/>
            </a:avLst>
          </a:prstGeom>
          <a:solidFill>
            <a:srgbClr val="152428"/>
          </a:solidFill>
          <a:ln/>
        </p:spPr>
      </p:sp>
      <p:pic>
        <p:nvPicPr>
          <p:cNvPr id="10" name="Image 1" descr="preencoded.png"/>
          <p:cNvPicPr>
            <a:picLocks noChangeAspect="1"/>
          </p:cNvPicPr>
          <p:nvPr/>
        </p:nvPicPr>
        <p:blipFill>
          <a:blip r:embed="rId4"/>
          <a:stretch>
            <a:fillRect/>
          </a:stretch>
        </p:blipFill>
        <p:spPr>
          <a:xfrm>
            <a:off x="11039475" y="2337098"/>
            <a:ext cx="2857500" cy="6346924"/>
          </a:xfrm>
          <a:prstGeom prst="rect">
            <a:avLst/>
          </a:prstGeom>
        </p:spPr>
      </p:pic>
      <p:sp>
        <p:nvSpPr>
          <p:cNvPr id="11" name="Text 7"/>
          <p:cNvSpPr/>
          <p:nvPr/>
        </p:nvSpPr>
        <p:spPr>
          <a:xfrm>
            <a:off x="11659493" y="8941197"/>
            <a:ext cx="1779210" cy="384770"/>
          </a:xfrm>
          <a:prstGeom prst="rect">
            <a:avLst/>
          </a:prstGeom>
          <a:noFill/>
          <a:ln/>
        </p:spPr>
        <p:txBody>
          <a:bodyPr wrap="square" lIns="25400" tIns="25400" rIns="25400" bIns="25400" rtlCol="0" anchor="t">
            <a:normAutofit/>
          </a:bodyPr>
          <a:lstStyle/>
          <a:p>
            <a:pPr marL="0" indent="0" algn="l">
              <a:lnSpc>
                <a:spcPct val="107059"/>
              </a:lnSpc>
              <a:buNone/>
            </a:pPr>
            <a:r>
              <a:rPr lang="en-US" sz="1950" dirty="0">
                <a:solidFill>
                  <a:srgbClr val="33464B"/>
                </a:solidFill>
                <a:latin typeface="Inter" panose="02000503000000020004" pitchFamily="2" charset="0"/>
                <a:ea typeface="Inter" panose="02000503000000020004" pitchFamily="2" charset="0"/>
                <a:cs typeface="IBM Plex Sans" pitchFamily="34" charset="-120"/>
              </a:rPr>
              <a:t>Dose calendar</a:t>
            </a:r>
            <a:endParaRPr lang="en-US" sz="1950" dirty="0"/>
          </a:p>
        </p:txBody>
      </p:sp>
      <p:sp>
        <p:nvSpPr>
          <p:cNvPr id="12" name="Shape 8"/>
          <p:cNvSpPr/>
          <p:nvPr/>
        </p:nvSpPr>
        <p:spPr>
          <a:xfrm>
            <a:off x="14401800" y="2251373"/>
            <a:ext cx="3028950" cy="6518374"/>
          </a:xfrm>
          <a:prstGeom prst="roundRect">
            <a:avLst>
              <a:gd name="adj" fmla="val 10063"/>
            </a:avLst>
          </a:prstGeom>
          <a:solidFill>
            <a:srgbClr val="152428"/>
          </a:solidFill>
          <a:ln/>
        </p:spPr>
      </p:sp>
      <p:pic>
        <p:nvPicPr>
          <p:cNvPr id="13" name="Image 2" descr="preencoded.png"/>
          <p:cNvPicPr>
            <a:picLocks noChangeAspect="1"/>
          </p:cNvPicPr>
          <p:nvPr/>
        </p:nvPicPr>
        <p:blipFill>
          <a:blip r:embed="rId5"/>
          <a:stretch>
            <a:fillRect/>
          </a:stretch>
        </p:blipFill>
        <p:spPr>
          <a:xfrm>
            <a:off x="14487525" y="2337098"/>
            <a:ext cx="2857500" cy="6346924"/>
          </a:xfrm>
          <a:prstGeom prst="rect">
            <a:avLst/>
          </a:prstGeom>
        </p:spPr>
      </p:pic>
      <p:sp>
        <p:nvSpPr>
          <p:cNvPr id="14" name="Text 9"/>
          <p:cNvSpPr/>
          <p:nvPr/>
        </p:nvSpPr>
        <p:spPr>
          <a:xfrm>
            <a:off x="14999196" y="8941197"/>
            <a:ext cx="2017574" cy="384770"/>
          </a:xfrm>
          <a:prstGeom prst="rect">
            <a:avLst/>
          </a:prstGeom>
          <a:noFill/>
          <a:ln/>
        </p:spPr>
        <p:txBody>
          <a:bodyPr wrap="square" lIns="25400" tIns="25400" rIns="25400" bIns="25400" rtlCol="0" anchor="t">
            <a:normAutofit/>
          </a:bodyPr>
          <a:lstStyle/>
          <a:p>
            <a:pPr marL="0" indent="0" algn="l">
              <a:lnSpc>
                <a:spcPct val="107059"/>
              </a:lnSpc>
              <a:buNone/>
            </a:pPr>
            <a:r>
              <a:rPr lang="en-US" sz="1950" dirty="0">
                <a:solidFill>
                  <a:srgbClr val="33464B"/>
                </a:solidFill>
                <a:latin typeface="Inter" panose="02000503000000020004" pitchFamily="2" charset="0"/>
                <a:ea typeface="Inter" panose="02000503000000020004" pitchFamily="2" charset="0"/>
                <a:cs typeface="IBM Plex Sans" pitchFamily="34" charset="-120"/>
              </a:rPr>
              <a:t>Reminder editor</a:t>
            </a:r>
            <a:endParaRPr lang="en-US" sz="1950" dirty="0"/>
          </a:p>
        </p:txBody>
      </p:sp>
      <p:sp>
        <p:nvSpPr>
          <p:cNvPr id="15" name="Shape 0">
            <a:extLst>
              <a:ext uri="{FF2B5EF4-FFF2-40B4-BE49-F238E27FC236}">
                <a16:creationId xmlns:a16="http://schemas.microsoft.com/office/drawing/2014/main" id="{BEEE5A5B-35AF-694C-8AAD-C5A8FA70CEF9}"/>
              </a:ext>
            </a:extLst>
          </p:cNvPr>
          <p:cNvSpPr/>
          <p:nvPr/>
        </p:nvSpPr>
        <p:spPr>
          <a:xfrm>
            <a:off x="914400" y="710826"/>
            <a:ext cx="133350" cy="133350"/>
          </a:xfrm>
          <a:prstGeom prst="rect">
            <a:avLst/>
          </a:prstGeom>
          <a:solidFill>
            <a:srgbClr val="0B5C4A"/>
          </a:solidFill>
          <a:ln/>
        </p:spPr>
      </p:sp>
      <p:sp>
        <p:nvSpPr>
          <p:cNvPr id="16" name="Text 1">
            <a:extLst>
              <a:ext uri="{FF2B5EF4-FFF2-40B4-BE49-F238E27FC236}">
                <a16:creationId xmlns:a16="http://schemas.microsoft.com/office/drawing/2014/main" id="{4A74D7A6-891A-C653-D8E2-07EBE2CF7BCF}"/>
              </a:ext>
            </a:extLst>
          </p:cNvPr>
          <p:cNvSpPr/>
          <p:nvPr/>
        </p:nvSpPr>
        <p:spPr>
          <a:xfrm>
            <a:off x="1219199" y="574114"/>
            <a:ext cx="10354733"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IMPLEMENTATION: DOSE SCHEDULER AND REMINDER EDITOR</a:t>
            </a:r>
            <a:endParaRPr lang="en-US" sz="2400" dirty="0"/>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609600"/>
            <a:ext cx="814388" cy="247650"/>
          </a:xfrm>
          <a:prstGeom prst="rect">
            <a:avLst/>
          </a:prstGeom>
        </p:spPr>
      </p:pic>
      <p:sp>
        <p:nvSpPr>
          <p:cNvPr id="4" name="Text 1"/>
          <p:cNvSpPr/>
          <p:nvPr/>
        </p:nvSpPr>
        <p:spPr>
          <a:xfrm>
            <a:off x="857250" y="1028700"/>
            <a:ext cx="1634490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The model catches nine in ten of the interactions that matter most</a:t>
            </a:r>
            <a:endParaRPr lang="en-US" sz="3975" dirty="0"/>
          </a:p>
        </p:txBody>
      </p:sp>
      <p:sp>
        <p:nvSpPr>
          <p:cNvPr id="5" name="Shape 2"/>
          <p:cNvSpPr/>
          <p:nvPr/>
        </p:nvSpPr>
        <p:spPr>
          <a:xfrm>
            <a:off x="857250" y="3601542"/>
            <a:ext cx="3962400" cy="2206228"/>
          </a:xfrm>
          <a:prstGeom prst="roundRect">
            <a:avLst>
              <a:gd name="adj" fmla="val 8635"/>
            </a:avLst>
          </a:prstGeom>
          <a:solidFill>
            <a:srgbClr val="003F39"/>
          </a:solidFill>
          <a:ln/>
        </p:spPr>
      </p:sp>
      <p:sp>
        <p:nvSpPr>
          <p:cNvPr id="6" name="Text 3"/>
          <p:cNvSpPr/>
          <p:nvPr/>
        </p:nvSpPr>
        <p:spPr>
          <a:xfrm>
            <a:off x="1181100" y="3944442"/>
            <a:ext cx="3646170" cy="628650"/>
          </a:xfrm>
          <a:prstGeom prst="rect">
            <a:avLst/>
          </a:prstGeom>
          <a:noFill/>
          <a:ln/>
        </p:spPr>
        <p:txBody>
          <a:bodyPr wrap="square" lIns="25400" tIns="25400" rIns="25400" bIns="25400" rtlCol="0" anchor="t">
            <a:normAutofit fontScale="92500" lnSpcReduction="10000"/>
          </a:bodyPr>
          <a:lstStyle/>
          <a:p>
            <a:pPr marL="0" indent="0" algn="l">
              <a:lnSpc>
                <a:spcPct val="91176"/>
              </a:lnSpc>
              <a:buNone/>
            </a:pPr>
            <a:r>
              <a:rPr lang="en-US" sz="4650" b="1" kern="0" spc="-139" dirty="0">
                <a:solidFill>
                  <a:srgbClr val="FFFFFF"/>
                </a:solidFill>
                <a:latin typeface="Inter" panose="02000503000000020004" pitchFamily="2" charset="0"/>
                <a:ea typeface="Inter" panose="02000503000000020004" pitchFamily="2" charset="0"/>
                <a:cs typeface="Archivo" pitchFamily="34" charset="-120"/>
              </a:rPr>
              <a:t>91.0%</a:t>
            </a:r>
            <a:endParaRPr lang="en-US" sz="4650" dirty="0"/>
          </a:p>
        </p:txBody>
      </p:sp>
      <p:sp>
        <p:nvSpPr>
          <p:cNvPr id="7" name="Text 4"/>
          <p:cNvSpPr/>
          <p:nvPr/>
        </p:nvSpPr>
        <p:spPr>
          <a:xfrm>
            <a:off x="1181100" y="4706442"/>
            <a:ext cx="3414141" cy="783828"/>
          </a:xfrm>
          <a:prstGeom prst="rect">
            <a:avLst/>
          </a:prstGeom>
          <a:noFill/>
          <a:ln/>
        </p:spPr>
        <p:txBody>
          <a:bodyPr wrap="square" lIns="25400" tIns="25400" rIns="25400" bIns="25400" rtlCol="0" anchor="t">
            <a:normAutofit/>
          </a:bodyPr>
          <a:lstStyle/>
          <a:p>
            <a:pPr marL="0" indent="0" algn="l">
              <a:lnSpc>
                <a:spcPct val="110802"/>
              </a:lnSpc>
              <a:buNone/>
            </a:pPr>
            <a:r>
              <a:rPr lang="en-US" sz="2025" dirty="0">
                <a:solidFill>
                  <a:srgbClr val="B8D6D1"/>
                </a:solidFill>
                <a:latin typeface="Inter" panose="02000503000000020004" pitchFamily="2" charset="0"/>
                <a:ea typeface="Inter" panose="02000503000000020004" pitchFamily="2" charset="0"/>
                <a:cs typeface="IBM Plex Sans" pitchFamily="34" charset="-120"/>
              </a:rPr>
              <a:t>of High-risk interactions correctly flagged</a:t>
            </a:r>
            <a:endParaRPr lang="en-US" sz="2025" dirty="0"/>
          </a:p>
        </p:txBody>
      </p:sp>
      <p:sp>
        <p:nvSpPr>
          <p:cNvPr id="8" name="Shape 5"/>
          <p:cNvSpPr/>
          <p:nvPr/>
        </p:nvSpPr>
        <p:spPr>
          <a:xfrm>
            <a:off x="5048250" y="3601542"/>
            <a:ext cx="3975100" cy="2206228"/>
          </a:xfrm>
          <a:prstGeom prst="roundRect">
            <a:avLst>
              <a:gd name="adj" fmla="val 8635"/>
            </a:avLst>
          </a:prstGeom>
          <a:solidFill>
            <a:srgbClr val="FFFFFF"/>
          </a:solidFill>
          <a:ln w="6350">
            <a:solidFill>
              <a:srgbClr val="E1EEEC"/>
            </a:solidFill>
            <a:prstDash val="solid"/>
          </a:ln>
        </p:spPr>
      </p:sp>
      <p:sp>
        <p:nvSpPr>
          <p:cNvPr id="9" name="Text 6"/>
          <p:cNvSpPr/>
          <p:nvPr/>
        </p:nvSpPr>
        <p:spPr>
          <a:xfrm>
            <a:off x="5378450" y="3950791"/>
            <a:ext cx="3646170" cy="628650"/>
          </a:xfrm>
          <a:prstGeom prst="rect">
            <a:avLst/>
          </a:prstGeom>
          <a:noFill/>
          <a:ln/>
        </p:spPr>
        <p:txBody>
          <a:bodyPr wrap="square" lIns="25400" tIns="25400" rIns="25400" bIns="25400" rtlCol="0" anchor="t">
            <a:normAutofit fontScale="92500" lnSpcReduction="10000"/>
          </a:bodyPr>
          <a:lstStyle/>
          <a:p>
            <a:pPr marL="0" indent="0" algn="l">
              <a:lnSpc>
                <a:spcPct val="91176"/>
              </a:lnSpc>
              <a:buNone/>
            </a:pPr>
            <a:r>
              <a:rPr lang="en-US" sz="4650" b="1" kern="0" spc="-139" dirty="0">
                <a:solidFill>
                  <a:srgbClr val="016359"/>
                </a:solidFill>
                <a:latin typeface="Inter" panose="02000503000000020004" pitchFamily="2" charset="0"/>
                <a:ea typeface="Inter" panose="02000503000000020004" pitchFamily="2" charset="0"/>
                <a:cs typeface="Archivo" pitchFamily="34" charset="-120"/>
              </a:rPr>
              <a:t>86.3%</a:t>
            </a:r>
            <a:endParaRPr lang="en-US" sz="4650" dirty="0"/>
          </a:p>
        </p:txBody>
      </p:sp>
      <p:sp>
        <p:nvSpPr>
          <p:cNvPr id="10" name="Text 7"/>
          <p:cNvSpPr/>
          <p:nvPr/>
        </p:nvSpPr>
        <p:spPr>
          <a:xfrm>
            <a:off x="5378450" y="4712791"/>
            <a:ext cx="3414141" cy="783828"/>
          </a:xfrm>
          <a:prstGeom prst="rect">
            <a:avLst/>
          </a:prstGeom>
          <a:noFill/>
          <a:ln/>
        </p:spPr>
        <p:txBody>
          <a:bodyPr wrap="square" lIns="25400" tIns="25400" rIns="25400" bIns="25400" rtlCol="0" anchor="t">
            <a:normAutofit/>
          </a:bodyPr>
          <a:lstStyle/>
          <a:p>
            <a:pPr marL="0" indent="0" algn="l">
              <a:lnSpc>
                <a:spcPct val="110802"/>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accuracy, against a 76.1% baseline</a:t>
            </a:r>
            <a:endParaRPr lang="en-US" sz="2025" dirty="0"/>
          </a:p>
        </p:txBody>
      </p:sp>
      <p:sp>
        <p:nvSpPr>
          <p:cNvPr id="11" name="Shape 8"/>
          <p:cNvSpPr/>
          <p:nvPr/>
        </p:nvSpPr>
        <p:spPr>
          <a:xfrm>
            <a:off x="9251950" y="3601542"/>
            <a:ext cx="3975100" cy="2206228"/>
          </a:xfrm>
          <a:prstGeom prst="roundRect">
            <a:avLst>
              <a:gd name="adj" fmla="val 8635"/>
            </a:avLst>
          </a:prstGeom>
          <a:solidFill>
            <a:srgbClr val="FFFFFF"/>
          </a:solidFill>
          <a:ln w="6350">
            <a:solidFill>
              <a:srgbClr val="E1EEEC"/>
            </a:solidFill>
            <a:prstDash val="solid"/>
          </a:ln>
        </p:spPr>
      </p:sp>
      <p:sp>
        <p:nvSpPr>
          <p:cNvPr id="12" name="Text 9"/>
          <p:cNvSpPr/>
          <p:nvPr/>
        </p:nvSpPr>
        <p:spPr>
          <a:xfrm>
            <a:off x="9582150" y="3950791"/>
            <a:ext cx="3646170" cy="628650"/>
          </a:xfrm>
          <a:prstGeom prst="rect">
            <a:avLst/>
          </a:prstGeom>
          <a:noFill/>
          <a:ln/>
        </p:spPr>
        <p:txBody>
          <a:bodyPr wrap="square" lIns="25400" tIns="25400" rIns="25400" bIns="25400" rtlCol="0" anchor="t">
            <a:normAutofit fontScale="92500" lnSpcReduction="10000"/>
          </a:bodyPr>
          <a:lstStyle/>
          <a:p>
            <a:pPr marL="0" indent="0" algn="l">
              <a:lnSpc>
                <a:spcPct val="91176"/>
              </a:lnSpc>
              <a:buNone/>
            </a:pPr>
            <a:r>
              <a:rPr lang="en-US" sz="4650" b="1" kern="0" spc="-139" dirty="0">
                <a:solidFill>
                  <a:srgbClr val="016359"/>
                </a:solidFill>
                <a:latin typeface="Inter" panose="02000503000000020004" pitchFamily="2" charset="0"/>
                <a:ea typeface="Inter" panose="02000503000000020004" pitchFamily="2" charset="0"/>
                <a:cs typeface="Archivo" pitchFamily="34" charset="-120"/>
              </a:rPr>
              <a:t>0.943</a:t>
            </a:r>
            <a:endParaRPr lang="en-US" sz="4650" dirty="0"/>
          </a:p>
        </p:txBody>
      </p:sp>
      <p:sp>
        <p:nvSpPr>
          <p:cNvPr id="13" name="Text 10"/>
          <p:cNvSpPr/>
          <p:nvPr/>
        </p:nvSpPr>
        <p:spPr>
          <a:xfrm>
            <a:off x="9582150" y="4712791"/>
            <a:ext cx="3414141" cy="783828"/>
          </a:xfrm>
          <a:prstGeom prst="rect">
            <a:avLst/>
          </a:prstGeom>
          <a:noFill/>
          <a:ln/>
        </p:spPr>
        <p:txBody>
          <a:bodyPr wrap="square" lIns="25400" tIns="25400" rIns="25400" bIns="25400" rtlCol="0" anchor="t">
            <a:normAutofit/>
          </a:bodyPr>
          <a:lstStyle/>
          <a:p>
            <a:pPr marL="0" indent="0" algn="l">
              <a:lnSpc>
                <a:spcPct val="110802"/>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macro AUC-ROC across the three tiers</a:t>
            </a:r>
            <a:endParaRPr lang="en-US" sz="2025" dirty="0"/>
          </a:p>
        </p:txBody>
      </p:sp>
      <p:sp>
        <p:nvSpPr>
          <p:cNvPr id="14" name="Shape 11"/>
          <p:cNvSpPr/>
          <p:nvPr/>
        </p:nvSpPr>
        <p:spPr>
          <a:xfrm>
            <a:off x="13455651" y="3601542"/>
            <a:ext cx="3975100" cy="2206228"/>
          </a:xfrm>
          <a:prstGeom prst="roundRect">
            <a:avLst>
              <a:gd name="adj" fmla="val 8635"/>
            </a:avLst>
          </a:prstGeom>
          <a:solidFill>
            <a:srgbClr val="FFFFFF"/>
          </a:solidFill>
          <a:ln w="6350">
            <a:solidFill>
              <a:srgbClr val="E1EEEC"/>
            </a:solidFill>
            <a:prstDash val="solid"/>
          </a:ln>
        </p:spPr>
      </p:sp>
      <p:sp>
        <p:nvSpPr>
          <p:cNvPr id="15" name="Text 12"/>
          <p:cNvSpPr/>
          <p:nvPr/>
        </p:nvSpPr>
        <p:spPr>
          <a:xfrm>
            <a:off x="13785850" y="3950791"/>
            <a:ext cx="3646170" cy="628650"/>
          </a:xfrm>
          <a:prstGeom prst="rect">
            <a:avLst/>
          </a:prstGeom>
          <a:noFill/>
          <a:ln/>
        </p:spPr>
        <p:txBody>
          <a:bodyPr wrap="square" lIns="25400" tIns="25400" rIns="25400" bIns="25400" rtlCol="0" anchor="t">
            <a:normAutofit fontScale="92500" lnSpcReduction="10000"/>
          </a:bodyPr>
          <a:lstStyle/>
          <a:p>
            <a:pPr marL="0" indent="0" algn="l">
              <a:lnSpc>
                <a:spcPct val="91176"/>
              </a:lnSpc>
              <a:buNone/>
            </a:pPr>
            <a:r>
              <a:rPr lang="en-US" sz="4650" b="1" kern="0" spc="-139" dirty="0">
                <a:solidFill>
                  <a:srgbClr val="152428"/>
                </a:solidFill>
                <a:latin typeface="Inter" panose="02000503000000020004" pitchFamily="2" charset="0"/>
                <a:ea typeface="Inter" panose="02000503000000020004" pitchFamily="2" charset="0"/>
                <a:cs typeface="Archivo" pitchFamily="34" charset="-120"/>
              </a:rPr>
              <a:t>218,518</a:t>
            </a:r>
            <a:endParaRPr lang="en-US" sz="4650" dirty="0"/>
          </a:p>
        </p:txBody>
      </p:sp>
      <p:sp>
        <p:nvSpPr>
          <p:cNvPr id="16" name="Text 13"/>
          <p:cNvSpPr/>
          <p:nvPr/>
        </p:nvSpPr>
        <p:spPr>
          <a:xfrm>
            <a:off x="13785850" y="4712791"/>
            <a:ext cx="3414141" cy="783828"/>
          </a:xfrm>
          <a:prstGeom prst="rect">
            <a:avLst/>
          </a:prstGeom>
          <a:noFill/>
          <a:ln/>
        </p:spPr>
        <p:txBody>
          <a:bodyPr wrap="square" lIns="25400" tIns="25400" rIns="25400" bIns="25400" rtlCol="0" anchor="t">
            <a:normAutofit/>
          </a:bodyPr>
          <a:lstStyle/>
          <a:p>
            <a:pPr marL="0" indent="0" algn="l">
              <a:lnSpc>
                <a:spcPct val="110802"/>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held-out drug pairs in the test set</a:t>
            </a:r>
            <a:endParaRPr lang="en-US" sz="2025" dirty="0"/>
          </a:p>
        </p:txBody>
      </p:sp>
      <p:sp>
        <p:nvSpPr>
          <p:cNvPr id="17" name="Shape 14"/>
          <p:cNvSpPr/>
          <p:nvPr/>
        </p:nvSpPr>
        <p:spPr>
          <a:xfrm>
            <a:off x="857250" y="6055420"/>
            <a:ext cx="8172450" cy="1939528"/>
          </a:xfrm>
          <a:prstGeom prst="roundRect">
            <a:avLst>
              <a:gd name="adj" fmla="val 9822"/>
            </a:avLst>
          </a:prstGeom>
          <a:solidFill>
            <a:srgbClr val="FFFFFF"/>
          </a:solidFill>
          <a:ln/>
        </p:spPr>
      </p:sp>
      <p:sp>
        <p:nvSpPr>
          <p:cNvPr id="18" name="Shape 15"/>
          <p:cNvSpPr/>
          <p:nvPr/>
        </p:nvSpPr>
        <p:spPr>
          <a:xfrm>
            <a:off x="857250" y="7988598"/>
            <a:ext cx="8172450" cy="9525"/>
          </a:xfrm>
          <a:prstGeom prst="rect">
            <a:avLst/>
          </a:prstGeom>
          <a:solidFill>
            <a:srgbClr val="E1EEEC"/>
          </a:solidFill>
          <a:ln/>
        </p:spPr>
      </p:sp>
      <p:sp>
        <p:nvSpPr>
          <p:cNvPr id="19" name="Shape 16"/>
          <p:cNvSpPr/>
          <p:nvPr/>
        </p:nvSpPr>
        <p:spPr>
          <a:xfrm>
            <a:off x="857250" y="6055420"/>
            <a:ext cx="8172450" cy="9525"/>
          </a:xfrm>
          <a:prstGeom prst="rect">
            <a:avLst/>
          </a:prstGeom>
          <a:solidFill>
            <a:srgbClr val="E1EEEC"/>
          </a:solidFill>
          <a:ln/>
        </p:spPr>
      </p:sp>
      <p:sp>
        <p:nvSpPr>
          <p:cNvPr id="20" name="Shape 17"/>
          <p:cNvSpPr/>
          <p:nvPr/>
        </p:nvSpPr>
        <p:spPr>
          <a:xfrm>
            <a:off x="857250" y="6055420"/>
            <a:ext cx="57150" cy="1939528"/>
          </a:xfrm>
          <a:prstGeom prst="rect">
            <a:avLst/>
          </a:prstGeom>
          <a:solidFill>
            <a:srgbClr val="D93639"/>
          </a:solidFill>
          <a:ln/>
        </p:spPr>
      </p:sp>
      <p:sp>
        <p:nvSpPr>
          <p:cNvPr id="21" name="Shape 18"/>
          <p:cNvSpPr/>
          <p:nvPr/>
        </p:nvSpPr>
        <p:spPr>
          <a:xfrm>
            <a:off x="9023350" y="6055420"/>
            <a:ext cx="9525" cy="1939528"/>
          </a:xfrm>
          <a:prstGeom prst="rect">
            <a:avLst/>
          </a:prstGeom>
          <a:solidFill>
            <a:srgbClr val="E1EEEC"/>
          </a:solidFill>
          <a:ln/>
        </p:spPr>
      </p:sp>
      <p:sp>
        <p:nvSpPr>
          <p:cNvPr id="22" name="Text 19"/>
          <p:cNvSpPr/>
          <p:nvPr/>
        </p:nvSpPr>
        <p:spPr>
          <a:xfrm>
            <a:off x="1257300" y="6366570"/>
            <a:ext cx="8165465"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It over-flags, on purpose</a:t>
            </a:r>
            <a:endParaRPr lang="en-US" sz="2325" dirty="0"/>
          </a:p>
        </p:txBody>
      </p:sp>
      <p:sp>
        <p:nvSpPr>
          <p:cNvPr id="23" name="Text 20"/>
          <p:cNvSpPr/>
          <p:nvPr/>
        </p:nvSpPr>
        <p:spPr>
          <a:xfrm>
            <a:off x="1257300" y="6883698"/>
            <a:ext cx="7645845" cy="838200"/>
          </a:xfrm>
          <a:prstGeom prst="rect">
            <a:avLst/>
          </a:prstGeom>
          <a:noFill/>
          <a:ln/>
        </p:spPr>
        <p:txBody>
          <a:bodyPr wrap="square" lIns="25400" tIns="25400" rIns="25400" bIns="25400" rtlCol="0" anchor="t">
            <a:normAutofit/>
          </a:bodyPr>
          <a:lstStyle/>
          <a:p>
            <a:pPr marL="0" indent="0" algn="l">
              <a:lnSpc>
                <a:spcPct val="114545"/>
              </a:lnSpc>
              <a:buNone/>
            </a:pPr>
            <a:r>
              <a:rPr lang="en-US" sz="2100" dirty="0">
                <a:solidFill>
                  <a:srgbClr val="33464B"/>
                </a:solidFill>
                <a:latin typeface="Inter" panose="02000503000000020004" pitchFamily="2" charset="0"/>
                <a:ea typeface="Inter" panose="02000503000000020004" pitchFamily="2" charset="0"/>
                <a:cs typeface="IBM Plex Sans" pitchFamily="34" charset="-120"/>
              </a:rPr>
              <a:t>Precision on the High tier is 0.658. In a decision-support tool, a false alarm is the safer error.</a:t>
            </a:r>
            <a:endParaRPr lang="en-US" sz="2100" dirty="0"/>
          </a:p>
        </p:txBody>
      </p:sp>
      <p:sp>
        <p:nvSpPr>
          <p:cNvPr id="24" name="Shape 21"/>
          <p:cNvSpPr/>
          <p:nvPr/>
        </p:nvSpPr>
        <p:spPr>
          <a:xfrm>
            <a:off x="9258300" y="6055420"/>
            <a:ext cx="8172450" cy="1939528"/>
          </a:xfrm>
          <a:prstGeom prst="roundRect">
            <a:avLst>
              <a:gd name="adj" fmla="val 9822"/>
            </a:avLst>
          </a:prstGeom>
          <a:solidFill>
            <a:srgbClr val="FFFFFF"/>
          </a:solidFill>
          <a:ln/>
        </p:spPr>
      </p:sp>
      <p:sp>
        <p:nvSpPr>
          <p:cNvPr id="25" name="Shape 22"/>
          <p:cNvSpPr/>
          <p:nvPr/>
        </p:nvSpPr>
        <p:spPr>
          <a:xfrm>
            <a:off x="9258300" y="7988598"/>
            <a:ext cx="8172450" cy="9525"/>
          </a:xfrm>
          <a:prstGeom prst="rect">
            <a:avLst/>
          </a:prstGeom>
          <a:solidFill>
            <a:srgbClr val="E1EEEC"/>
          </a:solidFill>
          <a:ln/>
        </p:spPr>
      </p:sp>
      <p:sp>
        <p:nvSpPr>
          <p:cNvPr id="26" name="Shape 23"/>
          <p:cNvSpPr/>
          <p:nvPr/>
        </p:nvSpPr>
        <p:spPr>
          <a:xfrm>
            <a:off x="9258300" y="6055420"/>
            <a:ext cx="8172450" cy="9525"/>
          </a:xfrm>
          <a:prstGeom prst="rect">
            <a:avLst/>
          </a:prstGeom>
          <a:solidFill>
            <a:srgbClr val="E1EEEC"/>
          </a:solidFill>
          <a:ln/>
        </p:spPr>
      </p:sp>
      <p:sp>
        <p:nvSpPr>
          <p:cNvPr id="27" name="Shape 24"/>
          <p:cNvSpPr/>
          <p:nvPr/>
        </p:nvSpPr>
        <p:spPr>
          <a:xfrm>
            <a:off x="9258300" y="6055420"/>
            <a:ext cx="57150" cy="1939528"/>
          </a:xfrm>
          <a:prstGeom prst="rect">
            <a:avLst/>
          </a:prstGeom>
          <a:solidFill>
            <a:srgbClr val="B45309"/>
          </a:solidFill>
          <a:ln/>
        </p:spPr>
      </p:sp>
      <p:sp>
        <p:nvSpPr>
          <p:cNvPr id="28" name="Shape 25"/>
          <p:cNvSpPr/>
          <p:nvPr/>
        </p:nvSpPr>
        <p:spPr>
          <a:xfrm>
            <a:off x="17424400" y="6055420"/>
            <a:ext cx="9525" cy="1939528"/>
          </a:xfrm>
          <a:prstGeom prst="rect">
            <a:avLst/>
          </a:prstGeom>
          <a:solidFill>
            <a:srgbClr val="E1EEEC"/>
          </a:solidFill>
          <a:ln/>
        </p:spPr>
      </p:sp>
      <p:sp>
        <p:nvSpPr>
          <p:cNvPr id="29" name="Text 26"/>
          <p:cNvSpPr/>
          <p:nvPr/>
        </p:nvSpPr>
        <p:spPr>
          <a:xfrm>
            <a:off x="9658350" y="6366570"/>
            <a:ext cx="8165465" cy="421878"/>
          </a:xfrm>
          <a:prstGeom prst="rect">
            <a:avLst/>
          </a:prstGeom>
          <a:noFill/>
          <a:ln/>
        </p:spPr>
        <p:txBody>
          <a:bodyPr wrap="square" lIns="25400" tIns="25400" rIns="25400" bIns="25400" rtlCol="0" anchor="t">
            <a:normAutofit lnSpcReduction="10000"/>
          </a:bodyPr>
          <a:lstStyle/>
          <a:p>
            <a:pPr marL="0" indent="0" algn="l">
              <a:lnSpc>
                <a:spcPct val="118529"/>
              </a:lnSpc>
              <a:buNone/>
            </a:pPr>
            <a:r>
              <a:rPr lang="en-US" sz="2325" b="1" dirty="0">
                <a:solidFill>
                  <a:srgbClr val="152428"/>
                </a:solidFill>
                <a:latin typeface="Inter" panose="02000503000000020004" pitchFamily="2" charset="0"/>
                <a:ea typeface="Inter" panose="02000503000000020004" pitchFamily="2" charset="0"/>
                <a:cs typeface="Archivo" pitchFamily="34" charset="-120"/>
              </a:rPr>
              <a:t>The Low tier is weak, and rare</a:t>
            </a:r>
            <a:endParaRPr lang="en-US" sz="2325" dirty="0"/>
          </a:p>
        </p:txBody>
      </p:sp>
      <p:sp>
        <p:nvSpPr>
          <p:cNvPr id="30" name="Text 27"/>
          <p:cNvSpPr/>
          <p:nvPr/>
        </p:nvSpPr>
        <p:spPr>
          <a:xfrm>
            <a:off x="9658350" y="6883698"/>
            <a:ext cx="7645845" cy="838200"/>
          </a:xfrm>
          <a:prstGeom prst="rect">
            <a:avLst/>
          </a:prstGeom>
          <a:noFill/>
          <a:ln/>
        </p:spPr>
        <p:txBody>
          <a:bodyPr wrap="square" lIns="25400" tIns="25400" rIns="25400" bIns="25400" rtlCol="0" anchor="t">
            <a:normAutofit/>
          </a:bodyPr>
          <a:lstStyle/>
          <a:p>
            <a:pPr marL="0" indent="0" algn="l">
              <a:lnSpc>
                <a:spcPct val="114545"/>
              </a:lnSpc>
              <a:buNone/>
            </a:pPr>
            <a:r>
              <a:rPr lang="en-US" sz="2100" dirty="0">
                <a:solidFill>
                  <a:srgbClr val="33464B"/>
                </a:solidFill>
                <a:latin typeface="Inter" panose="02000503000000020004" pitchFamily="2" charset="0"/>
                <a:ea typeface="Inter" panose="02000503000000020004" pitchFamily="2" charset="0"/>
                <a:cs typeface="IBM Plex Sans" pitchFamily="34" charset="-120"/>
              </a:rPr>
              <a:t>Just 433 of 218,518 pairs. A Low prediction raises no alert, so the practical cost is small.</a:t>
            </a:r>
            <a:endParaRPr lang="en-US" sz="2100" dirty="0"/>
          </a:p>
        </p:txBody>
      </p:sp>
      <p:sp>
        <p:nvSpPr>
          <p:cNvPr id="31" name="Shape 0">
            <a:extLst>
              <a:ext uri="{FF2B5EF4-FFF2-40B4-BE49-F238E27FC236}">
                <a16:creationId xmlns:a16="http://schemas.microsoft.com/office/drawing/2014/main" id="{0B3FB628-3058-F524-EAD9-9CC48BB5DFE5}"/>
              </a:ext>
            </a:extLst>
          </p:cNvPr>
          <p:cNvSpPr/>
          <p:nvPr/>
        </p:nvSpPr>
        <p:spPr>
          <a:xfrm>
            <a:off x="914400" y="710826"/>
            <a:ext cx="133350" cy="133350"/>
          </a:xfrm>
          <a:prstGeom prst="rect">
            <a:avLst/>
          </a:prstGeom>
          <a:solidFill>
            <a:srgbClr val="0B5C4A"/>
          </a:solidFill>
          <a:ln/>
        </p:spPr>
      </p:sp>
      <p:sp>
        <p:nvSpPr>
          <p:cNvPr id="32" name="Text 1">
            <a:extLst>
              <a:ext uri="{FF2B5EF4-FFF2-40B4-BE49-F238E27FC236}">
                <a16:creationId xmlns:a16="http://schemas.microsoft.com/office/drawing/2014/main" id="{0F4B3E64-3DB2-8E25-9E82-A61B5570504D}"/>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RESULTS: MODEL PERFORMANCE</a:t>
            </a:r>
            <a:endParaRPr lang="en-US" sz="2400" dirty="0"/>
          </a:p>
        </p:txBody>
      </p:sp>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p="http://schemas.openxmlformats.org/presentationml/2006/main">
  <p:cSld name="Slide 29">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2"/>
          <a:stretch>
            <a:fillRect/>
          </a:stretch>
        </p:blipFill>
        <p:spPr>
          <a:xfrm>
            <a:off x="16616363" y="609600"/>
            <a:ext cx="814388" cy="247650"/>
          </a:xfrm>
          <a:prstGeom prst="rect">
            <a:avLst/>
          </a:prstGeom>
        </p:spPr>
      </p:pic>
      <p:sp>
        <p:nvSpPr>
          <p:cNvPr id="101" name="Text 1"/>
          <p:cNvSpPr/>
          <p:nvPr/>
        </p:nvSpPr>
        <p:spPr>
          <a:xfrm>
            <a:off x="857250" y="1028700"/>
            <a:ext cx="1823085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dirty="0">
                <a:solidFill>
                  <a:srgbClr val="152428"/>
                </a:solidFill>
                <a:latin typeface="Inter" panose="02000503000000020004" pitchFamily="2" charset="0"/>
                <a:ea typeface="Inter" panose="02000503000000020004" pitchFamily="2" charset="0"/>
                <a:cs typeface="Archivo" pitchFamily="34" charset="-120"/>
              </a:rPr>
              <a:t>What the model leans on, and how it gets things wrong</a:t>
            </a:r>
            <a:endParaRPr lang="en-US" sz="3975" dirty="0"/>
          </a:p>
        </p:txBody>
      </p:sp>
      <p:sp>
        <p:nvSpPr>
          <p:cNvPr id="102" name="Shape L"/>
          <p:cNvSpPr/>
          <p:nvPr/>
        </p:nvSpPr>
        <p:spPr>
          <a:xfrm>
            <a:off x="857250" y="1938139"/>
            <a:ext cx="8136750" cy="6600000"/>
          </a:xfrm>
          <a:prstGeom prst="roundRect">
            <a:avLst>
              <a:gd name="adj" fmla="val 2461"/>
            </a:avLst>
          </a:prstGeom>
          <a:solidFill>
            <a:srgbClr val="FFFFFF"/>
          </a:solidFill>
          <a:ln w="6350">
            <a:solidFill>
              <a:srgbClr val="E1EEEC"/>
            </a:solidFill>
            <a:prstDash val="solid"/>
          </a:ln>
        </p:spPr>
      </p:sp>
      <p:sp>
        <p:nvSpPr>
          <p:cNvPr id="103" name="Shape R"/>
          <p:cNvSpPr/>
          <p:nvPr/>
        </p:nvSpPr>
        <p:spPr>
          <a:xfrm>
            <a:off x="9294000" y="1938139"/>
            <a:ext cx="8136750" cy="6600000"/>
          </a:xfrm>
          <a:prstGeom prst="roundRect">
            <a:avLst>
              <a:gd name="adj" fmla="val 2461"/>
            </a:avLst>
          </a:prstGeom>
          <a:solidFill>
            <a:srgbClr val="FFFFFF"/>
          </a:solidFill>
          <a:ln w="6350">
            <a:solidFill>
              <a:srgbClr val="E1EEEC"/>
            </a:solidFill>
            <a:prstDash val="solid"/>
          </a:ln>
        </p:spPr>
      </p:sp>
      <p:sp>
        <p:nvSpPr>
          <p:cNvPr id="104" name="Text LH"/>
          <p:cNvSpPr/>
          <p:nvPr/>
        </p:nvSpPr>
        <p:spPr>
          <a:xfrm>
            <a:off x="1225550" y="2180000"/>
            <a:ext cx="7400150" cy="300000"/>
          </a:xfrm>
          <a:prstGeom prst="rect">
            <a:avLst/>
          </a:prstGeom>
          <a:noFill/>
          <a:ln/>
        </p:spPr>
        <p:txBody>
          <a:bodyPr wrap="square" lIns="25400" tIns="25400" rIns="25400" bIns="25400" rtlCol="0" anchor="t">
            <a:normAutofit/>
          </a:bodyPr>
          <a:lstStyle/>
          <a:p>
            <a:pPr marL="0" indent="0" algn="l">
              <a:buNone/>
            </a:pPr>
            <a:r>
              <a:rPr lang="en-US" sz="1500" b="1" dirty="0">
                <a:solidFill>
                  <a:srgbClr val="016359"/>
                </a:solidFill>
                <a:latin typeface="Inter" panose="02000503000000020004" pitchFamily="2" charset="0"/>
                <a:ea typeface="Inter" panose="02000503000000020004" pitchFamily="2" charset="0"/>
                <a:cs typeface="Archivo" pitchFamily="34" charset="-120"/>
              </a:rPr>
              <a:t>TOP 6 FEATURE IMPORTANCES</a:t>
            </a:r>
            <a:endParaRPr lang="en-US" sz="1500" dirty="0"/>
          </a:p>
        </p:txBody>
      </p:sp>
      <p:sp>
        <p:nvSpPr>
          <p:cNvPr id="105" name="Shape Bar0"/>
          <p:cNvSpPr/>
          <p:nvPr/>
        </p:nvSpPr>
        <p:spPr>
          <a:xfrm>
            <a:off x="1442229" y="3750000"/>
            <a:ext cx="800000" cy="3330000"/>
          </a:xfrm>
          <a:prstGeom prst="roundRect">
            <a:avLst>
              <a:gd name="adj" fmla="val 8000"/>
            </a:avLst>
          </a:prstGeom>
          <a:solidFill>
            <a:srgbClr val="016359"/>
          </a:solidFill>
          <a:ln/>
        </p:spPr>
      </p:sp>
      <p:sp>
        <p:nvSpPr>
          <p:cNvPr id="106" name="Text Val0"/>
          <p:cNvSpPr/>
          <p:nvPr/>
        </p:nvSpPr>
        <p:spPr>
          <a:xfrm>
            <a:off x="1225550" y="3350000"/>
            <a:ext cx="1233358" cy="340000"/>
          </a:xfrm>
          <a:prstGeom prst="rect">
            <a:avLst/>
          </a:prstGeom>
          <a:noFill/>
          <a:ln/>
        </p:spPr>
        <p:txBody>
          <a:bodyPr wrap="square" lIns="25400" tIns="25400" rIns="25400" bIns="25400" rtlCol="0" anchor="t">
            <a:normAutofit/>
          </a:bodyPr>
          <a:lstStyle/>
          <a:p>
            <a:pPr marL="0" indent="0" algn="ctr">
              <a:buNone/>
            </a:pPr>
            <a:r>
              <a:rPr lang="en-US" sz="1650" b="1" dirty="0">
                <a:solidFill>
                  <a:srgbClr val="016359"/>
                </a:solidFill>
                <a:latin typeface="Inter" panose="02000503000000020004" pitchFamily="2" charset="0"/>
                <a:ea typeface="Inter" panose="02000503000000020004" pitchFamily="2" charset="0"/>
                <a:cs typeface="Archivo" pitchFamily="34" charset="-120"/>
              </a:rPr>
              <a:t>0.197</a:t>
            </a:r>
            <a:endParaRPr lang="en-US" sz="1650" dirty="0"/>
          </a:p>
        </p:txBody>
      </p:sp>
      <p:sp>
        <p:nvSpPr>
          <p:cNvPr id="107" name="Text Cat0"/>
          <p:cNvSpPr/>
          <p:nvPr/>
        </p:nvSpPr>
        <p:spPr>
          <a:xfrm>
            <a:off x="1225550" y="7210000"/>
            <a:ext cx="1233358" cy="640000"/>
          </a:xfrm>
          <a:prstGeom prst="rect">
            <a:avLst/>
          </a:prstGeom>
          <a:noFill/>
          <a:ln/>
        </p:spPr>
        <p:txBody>
          <a:bodyPr wrap="square" lIns="25400" tIns="25400" rIns="25400" bIns="25400" rtlCol="0" anchor="t">
            <a:normAutofit/>
          </a:bodyPr>
          <a:lstStyle/>
          <a:p>
            <a:pPr marL="0" indent="0" algn="ctr">
              <a:lnSpc>
                <a:spcPct val="100000"/>
              </a:lnSpc>
              <a:buNone/>
            </a:pPr>
            <a:r>
              <a:rPr lang="en-US" sz="1400" dirty="0">
                <a:solidFill>
                  <a:srgbClr val="33464B"/>
                </a:solidFill>
                <a:latin typeface="Inter" panose="02000503000000020004" pitchFamily="2" charset="0"/>
                <a:ea typeface="Inter" panose="02000503000000020004" pitchFamily="2" charset="0"/>
                <a:cs typeface="IBM Plex Sans" pitchFamily="34" charset="-120"/>
              </a:rPr>
              <a:t>Risk score</a:t>
            </a:r>
            <a:endParaRPr lang="en-US" sz="1400" dirty="0"/>
          </a:p>
          <a:p>
            <a:pPr marL="0" indent="0" algn="ctr">
              <a:lnSpc>
                <a:spcPct val="100000"/>
              </a:lnSpc>
              <a:buNone/>
            </a:pPr>
            <a:r>
              <a:rPr lang="en-US" sz="1400" dirty="0">
                <a:solidFill>
                  <a:srgbClr val="33464B"/>
                </a:solidFill>
                <a:latin typeface="Inter" panose="02000503000000020004" pitchFamily="2" charset="0"/>
                <a:ea typeface="Inter" panose="02000503000000020004" pitchFamily="2" charset="0"/>
                <a:cs typeface="IBM Plex Sans" pitchFamily="34" charset="-120"/>
              </a:rPr>
              <a:t>product</a:t>
            </a:r>
            <a:endParaRPr lang="en-US" sz="1400" dirty="0"/>
          </a:p>
        </p:txBody>
      </p:sp>
      <p:sp>
        <p:nvSpPr>
          <p:cNvPr id="108" name="Shape Bar1"/>
          <p:cNvSpPr/>
          <p:nvPr/>
        </p:nvSpPr>
        <p:spPr>
          <a:xfrm>
            <a:off x="2675587" y="3996309"/>
            <a:ext cx="800000" cy="3083691"/>
          </a:xfrm>
          <a:prstGeom prst="roundRect">
            <a:avLst>
              <a:gd name="adj" fmla="val 8000"/>
            </a:avLst>
          </a:prstGeom>
          <a:solidFill>
            <a:srgbClr val="016359"/>
          </a:solidFill>
          <a:ln/>
        </p:spPr>
      </p:sp>
      <p:sp>
        <p:nvSpPr>
          <p:cNvPr id="109" name="Text Val1"/>
          <p:cNvSpPr/>
          <p:nvPr/>
        </p:nvSpPr>
        <p:spPr>
          <a:xfrm>
            <a:off x="2458908" y="3596309"/>
            <a:ext cx="1233358" cy="340000"/>
          </a:xfrm>
          <a:prstGeom prst="rect">
            <a:avLst/>
          </a:prstGeom>
          <a:noFill/>
          <a:ln/>
        </p:spPr>
        <p:txBody>
          <a:bodyPr wrap="square" lIns="25400" tIns="25400" rIns="25400" bIns="25400" rtlCol="0" anchor="t">
            <a:normAutofit/>
          </a:bodyPr>
          <a:lstStyle/>
          <a:p>
            <a:pPr marL="0" indent="0" algn="ctr">
              <a:buNone/>
            </a:pPr>
            <a:r>
              <a:rPr lang="en-US" sz="1650" b="1" dirty="0">
                <a:solidFill>
                  <a:srgbClr val="016359"/>
                </a:solidFill>
                <a:latin typeface="Inter" panose="02000503000000020004" pitchFamily="2" charset="0"/>
                <a:ea typeface="Inter" panose="02000503000000020004" pitchFamily="2" charset="0"/>
                <a:cs typeface="Archivo" pitchFamily="34" charset="-120"/>
              </a:rPr>
              <a:t>0.182</a:t>
            </a:r>
            <a:endParaRPr lang="en-US" sz="1650" dirty="0"/>
          </a:p>
        </p:txBody>
      </p:sp>
      <p:sp>
        <p:nvSpPr>
          <p:cNvPr id="110" name="Text Cat1"/>
          <p:cNvSpPr/>
          <p:nvPr/>
        </p:nvSpPr>
        <p:spPr>
          <a:xfrm>
            <a:off x="2458908" y="7210000"/>
            <a:ext cx="1233358" cy="640000"/>
          </a:xfrm>
          <a:prstGeom prst="rect">
            <a:avLst/>
          </a:prstGeom>
          <a:noFill/>
          <a:ln/>
        </p:spPr>
        <p:txBody>
          <a:bodyPr wrap="square" lIns="25400" tIns="25400" rIns="25400" bIns="25400" rtlCol="0" anchor="t">
            <a:normAutofit/>
          </a:bodyPr>
          <a:lstStyle/>
          <a:p>
            <a:pPr marL="0" indent="0" algn="ctr">
              <a:lnSpc>
                <a:spcPct val="100000"/>
              </a:lnSpc>
              <a:buNone/>
            </a:pPr>
            <a:r>
              <a:rPr lang="en-US" sz="1400" dirty="0">
                <a:solidFill>
                  <a:srgbClr val="33464B"/>
                </a:solidFill>
                <a:latin typeface="Inter" panose="02000503000000020004" pitchFamily="2" charset="0"/>
                <a:ea typeface="Inter" panose="02000503000000020004" pitchFamily="2" charset="0"/>
                <a:cs typeface="IBM Plex Sans" pitchFamily="34" charset="-120"/>
              </a:rPr>
              <a:t>Risk score</a:t>
            </a:r>
            <a:endParaRPr lang="en-US" sz="1400" dirty="0"/>
          </a:p>
          <a:p>
            <a:pPr marL="0" indent="0" algn="ctr">
              <a:lnSpc>
                <a:spcPct val="100000"/>
              </a:lnSpc>
              <a:buNone/>
            </a:pPr>
            <a:r>
              <a:rPr lang="en-US" sz="1400" dirty="0">
                <a:solidFill>
                  <a:srgbClr val="33464B"/>
                </a:solidFill>
                <a:latin typeface="Inter" panose="02000503000000020004" pitchFamily="2" charset="0"/>
                <a:ea typeface="Inter" panose="02000503000000020004" pitchFamily="2" charset="0"/>
                <a:cs typeface="IBM Plex Sans" pitchFamily="34" charset="-120"/>
              </a:rPr>
              <a:t>minimum</a:t>
            </a:r>
            <a:endParaRPr lang="en-US" sz="1400" dirty="0"/>
          </a:p>
        </p:txBody>
      </p:sp>
      <p:sp>
        <p:nvSpPr>
          <p:cNvPr id="111" name="Shape Bar2"/>
          <p:cNvSpPr/>
          <p:nvPr/>
        </p:nvSpPr>
        <p:spPr>
          <a:xfrm>
            <a:off x="3908945" y="5120868"/>
            <a:ext cx="800000" cy="1959132"/>
          </a:xfrm>
          <a:prstGeom prst="roundRect">
            <a:avLst>
              <a:gd name="adj" fmla="val 8000"/>
            </a:avLst>
          </a:prstGeom>
          <a:solidFill>
            <a:srgbClr val="016359"/>
          </a:solidFill>
          <a:ln/>
        </p:spPr>
      </p:sp>
      <p:sp>
        <p:nvSpPr>
          <p:cNvPr id="112" name="Text Val2"/>
          <p:cNvSpPr/>
          <p:nvPr/>
        </p:nvSpPr>
        <p:spPr>
          <a:xfrm>
            <a:off x="3692266" y="4720868"/>
            <a:ext cx="1233358" cy="340000"/>
          </a:xfrm>
          <a:prstGeom prst="rect">
            <a:avLst/>
          </a:prstGeom>
          <a:noFill/>
          <a:ln/>
        </p:spPr>
        <p:txBody>
          <a:bodyPr wrap="square" lIns="25400" tIns="25400" rIns="25400" bIns="25400" rtlCol="0" anchor="t">
            <a:normAutofit/>
          </a:bodyPr>
          <a:lstStyle/>
          <a:p>
            <a:pPr marL="0" indent="0" algn="ctr">
              <a:buNone/>
            </a:pPr>
            <a:r>
              <a:rPr lang="en-US" sz="1650" b="1" dirty="0">
                <a:solidFill>
                  <a:srgbClr val="016359"/>
                </a:solidFill>
                <a:latin typeface="Inter" panose="02000503000000020004" pitchFamily="2" charset="0"/>
                <a:ea typeface="Inter" panose="02000503000000020004" pitchFamily="2" charset="0"/>
                <a:cs typeface="Archivo" pitchFamily="34" charset="-120"/>
              </a:rPr>
              <a:t>0.116</a:t>
            </a:r>
            <a:endParaRPr lang="en-US" sz="1650" dirty="0"/>
          </a:p>
        </p:txBody>
      </p:sp>
      <p:sp>
        <p:nvSpPr>
          <p:cNvPr id="113" name="Text Cat2"/>
          <p:cNvSpPr/>
          <p:nvPr/>
        </p:nvSpPr>
        <p:spPr>
          <a:xfrm>
            <a:off x="3692266" y="7210000"/>
            <a:ext cx="1233358" cy="640000"/>
          </a:xfrm>
          <a:prstGeom prst="rect">
            <a:avLst/>
          </a:prstGeom>
          <a:noFill/>
          <a:ln/>
        </p:spPr>
        <p:txBody>
          <a:bodyPr wrap="square" lIns="25400" tIns="25400" rIns="25400" bIns="25400" rtlCol="0" anchor="t">
            <a:normAutofit/>
          </a:bodyPr>
          <a:lstStyle/>
          <a:p>
            <a:pPr marL="0" indent="0" algn="ctr">
              <a:lnSpc>
                <a:spcPct val="100000"/>
              </a:lnSpc>
              <a:buNone/>
            </a:pPr>
            <a:r>
              <a:rPr lang="en-US" sz="1400" dirty="0">
                <a:solidFill>
                  <a:srgbClr val="33464B"/>
                </a:solidFill>
                <a:latin typeface="Inter" panose="02000503000000020004" pitchFamily="2" charset="0"/>
                <a:ea typeface="Inter" panose="02000503000000020004" pitchFamily="2" charset="0"/>
                <a:cs typeface="IBM Plex Sans" pitchFamily="34" charset="-120"/>
              </a:rPr>
              <a:t>Risk score</a:t>
            </a:r>
            <a:endParaRPr lang="en-US" sz="1400" dirty="0"/>
          </a:p>
          <a:p>
            <a:pPr marL="0" indent="0" algn="ctr">
              <a:lnSpc>
                <a:spcPct val="100000"/>
              </a:lnSpc>
              <a:buNone/>
            </a:pPr>
            <a:r>
              <a:rPr lang="en-US" sz="1400" dirty="0">
                <a:solidFill>
                  <a:srgbClr val="33464B"/>
                </a:solidFill>
                <a:latin typeface="Inter" panose="02000503000000020004" pitchFamily="2" charset="0"/>
                <a:ea typeface="Inter" panose="02000503000000020004" pitchFamily="2" charset="0"/>
                <a:cs typeface="IBM Plex Sans" pitchFamily="34" charset="-120"/>
              </a:rPr>
              <a:t>maximum</a:t>
            </a:r>
            <a:endParaRPr lang="en-US" sz="1400" dirty="0"/>
          </a:p>
        </p:txBody>
      </p:sp>
      <p:sp>
        <p:nvSpPr>
          <p:cNvPr id="114" name="Shape Bar3"/>
          <p:cNvSpPr/>
          <p:nvPr/>
        </p:nvSpPr>
        <p:spPr>
          <a:xfrm>
            <a:off x="5142303" y="5324687"/>
            <a:ext cx="800000" cy="1755313"/>
          </a:xfrm>
          <a:prstGeom prst="roundRect">
            <a:avLst>
              <a:gd name="adj" fmla="val 8000"/>
            </a:avLst>
          </a:prstGeom>
          <a:solidFill>
            <a:srgbClr val="016359"/>
          </a:solidFill>
          <a:ln/>
        </p:spPr>
      </p:sp>
      <p:sp>
        <p:nvSpPr>
          <p:cNvPr id="115" name="Text Val3"/>
          <p:cNvSpPr/>
          <p:nvPr/>
        </p:nvSpPr>
        <p:spPr>
          <a:xfrm>
            <a:off x="4925624" y="4924687"/>
            <a:ext cx="1233358" cy="340000"/>
          </a:xfrm>
          <a:prstGeom prst="rect">
            <a:avLst/>
          </a:prstGeom>
          <a:noFill/>
          <a:ln/>
        </p:spPr>
        <p:txBody>
          <a:bodyPr wrap="square" lIns="25400" tIns="25400" rIns="25400" bIns="25400" rtlCol="0" anchor="t">
            <a:normAutofit/>
          </a:bodyPr>
          <a:lstStyle/>
          <a:p>
            <a:pPr marL="0" indent="0" algn="ctr">
              <a:buNone/>
            </a:pPr>
            <a:r>
              <a:rPr lang="en-US" sz="1650" b="1" dirty="0">
                <a:solidFill>
                  <a:srgbClr val="016359"/>
                </a:solidFill>
                <a:latin typeface="Inter" panose="02000503000000020004" pitchFamily="2" charset="0"/>
                <a:ea typeface="Inter" panose="02000503000000020004" pitchFamily="2" charset="0"/>
                <a:cs typeface="Archivo" pitchFamily="34" charset="-120"/>
              </a:rPr>
              <a:t>0.104</a:t>
            </a:r>
            <a:endParaRPr lang="en-US" sz="1650" dirty="0"/>
          </a:p>
        </p:txBody>
      </p:sp>
      <p:sp>
        <p:nvSpPr>
          <p:cNvPr id="116" name="Text Cat3"/>
          <p:cNvSpPr/>
          <p:nvPr/>
        </p:nvSpPr>
        <p:spPr>
          <a:xfrm>
            <a:off x="4925624" y="7210000"/>
            <a:ext cx="1233358" cy="640000"/>
          </a:xfrm>
          <a:prstGeom prst="rect">
            <a:avLst/>
          </a:prstGeom>
          <a:noFill/>
          <a:ln/>
        </p:spPr>
        <p:txBody>
          <a:bodyPr wrap="square" lIns="25400" tIns="25400" rIns="25400" bIns="25400" rtlCol="0" anchor="t">
            <a:normAutofit/>
          </a:bodyPr>
          <a:lstStyle/>
          <a:p>
            <a:pPr marL="0" indent="0" algn="ctr">
              <a:lnSpc>
                <a:spcPct val="100000"/>
              </a:lnSpc>
              <a:buNone/>
            </a:pPr>
            <a:r>
              <a:rPr lang="en-US" sz="1400" dirty="0">
                <a:solidFill>
                  <a:srgbClr val="33464B"/>
                </a:solidFill>
                <a:latin typeface="Inter" panose="02000503000000020004" pitchFamily="2" charset="0"/>
                <a:ea typeface="Inter" panose="02000503000000020004" pitchFamily="2" charset="0"/>
                <a:cs typeface="IBM Plex Sans" pitchFamily="34" charset="-120"/>
              </a:rPr>
              <a:t>Drug A</a:t>
            </a:r>
            <a:endParaRPr lang="en-US" sz="1400" dirty="0"/>
          </a:p>
          <a:p>
            <a:pPr marL="0" indent="0" algn="ctr">
              <a:lnSpc>
                <a:spcPct val="100000"/>
              </a:lnSpc>
              <a:buNone/>
            </a:pPr>
            <a:r>
              <a:rPr lang="en-US" sz="1400" dirty="0">
                <a:solidFill>
                  <a:srgbClr val="33464B"/>
                </a:solidFill>
                <a:latin typeface="Inter" panose="02000503000000020004" pitchFamily="2" charset="0"/>
                <a:ea typeface="Inter" panose="02000503000000020004" pitchFamily="2" charset="0"/>
                <a:cs typeface="IBM Plex Sans" pitchFamily="34" charset="-120"/>
              </a:rPr>
              <a:t>risk score</a:t>
            </a:r>
            <a:endParaRPr lang="en-US" sz="1400" dirty="0"/>
          </a:p>
        </p:txBody>
      </p:sp>
      <p:sp>
        <p:nvSpPr>
          <p:cNvPr id="117" name="Shape Bar4"/>
          <p:cNvSpPr/>
          <p:nvPr/>
        </p:nvSpPr>
        <p:spPr>
          <a:xfrm>
            <a:off x="6375661" y="5464516"/>
            <a:ext cx="800000" cy="1615484"/>
          </a:xfrm>
          <a:prstGeom prst="roundRect">
            <a:avLst>
              <a:gd name="adj" fmla="val 8000"/>
            </a:avLst>
          </a:prstGeom>
          <a:solidFill>
            <a:srgbClr val="016359"/>
          </a:solidFill>
          <a:ln/>
        </p:spPr>
      </p:sp>
      <p:sp>
        <p:nvSpPr>
          <p:cNvPr id="118" name="Text Val4"/>
          <p:cNvSpPr/>
          <p:nvPr/>
        </p:nvSpPr>
        <p:spPr>
          <a:xfrm>
            <a:off x="6158982" y="5064516"/>
            <a:ext cx="1233358" cy="340000"/>
          </a:xfrm>
          <a:prstGeom prst="rect">
            <a:avLst/>
          </a:prstGeom>
          <a:noFill/>
          <a:ln/>
        </p:spPr>
        <p:txBody>
          <a:bodyPr wrap="square" lIns="25400" tIns="25400" rIns="25400" bIns="25400" rtlCol="0" anchor="t">
            <a:normAutofit/>
          </a:bodyPr>
          <a:lstStyle/>
          <a:p>
            <a:pPr marL="0" indent="0" algn="ctr">
              <a:buNone/>
            </a:pPr>
            <a:r>
              <a:rPr lang="en-US" sz="1650" b="1" dirty="0">
                <a:solidFill>
                  <a:srgbClr val="016359"/>
                </a:solidFill>
                <a:latin typeface="Inter" panose="02000503000000020004" pitchFamily="2" charset="0"/>
                <a:ea typeface="Inter" panose="02000503000000020004" pitchFamily="2" charset="0"/>
                <a:cs typeface="Archivo" pitchFamily="34" charset="-120"/>
              </a:rPr>
              <a:t>0.095</a:t>
            </a:r>
            <a:endParaRPr lang="en-US" sz="1650" dirty="0"/>
          </a:p>
        </p:txBody>
      </p:sp>
      <p:sp>
        <p:nvSpPr>
          <p:cNvPr id="119" name="Text Cat4"/>
          <p:cNvSpPr/>
          <p:nvPr/>
        </p:nvSpPr>
        <p:spPr>
          <a:xfrm>
            <a:off x="6158982" y="7210000"/>
            <a:ext cx="1233358" cy="640000"/>
          </a:xfrm>
          <a:prstGeom prst="rect">
            <a:avLst/>
          </a:prstGeom>
          <a:noFill/>
          <a:ln/>
        </p:spPr>
        <p:txBody>
          <a:bodyPr wrap="square" lIns="25400" tIns="25400" rIns="25400" bIns="25400" rtlCol="0" anchor="t">
            <a:normAutofit/>
          </a:bodyPr>
          <a:lstStyle/>
          <a:p>
            <a:pPr marL="0" indent="0" algn="ctr">
              <a:lnSpc>
                <a:spcPct val="100000"/>
              </a:lnSpc>
              <a:buNone/>
            </a:pPr>
            <a:r>
              <a:rPr lang="en-US" sz="1400" dirty="0">
                <a:solidFill>
                  <a:srgbClr val="33464B"/>
                </a:solidFill>
                <a:latin typeface="Inter" panose="02000503000000020004" pitchFamily="2" charset="0"/>
                <a:ea typeface="Inter" panose="02000503000000020004" pitchFamily="2" charset="0"/>
                <a:cs typeface="IBM Plex Sans" pitchFamily="34" charset="-120"/>
              </a:rPr>
              <a:t>Drug B</a:t>
            </a:r>
            <a:endParaRPr lang="en-US" sz="1400" dirty="0"/>
          </a:p>
          <a:p>
            <a:pPr marL="0" indent="0" algn="ctr">
              <a:lnSpc>
                <a:spcPct val="100000"/>
              </a:lnSpc>
              <a:buNone/>
            </a:pPr>
            <a:r>
              <a:rPr lang="en-US" sz="1400" dirty="0">
                <a:solidFill>
                  <a:srgbClr val="33464B"/>
                </a:solidFill>
                <a:latin typeface="Inter" panose="02000503000000020004" pitchFamily="2" charset="0"/>
                <a:ea typeface="Inter" panose="02000503000000020004" pitchFamily="2" charset="0"/>
                <a:cs typeface="IBM Plex Sans" pitchFamily="34" charset="-120"/>
              </a:rPr>
              <a:t>risk score</a:t>
            </a:r>
            <a:endParaRPr lang="en-US" sz="1400" dirty="0"/>
          </a:p>
        </p:txBody>
      </p:sp>
      <p:sp>
        <p:nvSpPr>
          <p:cNvPr id="120" name="Shape Bar5"/>
          <p:cNvSpPr/>
          <p:nvPr/>
        </p:nvSpPr>
        <p:spPr>
          <a:xfrm>
            <a:off x="7609019" y="5699314"/>
            <a:ext cx="800000" cy="1380686"/>
          </a:xfrm>
          <a:prstGeom prst="roundRect">
            <a:avLst>
              <a:gd name="adj" fmla="val 8000"/>
            </a:avLst>
          </a:prstGeom>
          <a:solidFill>
            <a:srgbClr val="8FCCC4"/>
          </a:solidFill>
          <a:ln/>
        </p:spPr>
      </p:sp>
      <p:sp>
        <p:nvSpPr>
          <p:cNvPr id="121" name="Text Val5"/>
          <p:cNvSpPr/>
          <p:nvPr/>
        </p:nvSpPr>
        <p:spPr>
          <a:xfrm>
            <a:off x="7392340" y="5299314"/>
            <a:ext cx="1233358" cy="340000"/>
          </a:xfrm>
          <a:prstGeom prst="rect">
            <a:avLst/>
          </a:prstGeom>
          <a:noFill/>
          <a:ln/>
        </p:spPr>
        <p:txBody>
          <a:bodyPr wrap="square" lIns="25400" tIns="25400" rIns="25400" bIns="25400" rtlCol="0" anchor="t">
            <a:normAutofit/>
          </a:bodyPr>
          <a:lstStyle/>
          <a:p>
            <a:pPr marL="0" indent="0" algn="ctr">
              <a:buNone/>
            </a:pPr>
            <a:r>
              <a:rPr lang="en-US" sz="1650" b="1" dirty="0">
                <a:solidFill>
                  <a:srgbClr val="33464B"/>
                </a:solidFill>
                <a:latin typeface="Inter" panose="02000503000000020004" pitchFamily="2" charset="0"/>
                <a:ea typeface="Inter" panose="02000503000000020004" pitchFamily="2" charset="0"/>
                <a:cs typeface="Archivo" pitchFamily="34" charset="-120"/>
              </a:rPr>
              <a:t>0.082</a:t>
            </a:r>
            <a:endParaRPr lang="en-US" sz="1650" dirty="0"/>
          </a:p>
        </p:txBody>
      </p:sp>
      <p:sp>
        <p:nvSpPr>
          <p:cNvPr id="122" name="Text Cat5"/>
          <p:cNvSpPr/>
          <p:nvPr/>
        </p:nvSpPr>
        <p:spPr>
          <a:xfrm>
            <a:off x="7392340" y="7210000"/>
            <a:ext cx="1233358" cy="640000"/>
          </a:xfrm>
          <a:prstGeom prst="rect">
            <a:avLst/>
          </a:prstGeom>
          <a:noFill/>
          <a:ln/>
        </p:spPr>
        <p:txBody>
          <a:bodyPr wrap="square" lIns="25400" tIns="25400" rIns="25400" bIns="25400" rtlCol="0" anchor="t">
            <a:normAutofit/>
          </a:bodyPr>
          <a:lstStyle/>
          <a:p>
            <a:pPr marL="0" indent="0" algn="ctr">
              <a:lnSpc>
                <a:spcPct val="100000"/>
              </a:lnSpc>
              <a:buNone/>
            </a:pPr>
            <a:r>
              <a:rPr lang="en-US" sz="1400" dirty="0">
                <a:solidFill>
                  <a:srgbClr val="33464B"/>
                </a:solidFill>
                <a:latin typeface="Inter" panose="02000503000000020004" pitchFamily="2" charset="0"/>
                <a:ea typeface="Inter" panose="02000503000000020004" pitchFamily="2" charset="0"/>
                <a:cs typeface="IBM Plex Sans" pitchFamily="34" charset="-120"/>
              </a:rPr>
              <a:t>ATC class</a:t>
            </a:r>
            <a:endParaRPr lang="en-US" sz="1400" dirty="0"/>
          </a:p>
          <a:p>
            <a:pPr marL="0" indent="0" algn="ctr">
              <a:lnSpc>
                <a:spcPct val="100000"/>
              </a:lnSpc>
              <a:buNone/>
            </a:pPr>
            <a:r>
              <a:rPr lang="en-US" sz="1400" dirty="0">
                <a:solidFill>
                  <a:srgbClr val="33464B"/>
                </a:solidFill>
                <a:latin typeface="Inter" panose="02000503000000020004" pitchFamily="2" charset="0"/>
                <a:ea typeface="Inter" panose="02000503000000020004" pitchFamily="2" charset="0"/>
                <a:cs typeface="IBM Plex Sans" pitchFamily="34" charset="-120"/>
              </a:rPr>
              <a:t>missing</a:t>
            </a:r>
            <a:endParaRPr lang="en-US" sz="1400" dirty="0"/>
          </a:p>
        </p:txBody>
      </p:sp>
      <p:sp>
        <p:nvSpPr>
          <p:cNvPr id="123" name="Shape Axis"/>
          <p:cNvSpPr/>
          <p:nvPr/>
        </p:nvSpPr>
        <p:spPr>
          <a:xfrm>
            <a:off x="1225550" y="7080000"/>
            <a:ext cx="7400150" cy="9525"/>
          </a:xfrm>
          <a:prstGeom prst="rect">
            <a:avLst/>
          </a:prstGeom>
          <a:solidFill>
            <a:srgbClr val="E1EEEC"/>
          </a:solidFill>
          <a:ln/>
        </p:spPr>
      </p:sp>
      <p:sp>
        <p:nvSpPr>
          <p:cNvPr id="124" name="Text LCap"/>
          <p:cNvSpPr/>
          <p:nvPr/>
        </p:nvSpPr>
        <p:spPr>
          <a:xfrm>
            <a:off x="1225550" y="7930000"/>
            <a:ext cx="7400150" cy="340000"/>
          </a:xfrm>
          <a:prstGeom prst="rect">
            <a:avLst/>
          </a:prstGeom>
          <a:noFill/>
          <a:ln/>
        </p:spPr>
        <p:txBody>
          <a:bodyPr wrap="square" lIns="25400" tIns="25400" rIns="25400" bIns="25400" rtlCol="0" anchor="t">
            <a:normAutofit/>
          </a:bodyPr>
          <a:lstStyle/>
          <a:p>
            <a:pPr marL="0" indent="0" algn="l">
              <a:buNone/>
            </a:pPr>
            <a:r>
              <a:rPr lang="en-US" sz="1650" dirty="0">
                <a:solidFill>
                  <a:srgbClr val="6F7D81"/>
                </a:solidFill>
                <a:latin typeface="Inter" panose="02000503000000020004" pitchFamily="2" charset="0"/>
                <a:ea typeface="Inter" panose="02000503000000020004" pitchFamily="2" charset="0"/>
                <a:cs typeface="IBM Plex Sans" pitchFamily="34" charset="-120"/>
              </a:rPr>
              <a:t>Gini importance · these 6 of 27 carry 77.5%</a:t>
            </a:r>
            <a:endParaRPr lang="en-US" sz="1650" dirty="0"/>
          </a:p>
        </p:txBody>
      </p:sp>
      <p:sp>
        <p:nvSpPr>
          <p:cNvPr id="125" name="Text RH"/>
          <p:cNvSpPr/>
          <p:nvPr/>
        </p:nvSpPr>
        <p:spPr>
          <a:xfrm>
            <a:off x="9662300" y="2180000"/>
            <a:ext cx="7400150" cy="300000"/>
          </a:xfrm>
          <a:prstGeom prst="rect">
            <a:avLst/>
          </a:prstGeom>
          <a:noFill/>
          <a:ln/>
        </p:spPr>
        <p:txBody>
          <a:bodyPr wrap="square" lIns="25400" tIns="25400" rIns="25400" bIns="25400" rtlCol="0" anchor="t">
            <a:normAutofit/>
          </a:bodyPr>
          <a:lstStyle/>
          <a:p>
            <a:pPr marL="0" indent="0" algn="l">
              <a:buNone/>
            </a:pPr>
            <a:r>
              <a:rPr lang="en-US" sz="1500" b="1" dirty="0">
                <a:solidFill>
                  <a:srgbClr val="016359"/>
                </a:solidFill>
                <a:latin typeface="Inter" panose="02000503000000020004" pitchFamily="2" charset="0"/>
                <a:ea typeface="Inter" panose="02000503000000020004" pitchFamily="2" charset="0"/>
                <a:cs typeface="Archivo" pitchFamily="34" charset="-120"/>
              </a:rPr>
              <a:t>CONFUSION MATRIX</a:t>
            </a:r>
            <a:endParaRPr lang="en-US" sz="1500" dirty="0"/>
          </a:p>
        </p:txBody>
      </p:sp>
      <p:sp>
        <p:nvSpPr>
          <p:cNvPr id="126" name="Text PredHdr"/>
          <p:cNvSpPr/>
          <p:nvPr/>
        </p:nvSpPr>
        <p:spPr>
          <a:xfrm>
            <a:off x="11252300" y="2600000"/>
            <a:ext cx="5810000" cy="300000"/>
          </a:xfrm>
          <a:prstGeom prst="rect">
            <a:avLst/>
          </a:prstGeom>
          <a:noFill/>
          <a:ln/>
        </p:spPr>
        <p:txBody>
          <a:bodyPr wrap="square" lIns="25400" tIns="25400" rIns="25400" bIns="25400" rtlCol="0" anchor="t">
            <a:normAutofit/>
          </a:bodyPr>
          <a:lstStyle/>
          <a:p>
            <a:pPr marL="0" indent="0" algn="ctr">
              <a:buNone/>
            </a:pPr>
            <a:r>
              <a:rPr lang="en-US" sz="1300" dirty="0">
                <a:solidFill>
                  <a:srgbClr val="6F7D81"/>
                </a:solidFill>
                <a:latin typeface="Inter" panose="02000503000000020004" pitchFamily="2" charset="0"/>
                <a:ea typeface="Inter" panose="02000503000000020004" pitchFamily="2" charset="0"/>
                <a:cs typeface="IBM Plex Sans" pitchFamily="34" charset="-120"/>
              </a:rPr>
              <a:t>PREDICTED</a:t>
            </a:r>
            <a:endParaRPr lang="en-US" sz="1300" dirty="0"/>
          </a:p>
        </p:txBody>
      </p:sp>
      <p:sp>
        <p:nvSpPr>
          <p:cNvPr id="127" name="Text TrueHdr"/>
          <p:cNvSpPr/>
          <p:nvPr/>
        </p:nvSpPr>
        <p:spPr>
          <a:xfrm>
            <a:off x="9662300" y="2600000"/>
            <a:ext cx="1500000" cy="300000"/>
          </a:xfrm>
          <a:prstGeom prst="rect">
            <a:avLst/>
          </a:prstGeom>
          <a:noFill/>
          <a:ln/>
        </p:spPr>
        <p:txBody>
          <a:bodyPr wrap="square" lIns="25400" tIns="25400" rIns="25400" bIns="25400" rtlCol="0" anchor="t">
            <a:normAutofit/>
          </a:bodyPr>
          <a:lstStyle/>
          <a:p>
            <a:pPr marL="0" indent="0" algn="r">
              <a:buNone/>
            </a:pPr>
            <a:r>
              <a:rPr lang="en-US" sz="1300" dirty="0">
                <a:solidFill>
                  <a:srgbClr val="6F7D81"/>
                </a:solidFill>
                <a:latin typeface="Inter" panose="02000503000000020004" pitchFamily="2" charset="0"/>
                <a:ea typeface="Inter" panose="02000503000000020004" pitchFamily="2" charset="0"/>
                <a:cs typeface="IBM Plex Sans" pitchFamily="34" charset="-120"/>
              </a:rPr>
              <a:t>TRUE</a:t>
            </a:r>
            <a:endParaRPr lang="en-US" sz="1300" dirty="0"/>
          </a:p>
        </p:txBody>
      </p:sp>
      <p:sp>
        <p:nvSpPr>
          <p:cNvPr id="128" name="Text Col0"/>
          <p:cNvSpPr/>
          <p:nvPr/>
        </p:nvSpPr>
        <p:spPr>
          <a:xfrm>
            <a:off x="11252300" y="2940000"/>
            <a:ext cx="1920000" cy="330000"/>
          </a:xfrm>
          <a:prstGeom prst="rect">
            <a:avLst/>
          </a:prstGeom>
          <a:noFill/>
          <a:ln/>
        </p:spPr>
        <p:txBody>
          <a:bodyPr wrap="square" lIns="25400" tIns="25400" rIns="25400" bIns="25400" rtlCol="0" anchor="t">
            <a:normAutofit/>
          </a:bodyPr>
          <a:lstStyle/>
          <a:p>
            <a:pPr marL="0" indent="0" algn="ctr">
              <a:buNone/>
            </a:pPr>
            <a:r>
              <a:rPr lang="en-US" sz="1600" dirty="0">
                <a:solidFill>
                  <a:srgbClr val="33464B"/>
                </a:solidFill>
                <a:latin typeface="Inter" panose="02000503000000020004" pitchFamily="2" charset="0"/>
                <a:ea typeface="Inter" panose="02000503000000020004" pitchFamily="2" charset="0"/>
                <a:cs typeface="IBM Plex Sans" pitchFamily="34" charset="-120"/>
              </a:rPr>
              <a:t>Low</a:t>
            </a:r>
            <a:endParaRPr lang="en-US" sz="1600" dirty="0"/>
          </a:p>
        </p:txBody>
      </p:sp>
      <p:sp>
        <p:nvSpPr>
          <p:cNvPr id="129" name="Text Col1"/>
          <p:cNvSpPr/>
          <p:nvPr/>
        </p:nvSpPr>
        <p:spPr>
          <a:xfrm>
            <a:off x="13197300" y="2940000"/>
            <a:ext cx="1920000" cy="330000"/>
          </a:xfrm>
          <a:prstGeom prst="rect">
            <a:avLst/>
          </a:prstGeom>
          <a:noFill/>
          <a:ln/>
        </p:spPr>
        <p:txBody>
          <a:bodyPr wrap="square" lIns="25400" tIns="25400" rIns="25400" bIns="25400" rtlCol="0" anchor="t">
            <a:normAutofit/>
          </a:bodyPr>
          <a:lstStyle/>
          <a:p>
            <a:pPr marL="0" indent="0" algn="ctr">
              <a:buNone/>
            </a:pPr>
            <a:r>
              <a:rPr lang="en-US" sz="1600" dirty="0">
                <a:solidFill>
                  <a:srgbClr val="33464B"/>
                </a:solidFill>
                <a:latin typeface="Inter" panose="02000503000000020004" pitchFamily="2" charset="0"/>
                <a:ea typeface="Inter" panose="02000503000000020004" pitchFamily="2" charset="0"/>
                <a:cs typeface="IBM Plex Sans" pitchFamily="34" charset="-120"/>
              </a:rPr>
              <a:t>Moderate</a:t>
            </a:r>
            <a:endParaRPr lang="en-US" sz="1600" dirty="0"/>
          </a:p>
        </p:txBody>
      </p:sp>
      <p:sp>
        <p:nvSpPr>
          <p:cNvPr id="130" name="Text Col2"/>
          <p:cNvSpPr/>
          <p:nvPr/>
        </p:nvSpPr>
        <p:spPr>
          <a:xfrm>
            <a:off x="15142300" y="2940000"/>
            <a:ext cx="1920000" cy="330000"/>
          </a:xfrm>
          <a:prstGeom prst="rect">
            <a:avLst/>
          </a:prstGeom>
          <a:noFill/>
          <a:ln/>
        </p:spPr>
        <p:txBody>
          <a:bodyPr wrap="square" lIns="25400" tIns="25400" rIns="25400" bIns="25400" rtlCol="0" anchor="t">
            <a:normAutofit/>
          </a:bodyPr>
          <a:lstStyle/>
          <a:p>
            <a:pPr marL="0" indent="0" algn="ctr">
              <a:buNone/>
            </a:pPr>
            <a:r>
              <a:rPr lang="en-US" sz="1600" dirty="0">
                <a:solidFill>
                  <a:srgbClr val="33464B"/>
                </a:solidFill>
                <a:latin typeface="Inter" panose="02000503000000020004" pitchFamily="2" charset="0"/>
                <a:ea typeface="Inter" panose="02000503000000020004" pitchFamily="2" charset="0"/>
                <a:cs typeface="IBM Plex Sans" pitchFamily="34" charset="-120"/>
              </a:rPr>
              <a:t>High</a:t>
            </a:r>
            <a:endParaRPr lang="en-US" sz="1600" dirty="0"/>
          </a:p>
        </p:txBody>
      </p:sp>
      <p:sp>
        <p:nvSpPr>
          <p:cNvPr id="131" name="Text Row0"/>
          <p:cNvSpPr/>
          <p:nvPr/>
        </p:nvSpPr>
        <p:spPr>
          <a:xfrm>
            <a:off x="9662300" y="3580000"/>
            <a:ext cx="1450000" cy="700000"/>
          </a:xfrm>
          <a:prstGeom prst="rect">
            <a:avLst/>
          </a:prstGeom>
          <a:noFill/>
          <a:ln/>
        </p:spPr>
        <p:txBody>
          <a:bodyPr wrap="square" lIns="25400" tIns="25400" rIns="25400" bIns="25400" rtlCol="0" anchor="t">
            <a:normAutofit/>
          </a:bodyPr>
          <a:lstStyle/>
          <a:p>
            <a:pPr marL="0" indent="0" algn="r">
              <a:lnSpc>
                <a:spcPct val="105000"/>
              </a:lnSpc>
              <a:buNone/>
            </a:pPr>
            <a:r>
              <a:rPr lang="en-US" sz="1600" b="1" dirty="0">
                <a:solidFill>
                  <a:srgbClr val="33464B"/>
                </a:solidFill>
                <a:latin typeface="Inter" panose="02000503000000020004" pitchFamily="2" charset="0"/>
                <a:ea typeface="Inter" panose="02000503000000020004" pitchFamily="2" charset="0"/>
                <a:cs typeface="IBM Plex Sans" pitchFamily="34" charset="-120"/>
              </a:rPr>
              <a:t>Low</a:t>
            </a:r>
            <a:endParaRPr lang="en-US" sz="1600" dirty="0"/>
          </a:p>
          <a:p>
            <a:pPr marL="0" indent="0" algn="r">
              <a:lnSpc>
                <a:spcPct val="105000"/>
              </a:lnSpc>
              <a:buNone/>
            </a:pPr>
            <a:r>
              <a:rPr lang="en-US" sz="1250" dirty="0">
                <a:solidFill>
                  <a:srgbClr val="6F7D81"/>
                </a:solidFill>
                <a:latin typeface="Inter" panose="02000503000000020004" pitchFamily="2" charset="0"/>
                <a:ea typeface="Inter" panose="02000503000000020004" pitchFamily="2" charset="0"/>
                <a:cs typeface="IBM Plex Sans" pitchFamily="34" charset="-120"/>
              </a:rPr>
              <a:t>n = 433</a:t>
            </a:r>
            <a:endParaRPr lang="en-US" sz="1250" dirty="0"/>
          </a:p>
        </p:txBody>
      </p:sp>
      <p:sp>
        <p:nvSpPr>
          <p:cNvPr id="132" name="Shape C00"/>
          <p:cNvSpPr/>
          <p:nvPr/>
        </p:nvSpPr>
        <p:spPr>
          <a:xfrm>
            <a:off x="11252300" y="3330000"/>
            <a:ext cx="1920000" cy="1300000"/>
          </a:xfrm>
          <a:prstGeom prst="roundRect">
            <a:avLst>
              <a:gd name="adj" fmla="val 6000"/>
            </a:avLst>
          </a:prstGeom>
          <a:solidFill>
            <a:srgbClr val="DAE8E7"/>
          </a:solidFill>
          <a:ln/>
        </p:spPr>
      </p:sp>
      <p:sp>
        <p:nvSpPr>
          <p:cNvPr id="133" name="Text C00"/>
          <p:cNvSpPr/>
          <p:nvPr/>
        </p:nvSpPr>
        <p:spPr>
          <a:xfrm>
            <a:off x="11252300" y="3620000"/>
            <a:ext cx="1920000" cy="760000"/>
          </a:xfrm>
          <a:prstGeom prst="rect">
            <a:avLst/>
          </a:prstGeom>
          <a:noFill/>
          <a:ln/>
        </p:spPr>
        <p:txBody>
          <a:bodyPr wrap="square" lIns="25400" tIns="25400" rIns="25400" bIns="25400" rtlCol="0" anchor="t">
            <a:normAutofit/>
          </a:bodyPr>
          <a:lstStyle/>
          <a:p>
            <a:pPr marL="0" indent="0" algn="ctr">
              <a:lnSpc>
                <a:spcPct val="105000"/>
              </a:lnSpc>
              <a:buNone/>
            </a:pPr>
            <a:r>
              <a:rPr lang="en-US" sz="1725" b="1" dirty="0">
                <a:solidFill>
                  <a:srgbClr val="33464B"/>
                </a:solidFill>
                <a:latin typeface="Inter" panose="02000503000000020004" pitchFamily="2" charset="0"/>
                <a:ea typeface="Inter" panose="02000503000000020004" pitchFamily="2" charset="0"/>
                <a:cs typeface="Archivo" pitchFamily="34" charset="-120"/>
              </a:rPr>
              <a:t>63</a:t>
            </a:r>
            <a:endParaRPr lang="en-US" sz="1725" dirty="0"/>
          </a:p>
          <a:p>
            <a:pPr marL="0" indent="0" algn="ctr">
              <a:lnSpc>
                <a:spcPct val="105000"/>
              </a:lnSpc>
              <a:buNone/>
            </a:pPr>
            <a:r>
              <a:rPr lang="en-US" sz="1350" dirty="0">
                <a:solidFill>
                  <a:srgbClr val="33464B"/>
                </a:solidFill>
                <a:latin typeface="Inter" panose="02000503000000020004" pitchFamily="2" charset="0"/>
                <a:ea typeface="Inter" panose="02000503000000020004" pitchFamily="2" charset="0"/>
                <a:cs typeface="IBM Plex Sans" pitchFamily="34" charset="-120"/>
              </a:rPr>
              <a:t>14.5%</a:t>
            </a:r>
            <a:endParaRPr lang="en-US" sz="1350" dirty="0"/>
          </a:p>
        </p:txBody>
      </p:sp>
      <p:sp>
        <p:nvSpPr>
          <p:cNvPr id="134" name="Shape C01"/>
          <p:cNvSpPr/>
          <p:nvPr/>
        </p:nvSpPr>
        <p:spPr>
          <a:xfrm>
            <a:off x="13197300" y="3330000"/>
            <a:ext cx="1920000" cy="1300000"/>
          </a:xfrm>
          <a:prstGeom prst="roundRect">
            <a:avLst>
              <a:gd name="adj" fmla="val 6000"/>
            </a:avLst>
          </a:prstGeom>
          <a:solidFill>
            <a:srgbClr val="50938C"/>
          </a:solidFill>
          <a:ln/>
        </p:spPr>
      </p:sp>
      <p:sp>
        <p:nvSpPr>
          <p:cNvPr id="135" name="Text C01"/>
          <p:cNvSpPr/>
          <p:nvPr/>
        </p:nvSpPr>
        <p:spPr>
          <a:xfrm>
            <a:off x="13197300" y="3620000"/>
            <a:ext cx="1920000" cy="760000"/>
          </a:xfrm>
          <a:prstGeom prst="rect">
            <a:avLst/>
          </a:prstGeom>
          <a:noFill/>
          <a:ln/>
        </p:spPr>
        <p:txBody>
          <a:bodyPr wrap="square" lIns="25400" tIns="25400" rIns="25400" bIns="25400" rtlCol="0" anchor="t">
            <a:normAutofit/>
          </a:bodyPr>
          <a:lstStyle/>
          <a:p>
            <a:pPr marL="0" indent="0" algn="ctr">
              <a:lnSpc>
                <a:spcPct val="105000"/>
              </a:lnSpc>
              <a:buNone/>
            </a:pPr>
            <a:r>
              <a:rPr lang="en-US" sz="1725" b="1" dirty="0">
                <a:solidFill>
                  <a:srgbClr val="FFFFFF"/>
                </a:solidFill>
                <a:latin typeface="Inter" panose="02000503000000020004" pitchFamily="2" charset="0"/>
                <a:ea typeface="Inter" panose="02000503000000020004" pitchFamily="2" charset="0"/>
                <a:cs typeface="Archivo" pitchFamily="34" charset="-120"/>
              </a:rPr>
              <a:t>299</a:t>
            </a:r>
            <a:endParaRPr lang="en-US" sz="1725" dirty="0"/>
          </a:p>
          <a:p>
            <a:pPr marL="0" indent="0" algn="ctr">
              <a:lnSpc>
                <a:spcPct val="105000"/>
              </a:lnSpc>
              <a:buNone/>
            </a:pPr>
            <a:r>
              <a:rPr lang="en-US" sz="1350" dirty="0">
                <a:solidFill>
                  <a:srgbClr val="FFFFFF"/>
                </a:solidFill>
                <a:latin typeface="Inter" panose="02000503000000020004" pitchFamily="2" charset="0"/>
                <a:ea typeface="Inter" panose="02000503000000020004" pitchFamily="2" charset="0"/>
                <a:cs typeface="IBM Plex Sans" pitchFamily="34" charset="-120"/>
              </a:rPr>
              <a:t>69.1%</a:t>
            </a:r>
            <a:endParaRPr lang="en-US" sz="1350" dirty="0"/>
          </a:p>
        </p:txBody>
      </p:sp>
      <p:sp>
        <p:nvSpPr>
          <p:cNvPr id="136" name="Shape C02"/>
          <p:cNvSpPr/>
          <p:nvPr/>
        </p:nvSpPr>
        <p:spPr>
          <a:xfrm>
            <a:off x="15142300" y="3330000"/>
            <a:ext cx="1920000" cy="1300000"/>
          </a:xfrm>
          <a:prstGeom prst="roundRect">
            <a:avLst>
              <a:gd name="adj" fmla="val 6000"/>
            </a:avLst>
          </a:prstGeom>
          <a:solidFill>
            <a:srgbClr val="D5E5E4"/>
          </a:solidFill>
          <a:ln/>
        </p:spPr>
      </p:sp>
      <p:sp>
        <p:nvSpPr>
          <p:cNvPr id="137" name="Text C02"/>
          <p:cNvSpPr/>
          <p:nvPr/>
        </p:nvSpPr>
        <p:spPr>
          <a:xfrm>
            <a:off x="15142300" y="3620000"/>
            <a:ext cx="1920000" cy="760000"/>
          </a:xfrm>
          <a:prstGeom prst="rect">
            <a:avLst/>
          </a:prstGeom>
          <a:noFill/>
          <a:ln/>
        </p:spPr>
        <p:txBody>
          <a:bodyPr wrap="square" lIns="25400" tIns="25400" rIns="25400" bIns="25400" rtlCol="0" anchor="t">
            <a:normAutofit/>
          </a:bodyPr>
          <a:lstStyle/>
          <a:p>
            <a:pPr marL="0" indent="0" algn="ctr">
              <a:lnSpc>
                <a:spcPct val="105000"/>
              </a:lnSpc>
              <a:buNone/>
            </a:pPr>
            <a:r>
              <a:rPr lang="en-US" sz="1725" b="1" dirty="0">
                <a:solidFill>
                  <a:srgbClr val="33464B"/>
                </a:solidFill>
                <a:latin typeface="Inter" panose="02000503000000020004" pitchFamily="2" charset="0"/>
                <a:ea typeface="Inter" panose="02000503000000020004" pitchFamily="2" charset="0"/>
                <a:cs typeface="Archivo" pitchFamily="34" charset="-120"/>
              </a:rPr>
              <a:t>71</a:t>
            </a:r>
            <a:endParaRPr lang="en-US" sz="1725" dirty="0"/>
          </a:p>
          <a:p>
            <a:pPr marL="0" indent="0" algn="ctr">
              <a:lnSpc>
                <a:spcPct val="105000"/>
              </a:lnSpc>
              <a:buNone/>
            </a:pPr>
            <a:r>
              <a:rPr lang="en-US" sz="1350" dirty="0">
                <a:solidFill>
                  <a:srgbClr val="33464B"/>
                </a:solidFill>
                <a:latin typeface="Inter" panose="02000503000000020004" pitchFamily="2" charset="0"/>
                <a:ea typeface="Inter" panose="02000503000000020004" pitchFamily="2" charset="0"/>
                <a:cs typeface="IBM Plex Sans" pitchFamily="34" charset="-120"/>
              </a:rPr>
              <a:t>16.4%</a:t>
            </a:r>
            <a:endParaRPr lang="en-US" sz="1350" dirty="0"/>
          </a:p>
        </p:txBody>
      </p:sp>
      <p:sp>
        <p:nvSpPr>
          <p:cNvPr id="138" name="Text Row1"/>
          <p:cNvSpPr/>
          <p:nvPr/>
        </p:nvSpPr>
        <p:spPr>
          <a:xfrm>
            <a:off x="9662300" y="4905000"/>
            <a:ext cx="1450000" cy="700000"/>
          </a:xfrm>
          <a:prstGeom prst="rect">
            <a:avLst/>
          </a:prstGeom>
          <a:noFill/>
          <a:ln/>
        </p:spPr>
        <p:txBody>
          <a:bodyPr wrap="square" lIns="25400" tIns="25400" rIns="25400" bIns="25400" rtlCol="0" anchor="t">
            <a:normAutofit/>
          </a:bodyPr>
          <a:lstStyle/>
          <a:p>
            <a:pPr marL="0" indent="0" algn="r">
              <a:lnSpc>
                <a:spcPct val="105000"/>
              </a:lnSpc>
              <a:buNone/>
            </a:pPr>
            <a:r>
              <a:rPr lang="en-US" sz="1600" b="1" dirty="0">
                <a:solidFill>
                  <a:srgbClr val="33464B"/>
                </a:solidFill>
                <a:latin typeface="Inter" panose="02000503000000020004" pitchFamily="2" charset="0"/>
                <a:ea typeface="Inter" panose="02000503000000020004" pitchFamily="2" charset="0"/>
                <a:cs typeface="IBM Plex Sans" pitchFamily="34" charset="-120"/>
              </a:rPr>
              <a:t>Moderate</a:t>
            </a:r>
            <a:endParaRPr lang="en-US" sz="1600" dirty="0"/>
          </a:p>
          <a:p>
            <a:pPr marL="0" indent="0" algn="r">
              <a:lnSpc>
                <a:spcPct val="105000"/>
              </a:lnSpc>
              <a:buNone/>
            </a:pPr>
            <a:r>
              <a:rPr lang="en-US" sz="1250" dirty="0">
                <a:solidFill>
                  <a:srgbClr val="6F7D81"/>
                </a:solidFill>
                <a:latin typeface="Inter" panose="02000503000000020004" pitchFamily="2" charset="0"/>
                <a:ea typeface="Inter" panose="02000503000000020004" pitchFamily="2" charset="0"/>
                <a:cs typeface="IBM Plex Sans" pitchFamily="34" charset="-120"/>
              </a:rPr>
              <a:t>n = 166,273</a:t>
            </a:r>
            <a:endParaRPr lang="en-US" sz="1250" dirty="0"/>
          </a:p>
        </p:txBody>
      </p:sp>
      <p:sp>
        <p:nvSpPr>
          <p:cNvPr id="139" name="Shape C10"/>
          <p:cNvSpPr/>
          <p:nvPr/>
        </p:nvSpPr>
        <p:spPr>
          <a:xfrm>
            <a:off x="11252300" y="4655000"/>
            <a:ext cx="1920000" cy="1300000"/>
          </a:xfrm>
          <a:prstGeom prst="roundRect">
            <a:avLst>
              <a:gd name="adj" fmla="val 6000"/>
            </a:avLst>
          </a:prstGeom>
          <a:solidFill>
            <a:srgbClr val="FEFEFE"/>
          </a:solidFill>
          <a:ln w="6350">
            <a:solidFill>
              <a:srgbClr val="E1EEEC"/>
            </a:solidFill>
            <a:prstDash val="solid"/>
          </a:ln>
        </p:spPr>
      </p:sp>
      <p:sp>
        <p:nvSpPr>
          <p:cNvPr id="140" name="Text C10"/>
          <p:cNvSpPr/>
          <p:nvPr/>
        </p:nvSpPr>
        <p:spPr>
          <a:xfrm>
            <a:off x="11252300" y="4945000"/>
            <a:ext cx="1920000" cy="760000"/>
          </a:xfrm>
          <a:prstGeom prst="rect">
            <a:avLst/>
          </a:prstGeom>
          <a:noFill/>
          <a:ln/>
        </p:spPr>
        <p:txBody>
          <a:bodyPr wrap="square" lIns="25400" tIns="25400" rIns="25400" bIns="25400" rtlCol="0" anchor="t">
            <a:normAutofit/>
          </a:bodyPr>
          <a:lstStyle/>
          <a:p>
            <a:pPr marL="0" indent="0" algn="ctr">
              <a:lnSpc>
                <a:spcPct val="105000"/>
              </a:lnSpc>
              <a:buNone/>
            </a:pPr>
            <a:r>
              <a:rPr lang="en-US" sz="1725" b="1" dirty="0">
                <a:solidFill>
                  <a:srgbClr val="6F7D81"/>
                </a:solidFill>
                <a:latin typeface="Inter" panose="02000503000000020004" pitchFamily="2" charset="0"/>
                <a:ea typeface="Inter" panose="02000503000000020004" pitchFamily="2" charset="0"/>
                <a:cs typeface="Archivo" pitchFamily="34" charset="-120"/>
              </a:rPr>
              <a:t>616</a:t>
            </a:r>
            <a:endParaRPr lang="en-US" sz="1725" dirty="0"/>
          </a:p>
          <a:p>
            <a:pPr marL="0" indent="0" algn="ctr">
              <a:lnSpc>
                <a:spcPct val="105000"/>
              </a:lnSpc>
              <a:buNone/>
            </a:pPr>
            <a:r>
              <a:rPr lang="en-US" sz="1350" dirty="0">
                <a:solidFill>
                  <a:srgbClr val="6F7D81"/>
                </a:solidFill>
                <a:latin typeface="Inter" panose="02000503000000020004" pitchFamily="2" charset="0"/>
                <a:ea typeface="Inter" panose="02000503000000020004" pitchFamily="2" charset="0"/>
                <a:cs typeface="IBM Plex Sans" pitchFamily="34" charset="-120"/>
              </a:rPr>
              <a:t>0.4%</a:t>
            </a:r>
            <a:endParaRPr lang="en-US" sz="1350" dirty="0"/>
          </a:p>
        </p:txBody>
      </p:sp>
      <p:sp>
        <p:nvSpPr>
          <p:cNvPr id="141" name="Shape C11"/>
          <p:cNvSpPr/>
          <p:nvPr/>
        </p:nvSpPr>
        <p:spPr>
          <a:xfrm>
            <a:off x="13197300" y="4655000"/>
            <a:ext cx="1920000" cy="1300000"/>
          </a:xfrm>
          <a:prstGeom prst="roundRect">
            <a:avLst>
              <a:gd name="adj" fmla="val 6000"/>
            </a:avLst>
          </a:prstGeom>
          <a:solidFill>
            <a:srgbClr val="277A72"/>
          </a:solidFill>
          <a:ln/>
        </p:spPr>
      </p:sp>
      <p:sp>
        <p:nvSpPr>
          <p:cNvPr id="142" name="Text C11"/>
          <p:cNvSpPr/>
          <p:nvPr/>
        </p:nvSpPr>
        <p:spPr>
          <a:xfrm>
            <a:off x="13197300" y="4945000"/>
            <a:ext cx="1920000" cy="760000"/>
          </a:xfrm>
          <a:prstGeom prst="rect">
            <a:avLst/>
          </a:prstGeom>
          <a:noFill/>
          <a:ln/>
        </p:spPr>
        <p:txBody>
          <a:bodyPr wrap="square" lIns="25400" tIns="25400" rIns="25400" bIns="25400" rtlCol="0" anchor="t">
            <a:normAutofit/>
          </a:bodyPr>
          <a:lstStyle/>
          <a:p>
            <a:pPr marL="0" indent="0" algn="ctr">
              <a:lnSpc>
                <a:spcPct val="105000"/>
              </a:lnSpc>
              <a:buNone/>
            </a:pPr>
            <a:r>
              <a:rPr lang="en-US" sz="1725" b="1" dirty="0">
                <a:solidFill>
                  <a:srgbClr val="FFFFFF"/>
                </a:solidFill>
                <a:latin typeface="Inter" panose="02000503000000020004" pitchFamily="2" charset="0"/>
                <a:ea typeface="Inter" panose="02000503000000020004" pitchFamily="2" charset="0"/>
                <a:cs typeface="Archivo" pitchFamily="34" charset="-120"/>
              </a:rPr>
              <a:t>141,249</a:t>
            </a:r>
            <a:endParaRPr lang="en-US" sz="1725" dirty="0"/>
          </a:p>
          <a:p>
            <a:pPr marL="0" indent="0" algn="ctr">
              <a:lnSpc>
                <a:spcPct val="105000"/>
              </a:lnSpc>
              <a:buNone/>
            </a:pPr>
            <a:r>
              <a:rPr lang="en-US" sz="1350" dirty="0">
                <a:solidFill>
                  <a:srgbClr val="FFFFFF"/>
                </a:solidFill>
                <a:latin typeface="Inter" panose="02000503000000020004" pitchFamily="2" charset="0"/>
                <a:ea typeface="Inter" panose="02000503000000020004" pitchFamily="2" charset="0"/>
                <a:cs typeface="IBM Plex Sans" pitchFamily="34" charset="-120"/>
              </a:rPr>
              <a:t>85.0%</a:t>
            </a:r>
            <a:endParaRPr lang="en-US" sz="1350" dirty="0"/>
          </a:p>
        </p:txBody>
      </p:sp>
      <p:sp>
        <p:nvSpPr>
          <p:cNvPr id="143" name="Shape C12"/>
          <p:cNvSpPr/>
          <p:nvPr/>
        </p:nvSpPr>
        <p:spPr>
          <a:xfrm>
            <a:off x="15142300" y="4655000"/>
            <a:ext cx="1920000" cy="1300000"/>
          </a:xfrm>
          <a:prstGeom prst="roundRect">
            <a:avLst>
              <a:gd name="adj" fmla="val 6000"/>
            </a:avLst>
          </a:prstGeom>
          <a:solidFill>
            <a:srgbClr val="DAE8E7"/>
          </a:solidFill>
          <a:ln/>
        </p:spPr>
      </p:sp>
      <p:sp>
        <p:nvSpPr>
          <p:cNvPr id="144" name="Text C12"/>
          <p:cNvSpPr/>
          <p:nvPr/>
        </p:nvSpPr>
        <p:spPr>
          <a:xfrm>
            <a:off x="15142300" y="4945000"/>
            <a:ext cx="1920000" cy="760000"/>
          </a:xfrm>
          <a:prstGeom prst="rect">
            <a:avLst/>
          </a:prstGeom>
          <a:noFill/>
          <a:ln/>
        </p:spPr>
        <p:txBody>
          <a:bodyPr wrap="square" lIns="25400" tIns="25400" rIns="25400" bIns="25400" rtlCol="0" anchor="t">
            <a:normAutofit/>
          </a:bodyPr>
          <a:lstStyle/>
          <a:p>
            <a:pPr marL="0" indent="0" algn="ctr">
              <a:lnSpc>
                <a:spcPct val="105000"/>
              </a:lnSpc>
              <a:buNone/>
            </a:pPr>
            <a:r>
              <a:rPr lang="en-US" sz="1725" b="1" dirty="0">
                <a:solidFill>
                  <a:srgbClr val="33464B"/>
                </a:solidFill>
                <a:latin typeface="Inter" panose="02000503000000020004" pitchFamily="2" charset="0"/>
                <a:ea typeface="Inter" panose="02000503000000020004" pitchFamily="2" charset="0"/>
                <a:cs typeface="Archivo" pitchFamily="34" charset="-120"/>
              </a:rPr>
              <a:t>24,408</a:t>
            </a:r>
            <a:endParaRPr lang="en-US" sz="1725" dirty="0"/>
          </a:p>
          <a:p>
            <a:pPr marL="0" indent="0" algn="ctr">
              <a:lnSpc>
                <a:spcPct val="105000"/>
              </a:lnSpc>
              <a:buNone/>
            </a:pPr>
            <a:r>
              <a:rPr lang="en-US" sz="1350" dirty="0">
                <a:solidFill>
                  <a:srgbClr val="33464B"/>
                </a:solidFill>
                <a:latin typeface="Inter" panose="02000503000000020004" pitchFamily="2" charset="0"/>
                <a:ea typeface="Inter" panose="02000503000000020004" pitchFamily="2" charset="0"/>
                <a:cs typeface="IBM Plex Sans" pitchFamily="34" charset="-120"/>
              </a:rPr>
              <a:t>14.7%</a:t>
            </a:r>
            <a:endParaRPr lang="en-US" sz="1350" dirty="0"/>
          </a:p>
        </p:txBody>
      </p:sp>
      <p:sp>
        <p:nvSpPr>
          <p:cNvPr id="145" name="Text Row2"/>
          <p:cNvSpPr/>
          <p:nvPr/>
        </p:nvSpPr>
        <p:spPr>
          <a:xfrm>
            <a:off x="9662300" y="6230000"/>
            <a:ext cx="1450000" cy="700000"/>
          </a:xfrm>
          <a:prstGeom prst="rect">
            <a:avLst/>
          </a:prstGeom>
          <a:noFill/>
          <a:ln/>
        </p:spPr>
        <p:txBody>
          <a:bodyPr wrap="square" lIns="25400" tIns="25400" rIns="25400" bIns="25400" rtlCol="0" anchor="t">
            <a:normAutofit/>
          </a:bodyPr>
          <a:lstStyle/>
          <a:p>
            <a:pPr marL="0" indent="0" algn="r">
              <a:lnSpc>
                <a:spcPct val="105000"/>
              </a:lnSpc>
              <a:buNone/>
            </a:pPr>
            <a:r>
              <a:rPr lang="en-US" sz="1600" b="1" dirty="0">
                <a:solidFill>
                  <a:srgbClr val="33464B"/>
                </a:solidFill>
                <a:latin typeface="Inter" panose="02000503000000020004" pitchFamily="2" charset="0"/>
                <a:ea typeface="Inter" panose="02000503000000020004" pitchFamily="2" charset="0"/>
                <a:cs typeface="IBM Plex Sans" pitchFamily="34" charset="-120"/>
              </a:rPr>
              <a:t>High</a:t>
            </a:r>
            <a:endParaRPr lang="en-US" sz="1600" dirty="0"/>
          </a:p>
          <a:p>
            <a:pPr marL="0" indent="0" algn="r">
              <a:lnSpc>
                <a:spcPct val="105000"/>
              </a:lnSpc>
              <a:buNone/>
            </a:pPr>
            <a:r>
              <a:rPr lang="en-US" sz="1250" dirty="0">
                <a:solidFill>
                  <a:srgbClr val="6F7D81"/>
                </a:solidFill>
                <a:latin typeface="Inter" panose="02000503000000020004" pitchFamily="2" charset="0"/>
                <a:ea typeface="Inter" panose="02000503000000020004" pitchFamily="2" charset="0"/>
                <a:cs typeface="IBM Plex Sans" pitchFamily="34" charset="-120"/>
              </a:rPr>
              <a:t>n = 51,812</a:t>
            </a:r>
            <a:endParaRPr lang="en-US" sz="1250" dirty="0"/>
          </a:p>
        </p:txBody>
      </p:sp>
      <p:sp>
        <p:nvSpPr>
          <p:cNvPr id="146" name="Shape C20"/>
          <p:cNvSpPr/>
          <p:nvPr/>
        </p:nvSpPr>
        <p:spPr>
          <a:xfrm>
            <a:off x="11252300" y="5980000"/>
            <a:ext cx="1920000" cy="1300000"/>
          </a:xfrm>
          <a:prstGeom prst="roundRect">
            <a:avLst>
              <a:gd name="adj" fmla="val 6000"/>
            </a:avLst>
          </a:prstGeom>
          <a:solidFill>
            <a:srgbClr val="FFFFFF"/>
          </a:solidFill>
          <a:ln w="6350">
            <a:solidFill>
              <a:srgbClr val="E1EEEC"/>
            </a:solidFill>
            <a:prstDash val="solid"/>
          </a:ln>
        </p:spPr>
      </p:sp>
      <p:sp>
        <p:nvSpPr>
          <p:cNvPr id="147" name="Text C20"/>
          <p:cNvSpPr/>
          <p:nvPr/>
        </p:nvSpPr>
        <p:spPr>
          <a:xfrm>
            <a:off x="11252300" y="6270000"/>
            <a:ext cx="1920000" cy="760000"/>
          </a:xfrm>
          <a:prstGeom prst="rect">
            <a:avLst/>
          </a:prstGeom>
          <a:noFill/>
          <a:ln/>
        </p:spPr>
        <p:txBody>
          <a:bodyPr wrap="square" lIns="25400" tIns="25400" rIns="25400" bIns="25400" rtlCol="0" anchor="t">
            <a:normAutofit/>
          </a:bodyPr>
          <a:lstStyle/>
          <a:p>
            <a:pPr marL="0" indent="0" algn="ctr">
              <a:lnSpc>
                <a:spcPct val="105000"/>
              </a:lnSpc>
              <a:buNone/>
            </a:pPr>
            <a:r>
              <a:rPr lang="en-US" sz="1725" b="1" dirty="0">
                <a:solidFill>
                  <a:srgbClr val="6F7D81"/>
                </a:solidFill>
                <a:latin typeface="Inter" panose="02000503000000020004" pitchFamily="2" charset="0"/>
                <a:ea typeface="Inter" panose="02000503000000020004" pitchFamily="2" charset="0"/>
                <a:cs typeface="Archivo" pitchFamily="34" charset="-120"/>
              </a:rPr>
              <a:t>0</a:t>
            </a:r>
            <a:endParaRPr lang="en-US" sz="1725" dirty="0"/>
          </a:p>
          <a:p>
            <a:pPr marL="0" indent="0" algn="ctr">
              <a:lnSpc>
                <a:spcPct val="105000"/>
              </a:lnSpc>
              <a:buNone/>
            </a:pPr>
            <a:r>
              <a:rPr lang="en-US" sz="1350" dirty="0">
                <a:solidFill>
                  <a:srgbClr val="6F7D81"/>
                </a:solidFill>
                <a:latin typeface="Inter" panose="02000503000000020004" pitchFamily="2" charset="0"/>
                <a:ea typeface="Inter" panose="02000503000000020004" pitchFamily="2" charset="0"/>
                <a:cs typeface="IBM Plex Sans" pitchFamily="34" charset="-120"/>
              </a:rPr>
              <a:t>0.0%</a:t>
            </a:r>
            <a:endParaRPr lang="en-US" sz="1350" dirty="0"/>
          </a:p>
        </p:txBody>
      </p:sp>
      <p:sp>
        <p:nvSpPr>
          <p:cNvPr id="148" name="Shape C21"/>
          <p:cNvSpPr/>
          <p:nvPr/>
        </p:nvSpPr>
        <p:spPr>
          <a:xfrm>
            <a:off x="13197300" y="5980000"/>
            <a:ext cx="1920000" cy="1300000"/>
          </a:xfrm>
          <a:prstGeom prst="roundRect">
            <a:avLst>
              <a:gd name="adj" fmla="val 6000"/>
            </a:avLst>
          </a:prstGeom>
          <a:solidFill>
            <a:srgbClr val="E8F1F0"/>
          </a:solidFill>
          <a:ln/>
        </p:spPr>
      </p:sp>
      <p:sp>
        <p:nvSpPr>
          <p:cNvPr id="149" name="Text C21"/>
          <p:cNvSpPr/>
          <p:nvPr/>
        </p:nvSpPr>
        <p:spPr>
          <a:xfrm>
            <a:off x="13197300" y="6270000"/>
            <a:ext cx="1920000" cy="760000"/>
          </a:xfrm>
          <a:prstGeom prst="rect">
            <a:avLst/>
          </a:prstGeom>
          <a:noFill/>
          <a:ln/>
        </p:spPr>
        <p:txBody>
          <a:bodyPr wrap="square" lIns="25400" tIns="25400" rIns="25400" bIns="25400" rtlCol="0" anchor="t">
            <a:normAutofit/>
          </a:bodyPr>
          <a:lstStyle/>
          <a:p>
            <a:pPr marL="0" indent="0" algn="ctr">
              <a:lnSpc>
                <a:spcPct val="105000"/>
              </a:lnSpc>
              <a:buNone/>
            </a:pPr>
            <a:r>
              <a:rPr lang="en-US" sz="1725" b="1" dirty="0">
                <a:solidFill>
                  <a:srgbClr val="33464B"/>
                </a:solidFill>
                <a:latin typeface="Inter" panose="02000503000000020004" pitchFamily="2" charset="0"/>
                <a:ea typeface="Inter" panose="02000503000000020004" pitchFamily="2" charset="0"/>
                <a:cs typeface="Archivo" pitchFamily="34" charset="-120"/>
              </a:rPr>
              <a:t>4,642</a:t>
            </a:r>
            <a:endParaRPr lang="en-US" sz="1725" dirty="0"/>
          </a:p>
          <a:p>
            <a:pPr marL="0" indent="0" algn="ctr">
              <a:lnSpc>
                <a:spcPct val="105000"/>
              </a:lnSpc>
              <a:buNone/>
            </a:pPr>
            <a:r>
              <a:rPr lang="en-US" sz="1350" dirty="0">
                <a:solidFill>
                  <a:srgbClr val="33464B"/>
                </a:solidFill>
                <a:latin typeface="Inter" panose="02000503000000020004" pitchFamily="2" charset="0"/>
                <a:ea typeface="Inter" panose="02000503000000020004" pitchFamily="2" charset="0"/>
                <a:cs typeface="IBM Plex Sans" pitchFamily="34" charset="-120"/>
              </a:rPr>
              <a:t>9.0%</a:t>
            </a:r>
            <a:endParaRPr lang="en-US" sz="1350" dirty="0"/>
          </a:p>
        </p:txBody>
      </p:sp>
      <p:sp>
        <p:nvSpPr>
          <p:cNvPr id="150" name="Shape C22"/>
          <p:cNvSpPr/>
          <p:nvPr/>
        </p:nvSpPr>
        <p:spPr>
          <a:xfrm>
            <a:off x="15142300" y="5980000"/>
            <a:ext cx="1920000" cy="1300000"/>
          </a:xfrm>
          <a:prstGeom prst="roundRect">
            <a:avLst>
              <a:gd name="adj" fmla="val 6000"/>
            </a:avLst>
          </a:prstGeom>
          <a:solidFill>
            <a:srgbClr val="187168"/>
          </a:solidFill>
          <a:ln/>
        </p:spPr>
      </p:sp>
      <p:sp>
        <p:nvSpPr>
          <p:cNvPr id="151" name="Text C22"/>
          <p:cNvSpPr/>
          <p:nvPr/>
        </p:nvSpPr>
        <p:spPr>
          <a:xfrm>
            <a:off x="15142300" y="6270000"/>
            <a:ext cx="1920000" cy="760000"/>
          </a:xfrm>
          <a:prstGeom prst="rect">
            <a:avLst/>
          </a:prstGeom>
          <a:noFill/>
          <a:ln/>
        </p:spPr>
        <p:txBody>
          <a:bodyPr wrap="square" lIns="25400" tIns="25400" rIns="25400" bIns="25400" rtlCol="0" anchor="t">
            <a:normAutofit/>
          </a:bodyPr>
          <a:lstStyle/>
          <a:p>
            <a:pPr marL="0" indent="0" algn="ctr">
              <a:lnSpc>
                <a:spcPct val="105000"/>
              </a:lnSpc>
              <a:buNone/>
            </a:pPr>
            <a:r>
              <a:rPr lang="en-US" sz="1725" b="1" dirty="0">
                <a:solidFill>
                  <a:srgbClr val="FFFFFF"/>
                </a:solidFill>
                <a:latin typeface="Inter" panose="02000503000000020004" pitchFamily="2" charset="0"/>
                <a:ea typeface="Inter" panose="02000503000000020004" pitchFamily="2" charset="0"/>
                <a:cs typeface="Archivo" pitchFamily="34" charset="-120"/>
              </a:rPr>
              <a:t>47,170</a:t>
            </a:r>
            <a:endParaRPr lang="en-US" sz="1725" dirty="0"/>
          </a:p>
          <a:p>
            <a:pPr marL="0" indent="0" algn="ctr">
              <a:lnSpc>
                <a:spcPct val="105000"/>
              </a:lnSpc>
              <a:buNone/>
            </a:pPr>
            <a:r>
              <a:rPr lang="en-US" sz="1350" dirty="0">
                <a:solidFill>
                  <a:srgbClr val="FFFFFF"/>
                </a:solidFill>
                <a:latin typeface="Inter" panose="02000503000000020004" pitchFamily="2" charset="0"/>
                <a:ea typeface="Inter" panose="02000503000000020004" pitchFamily="2" charset="0"/>
                <a:cs typeface="IBM Plex Sans" pitchFamily="34" charset="-120"/>
              </a:rPr>
              <a:t>91.0%</a:t>
            </a:r>
            <a:endParaRPr lang="en-US" sz="1350" dirty="0"/>
          </a:p>
        </p:txBody>
      </p:sp>
      <p:sp>
        <p:nvSpPr>
          <p:cNvPr id="152" name="Text RCap"/>
          <p:cNvSpPr/>
          <p:nvPr/>
        </p:nvSpPr>
        <p:spPr>
          <a:xfrm>
            <a:off x="9662300" y="7930000"/>
            <a:ext cx="7400150" cy="340000"/>
          </a:xfrm>
          <a:prstGeom prst="rect">
            <a:avLst/>
          </a:prstGeom>
          <a:noFill/>
          <a:ln/>
        </p:spPr>
        <p:txBody>
          <a:bodyPr wrap="square" lIns="25400" tIns="25400" rIns="25400" bIns="25400" rtlCol="0" anchor="t">
            <a:normAutofit/>
          </a:bodyPr>
          <a:lstStyle/>
          <a:p>
            <a:pPr marL="0" indent="0" algn="l">
              <a:buNone/>
            </a:pPr>
            <a:r>
              <a:rPr lang="en-US" sz="1650" dirty="0">
                <a:solidFill>
                  <a:srgbClr val="6F7D81"/>
                </a:solidFill>
                <a:latin typeface="Inter" panose="02000503000000020004" pitchFamily="2" charset="0"/>
                <a:ea typeface="Inter" panose="02000503000000020004" pitchFamily="2" charset="0"/>
                <a:cs typeface="IBM Plex Sans" pitchFamily="34" charset="-120"/>
              </a:rPr>
              <a:t>Row-normalised · 218,518 held-out drug pairs</a:t>
            </a:r>
            <a:endParaRPr lang="en-US" sz="1650" dirty="0"/>
          </a:p>
        </p:txBody>
      </p:sp>
      <p:sp>
        <p:nvSpPr>
          <p:cNvPr id="153" name="Shape Strip"/>
          <p:cNvSpPr/>
          <p:nvPr/>
        </p:nvSpPr>
        <p:spPr>
          <a:xfrm>
            <a:off x="857250" y="8750000"/>
            <a:ext cx="16573500" cy="927400"/>
          </a:xfrm>
          <a:prstGeom prst="roundRect">
            <a:avLst>
              <a:gd name="adj" fmla="val 12000"/>
            </a:avLst>
          </a:prstGeom>
          <a:solidFill>
            <a:srgbClr val="003F39"/>
          </a:solidFill>
          <a:ln/>
        </p:spPr>
      </p:sp>
      <p:sp>
        <p:nvSpPr>
          <p:cNvPr id="154" name="Text Strip"/>
          <p:cNvSpPr/>
          <p:nvPr/>
        </p:nvSpPr>
        <p:spPr>
          <a:xfrm>
            <a:off x="1237250" y="8750000"/>
            <a:ext cx="15800000" cy="927400"/>
          </a:xfrm>
          <a:prstGeom prst="rect">
            <a:avLst/>
          </a:prstGeom>
          <a:noFill/>
          <a:ln/>
        </p:spPr>
        <p:txBody>
          <a:bodyPr wrap="square" lIns="25400" tIns="25400" rIns="25400" bIns="25400" rtlCol="0" anchor="ctr">
            <a:normAutofit/>
          </a:bodyPr>
          <a:lstStyle/>
          <a:p>
            <a:pPr marL="0" indent="0" algn="l">
              <a:lnSpc>
                <a:spcPct val="110000"/>
              </a:lnSpc>
              <a:buNone/>
            </a:pPr>
            <a:r>
              <a:rPr lang="en-US" sz="2000" dirty="0">
                <a:solidFill>
                  <a:srgbClr val="FFFFFF"/>
                </a:solidFill>
                <a:latin typeface="Inter" panose="02000503000000020004" pitchFamily="2" charset="0"/>
                <a:ea typeface="Inter" panose="02000503000000020004" pitchFamily="2" charset="0"/>
                <a:cs typeface="IBM Plex Sans" pitchFamily="34" charset="-120"/>
              </a:rPr>
              <a:t>Errors run upward. 24,408 Moderate pairs were graded High, while under 0.2% of High pairs fell to Low — the asymmetry that buys 91.0% High-tier recall.</a:t>
            </a:r>
            <a:endParaRPr lang="en-US" sz="2000" dirty="0"/>
          </a:p>
        </p:txBody>
      </p:sp>
      <p:sp>
        <p:nvSpPr>
          <p:cNvPr id="155" name="Shape 0"/>
          <p:cNvSpPr/>
          <p:nvPr/>
        </p:nvSpPr>
        <p:spPr>
          <a:xfrm>
            <a:off x="914400" y="710826"/>
            <a:ext cx="133350" cy="133350"/>
          </a:xfrm>
          <a:prstGeom prst="rect">
            <a:avLst/>
          </a:prstGeom>
          <a:solidFill>
            <a:srgbClr val="0B5C4A"/>
          </a:solidFill>
          <a:ln/>
        </p:spPr>
      </p:sp>
      <p:sp>
        <p:nvSpPr>
          <p:cNvPr id="156" name="Text 1"/>
          <p:cNvSpPr/>
          <p:nvPr/>
        </p:nvSpPr>
        <p:spPr>
          <a:xfrm>
            <a:off x="1219200" y="574114"/>
            <a:ext cx="103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RESULTS: FEATURE IMPORTANCE AND ERRORS</a:t>
            </a:r>
            <a:endParaRPr lang="en-US" sz="2400" dirty="0"/>
          </a:p>
        </p:txBody>
      </p:sp>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609600"/>
            <a:ext cx="814388" cy="247650"/>
          </a:xfrm>
          <a:prstGeom prst="rect">
            <a:avLst/>
          </a:prstGeom>
        </p:spPr>
      </p:pic>
      <p:sp>
        <p:nvSpPr>
          <p:cNvPr id="4" name="Text 1"/>
          <p:cNvSpPr/>
          <p:nvPr/>
        </p:nvSpPr>
        <p:spPr>
          <a:xfrm>
            <a:off x="857250" y="1028700"/>
            <a:ext cx="1634490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On drugs it has never seen, the model is measurably weaker</a:t>
            </a:r>
            <a:endParaRPr lang="en-US" sz="3975" dirty="0"/>
          </a:p>
        </p:txBody>
      </p:sp>
      <p:sp>
        <p:nvSpPr>
          <p:cNvPr id="5" name="Shape 2"/>
          <p:cNvSpPr/>
          <p:nvPr/>
        </p:nvSpPr>
        <p:spPr>
          <a:xfrm>
            <a:off x="857250" y="3494782"/>
            <a:ext cx="8169275" cy="2749550"/>
          </a:xfrm>
          <a:prstGeom prst="roundRect">
            <a:avLst>
              <a:gd name="adj" fmla="val 6928"/>
            </a:avLst>
          </a:prstGeom>
          <a:solidFill>
            <a:srgbClr val="FFFFFF"/>
          </a:solidFill>
          <a:ln w="6350">
            <a:solidFill>
              <a:srgbClr val="E1EEEC"/>
            </a:solidFill>
            <a:prstDash val="solid"/>
          </a:ln>
        </p:spPr>
      </p:sp>
      <p:sp>
        <p:nvSpPr>
          <p:cNvPr id="6" name="Text 3"/>
          <p:cNvSpPr/>
          <p:nvPr/>
        </p:nvSpPr>
        <p:spPr>
          <a:xfrm>
            <a:off x="1225550" y="3824982"/>
            <a:ext cx="8175943" cy="285750"/>
          </a:xfrm>
          <a:prstGeom prst="rect">
            <a:avLst/>
          </a:prstGeom>
          <a:noFill/>
          <a:ln/>
        </p:spPr>
        <p:txBody>
          <a:bodyPr wrap="square" lIns="25400" tIns="25400" rIns="25400" bIns="25400" rtlCol="0" anchor="t">
            <a:normAutofit/>
          </a:bodyPr>
          <a:lstStyle/>
          <a:p>
            <a:pPr marL="0" indent="0" algn="l">
              <a:lnSpc>
                <a:spcPct val="76471"/>
              </a:lnSpc>
              <a:buNone/>
            </a:pPr>
            <a:r>
              <a:rPr lang="en-US" sz="1950" kern="0" spc="234" dirty="0">
                <a:solidFill>
                  <a:srgbClr val="016359"/>
                </a:solidFill>
                <a:latin typeface="Inter" panose="02000503000000020004" pitchFamily="2" charset="0"/>
                <a:ea typeface="Inter" panose="02000503000000020004" pitchFamily="2" charset="0"/>
                <a:cs typeface="IBM Plex Sans" pitchFamily="34" charset="-120"/>
              </a:rPr>
              <a:t>CATALOGUED DRUGS</a:t>
            </a:r>
            <a:endParaRPr lang="en-US" sz="1950" dirty="0"/>
          </a:p>
        </p:txBody>
      </p:sp>
      <p:sp>
        <p:nvSpPr>
          <p:cNvPr id="7" name="Shape 4"/>
          <p:cNvSpPr/>
          <p:nvPr/>
        </p:nvSpPr>
        <p:spPr>
          <a:xfrm>
            <a:off x="1225550" y="4796532"/>
            <a:ext cx="7432675" cy="9525"/>
          </a:xfrm>
          <a:prstGeom prst="rect">
            <a:avLst/>
          </a:prstGeom>
          <a:solidFill>
            <a:srgbClr val="E1EEEC"/>
          </a:solidFill>
          <a:ln/>
        </p:spPr>
      </p:sp>
      <p:sp>
        <p:nvSpPr>
          <p:cNvPr id="8" name="Text 5"/>
          <p:cNvSpPr/>
          <p:nvPr/>
        </p:nvSpPr>
        <p:spPr>
          <a:xfrm>
            <a:off x="1225550" y="4320282"/>
            <a:ext cx="1093589" cy="361950"/>
          </a:xfrm>
          <a:prstGeom prst="rect">
            <a:avLst/>
          </a:prstGeom>
          <a:noFill/>
          <a:ln/>
        </p:spPr>
        <p:txBody>
          <a:bodyPr wrap="square" lIns="25400" tIns="25400" rIns="25400" bIns="25400" rtlCol="0" anchor="t">
            <a:normAutofit fontScale="92500"/>
          </a:bodyPr>
          <a:lstStyle/>
          <a:p>
            <a:pPr marL="0" indent="0" algn="l">
              <a:buNone/>
            </a:pPr>
            <a:r>
              <a:rPr lang="en-US" sz="1950" dirty="0">
                <a:solidFill>
                  <a:srgbClr val="33464B"/>
                </a:solidFill>
                <a:latin typeface="Inter" panose="02000503000000020004" pitchFamily="2" charset="0"/>
                <a:ea typeface="Inter" panose="02000503000000020004" pitchFamily="2" charset="0"/>
                <a:cs typeface="IBM Plex Sans" pitchFamily="34" charset="-120"/>
              </a:rPr>
              <a:t>Accuracy</a:t>
            </a:r>
            <a:endParaRPr lang="en-US" sz="1950" dirty="0"/>
          </a:p>
        </p:txBody>
      </p:sp>
      <p:sp>
        <p:nvSpPr>
          <p:cNvPr id="9" name="Text 6"/>
          <p:cNvSpPr/>
          <p:nvPr/>
        </p:nvSpPr>
        <p:spPr>
          <a:xfrm>
            <a:off x="7802662" y="4320282"/>
            <a:ext cx="931763" cy="3492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016359"/>
                </a:solidFill>
                <a:latin typeface="Inter" panose="02000503000000020004" pitchFamily="2" charset="0"/>
                <a:ea typeface="Inter" panose="02000503000000020004" pitchFamily="2" charset="0"/>
                <a:cs typeface="Archivo" pitchFamily="34" charset="-120"/>
              </a:rPr>
              <a:t>86.3%</a:t>
            </a:r>
            <a:endParaRPr lang="en-US" sz="2250" dirty="0"/>
          </a:p>
        </p:txBody>
      </p:sp>
      <p:sp>
        <p:nvSpPr>
          <p:cNvPr id="10" name="Shape 7"/>
          <p:cNvSpPr/>
          <p:nvPr/>
        </p:nvSpPr>
        <p:spPr>
          <a:xfrm>
            <a:off x="1225550" y="5431532"/>
            <a:ext cx="7432675" cy="9525"/>
          </a:xfrm>
          <a:prstGeom prst="rect">
            <a:avLst/>
          </a:prstGeom>
          <a:solidFill>
            <a:srgbClr val="E1EEEC"/>
          </a:solidFill>
          <a:ln/>
        </p:spPr>
      </p:sp>
      <p:sp>
        <p:nvSpPr>
          <p:cNvPr id="11" name="Text 8"/>
          <p:cNvSpPr/>
          <p:nvPr/>
        </p:nvSpPr>
        <p:spPr>
          <a:xfrm>
            <a:off x="1225550" y="4955282"/>
            <a:ext cx="1107976" cy="361950"/>
          </a:xfrm>
          <a:prstGeom prst="rect">
            <a:avLst/>
          </a:prstGeom>
          <a:noFill/>
          <a:ln/>
        </p:spPr>
        <p:txBody>
          <a:bodyPr wrap="square" lIns="25400" tIns="25400" rIns="25400" bIns="25400" rtlCol="0" anchor="t">
            <a:normAutofit fontScale="92500"/>
          </a:bodyPr>
          <a:lstStyle/>
          <a:p>
            <a:pPr marL="0" indent="0" algn="l">
              <a:buNone/>
            </a:pPr>
            <a:r>
              <a:rPr lang="en-US" sz="1950" dirty="0">
                <a:solidFill>
                  <a:srgbClr val="33464B"/>
                </a:solidFill>
                <a:latin typeface="Inter" panose="02000503000000020004" pitchFamily="2" charset="0"/>
                <a:ea typeface="Inter" panose="02000503000000020004" pitchFamily="2" charset="0"/>
                <a:cs typeface="IBM Plex Sans" pitchFamily="34" charset="-120"/>
              </a:rPr>
              <a:t>Macro F1</a:t>
            </a:r>
            <a:endParaRPr lang="en-US" sz="1950" dirty="0"/>
          </a:p>
        </p:txBody>
      </p:sp>
      <p:sp>
        <p:nvSpPr>
          <p:cNvPr id="12" name="Text 9"/>
          <p:cNvSpPr/>
          <p:nvPr/>
        </p:nvSpPr>
        <p:spPr>
          <a:xfrm>
            <a:off x="7914680" y="4955282"/>
            <a:ext cx="819745" cy="349250"/>
          </a:xfrm>
          <a:prstGeom prst="rect">
            <a:avLst/>
          </a:prstGeom>
          <a:noFill/>
          <a:ln/>
        </p:spPr>
        <p:txBody>
          <a:bodyPr wrap="square" lIns="25400" tIns="25400" rIns="25400" bIns="25400" rtlCol="0" anchor="t">
            <a:normAutofit fontScale="85000" lnSpcReduction="10000"/>
          </a:bodyPr>
          <a:lstStyle/>
          <a:p>
            <a:pPr marL="0" indent="0" algn="l">
              <a:buNone/>
            </a:pPr>
            <a:r>
              <a:rPr lang="en-US" sz="2250" b="1" dirty="0">
                <a:solidFill>
                  <a:srgbClr val="016359"/>
                </a:solidFill>
                <a:latin typeface="Inter" panose="02000503000000020004" pitchFamily="2" charset="0"/>
                <a:ea typeface="Inter" panose="02000503000000020004" pitchFamily="2" charset="0"/>
                <a:cs typeface="Archivo" pitchFamily="34" charset="-120"/>
              </a:rPr>
              <a:t>0.594</a:t>
            </a:r>
            <a:endParaRPr lang="en-US" sz="2250" dirty="0"/>
          </a:p>
        </p:txBody>
      </p:sp>
      <p:sp>
        <p:nvSpPr>
          <p:cNvPr id="13" name="Text 10"/>
          <p:cNvSpPr/>
          <p:nvPr/>
        </p:nvSpPr>
        <p:spPr>
          <a:xfrm>
            <a:off x="1225550" y="5590282"/>
            <a:ext cx="1823085" cy="361950"/>
          </a:xfrm>
          <a:prstGeom prst="rect">
            <a:avLst/>
          </a:prstGeom>
          <a:noFill/>
          <a:ln/>
        </p:spPr>
        <p:txBody>
          <a:bodyPr wrap="square" lIns="25400" tIns="25400" rIns="25400" bIns="25400" rtlCol="0" anchor="t">
            <a:normAutofit/>
          </a:bodyPr>
          <a:lstStyle/>
          <a:p>
            <a:pPr marL="0" indent="0" algn="l">
              <a:buNone/>
            </a:pPr>
            <a:r>
              <a:rPr lang="en-US" sz="1950" dirty="0">
                <a:solidFill>
                  <a:srgbClr val="33464B"/>
                </a:solidFill>
                <a:latin typeface="Inter" panose="02000503000000020004" pitchFamily="2" charset="0"/>
                <a:ea typeface="Inter" panose="02000503000000020004" pitchFamily="2" charset="0"/>
                <a:cs typeface="IBM Plex Sans" pitchFamily="34" charset="-120"/>
              </a:rPr>
              <a:t>High-tier recall</a:t>
            </a:r>
            <a:endParaRPr lang="en-US" sz="1950" dirty="0"/>
          </a:p>
        </p:txBody>
      </p:sp>
      <p:sp>
        <p:nvSpPr>
          <p:cNvPr id="14" name="Text 11"/>
          <p:cNvSpPr/>
          <p:nvPr/>
        </p:nvSpPr>
        <p:spPr>
          <a:xfrm>
            <a:off x="7914977" y="5590282"/>
            <a:ext cx="819448" cy="3492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016359"/>
                </a:solidFill>
                <a:latin typeface="Inter" panose="02000503000000020004" pitchFamily="2" charset="0"/>
                <a:ea typeface="Inter" panose="02000503000000020004" pitchFamily="2" charset="0"/>
                <a:cs typeface="Archivo" pitchFamily="34" charset="-120"/>
              </a:rPr>
              <a:t>0.910</a:t>
            </a:r>
            <a:endParaRPr lang="en-US" sz="2250" dirty="0"/>
          </a:p>
        </p:txBody>
      </p:sp>
      <p:sp>
        <p:nvSpPr>
          <p:cNvPr id="15" name="Shape 12"/>
          <p:cNvSpPr/>
          <p:nvPr/>
        </p:nvSpPr>
        <p:spPr>
          <a:xfrm>
            <a:off x="9274175" y="3494782"/>
            <a:ext cx="8156575" cy="2749550"/>
          </a:xfrm>
          <a:prstGeom prst="roundRect">
            <a:avLst>
              <a:gd name="adj" fmla="val 6928"/>
            </a:avLst>
          </a:prstGeom>
          <a:solidFill>
            <a:srgbClr val="0E1517"/>
          </a:solidFill>
          <a:ln/>
        </p:spPr>
      </p:sp>
      <p:sp>
        <p:nvSpPr>
          <p:cNvPr id="16" name="Text 13"/>
          <p:cNvSpPr/>
          <p:nvPr/>
        </p:nvSpPr>
        <p:spPr>
          <a:xfrm>
            <a:off x="9636125" y="3818632"/>
            <a:ext cx="8175943" cy="285750"/>
          </a:xfrm>
          <a:prstGeom prst="rect">
            <a:avLst/>
          </a:prstGeom>
          <a:noFill/>
          <a:ln/>
        </p:spPr>
        <p:txBody>
          <a:bodyPr wrap="square" lIns="25400" tIns="25400" rIns="25400" bIns="25400" rtlCol="0" anchor="t">
            <a:normAutofit/>
          </a:bodyPr>
          <a:lstStyle/>
          <a:p>
            <a:pPr marL="0" indent="0" algn="l">
              <a:lnSpc>
                <a:spcPct val="76471"/>
              </a:lnSpc>
              <a:buNone/>
            </a:pPr>
            <a:r>
              <a:rPr lang="en-US" sz="1950" kern="0" spc="234" dirty="0">
                <a:solidFill>
                  <a:srgbClr val="FBBF24"/>
                </a:solidFill>
                <a:latin typeface="Inter" panose="02000503000000020004" pitchFamily="2" charset="0"/>
                <a:ea typeface="Inter" panose="02000503000000020004" pitchFamily="2" charset="0"/>
                <a:cs typeface="IBM Plex Sans" pitchFamily="34" charset="-120"/>
              </a:rPr>
              <a:t>DRUGS HELD OUT OF TRAINING ENTIRELY</a:t>
            </a:r>
            <a:endParaRPr lang="en-US" sz="1950" dirty="0"/>
          </a:p>
        </p:txBody>
      </p:sp>
      <p:sp>
        <p:nvSpPr>
          <p:cNvPr id="17" name="Shape 14"/>
          <p:cNvSpPr/>
          <p:nvPr/>
        </p:nvSpPr>
        <p:spPr>
          <a:xfrm>
            <a:off x="9636125" y="4790182"/>
            <a:ext cx="7432675" cy="9525"/>
          </a:xfrm>
          <a:prstGeom prst="rect">
            <a:avLst/>
          </a:prstGeom>
          <a:solidFill>
            <a:srgbClr val="FFFFFF">
              <a:alpha val="14000"/>
            </a:srgbClr>
          </a:solidFill>
          <a:ln/>
        </p:spPr>
      </p:sp>
      <p:sp>
        <p:nvSpPr>
          <p:cNvPr id="18" name="Text 15"/>
          <p:cNvSpPr/>
          <p:nvPr/>
        </p:nvSpPr>
        <p:spPr>
          <a:xfrm>
            <a:off x="9636125" y="4313932"/>
            <a:ext cx="1093589" cy="361950"/>
          </a:xfrm>
          <a:prstGeom prst="rect">
            <a:avLst/>
          </a:prstGeom>
          <a:noFill/>
          <a:ln/>
        </p:spPr>
        <p:txBody>
          <a:bodyPr wrap="square" lIns="25400" tIns="25400" rIns="25400" bIns="25400" rtlCol="0" anchor="t">
            <a:normAutofit fontScale="92500"/>
          </a:bodyPr>
          <a:lstStyle/>
          <a:p>
            <a:pPr marL="0" indent="0" algn="l">
              <a:buNone/>
            </a:pPr>
            <a:r>
              <a:rPr lang="en-US" sz="1950" dirty="0">
                <a:solidFill>
                  <a:srgbClr val="C2CFCD"/>
                </a:solidFill>
                <a:latin typeface="Inter" panose="02000503000000020004" pitchFamily="2" charset="0"/>
                <a:ea typeface="Inter" panose="02000503000000020004" pitchFamily="2" charset="0"/>
                <a:cs typeface="IBM Plex Sans" pitchFamily="34" charset="-120"/>
              </a:rPr>
              <a:t>Accuracy</a:t>
            </a:r>
            <a:endParaRPr lang="en-US" sz="1950" dirty="0"/>
          </a:p>
        </p:txBody>
      </p:sp>
      <p:sp>
        <p:nvSpPr>
          <p:cNvPr id="19" name="Text 16"/>
          <p:cNvSpPr/>
          <p:nvPr/>
        </p:nvSpPr>
        <p:spPr>
          <a:xfrm>
            <a:off x="16213535" y="4313932"/>
            <a:ext cx="931466" cy="3492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FBBF24"/>
                </a:solidFill>
                <a:latin typeface="Inter" panose="02000503000000020004" pitchFamily="2" charset="0"/>
                <a:ea typeface="Inter" panose="02000503000000020004" pitchFamily="2" charset="0"/>
                <a:cs typeface="Archivo" pitchFamily="34" charset="-120"/>
              </a:rPr>
              <a:t>69.6%</a:t>
            </a:r>
            <a:endParaRPr lang="en-US" sz="2250" dirty="0"/>
          </a:p>
        </p:txBody>
      </p:sp>
      <p:sp>
        <p:nvSpPr>
          <p:cNvPr id="20" name="Shape 17"/>
          <p:cNvSpPr/>
          <p:nvPr/>
        </p:nvSpPr>
        <p:spPr>
          <a:xfrm>
            <a:off x="9636125" y="5425182"/>
            <a:ext cx="7432675" cy="9525"/>
          </a:xfrm>
          <a:prstGeom prst="rect">
            <a:avLst/>
          </a:prstGeom>
          <a:solidFill>
            <a:srgbClr val="FFFFFF">
              <a:alpha val="14000"/>
            </a:srgbClr>
          </a:solidFill>
          <a:ln/>
        </p:spPr>
      </p:sp>
      <p:sp>
        <p:nvSpPr>
          <p:cNvPr id="21" name="Text 18"/>
          <p:cNvSpPr/>
          <p:nvPr/>
        </p:nvSpPr>
        <p:spPr>
          <a:xfrm>
            <a:off x="9636125" y="4948932"/>
            <a:ext cx="1107976" cy="361950"/>
          </a:xfrm>
          <a:prstGeom prst="rect">
            <a:avLst/>
          </a:prstGeom>
          <a:noFill/>
          <a:ln/>
        </p:spPr>
        <p:txBody>
          <a:bodyPr wrap="square" lIns="25400" tIns="25400" rIns="25400" bIns="25400" rtlCol="0" anchor="t">
            <a:normAutofit fontScale="92500"/>
          </a:bodyPr>
          <a:lstStyle/>
          <a:p>
            <a:pPr marL="0" indent="0" algn="l">
              <a:buNone/>
            </a:pPr>
            <a:r>
              <a:rPr lang="en-US" sz="1950" dirty="0">
                <a:solidFill>
                  <a:srgbClr val="C2CFCD"/>
                </a:solidFill>
                <a:latin typeface="Inter" panose="02000503000000020004" pitchFamily="2" charset="0"/>
                <a:ea typeface="Inter" panose="02000503000000020004" pitchFamily="2" charset="0"/>
                <a:cs typeface="IBM Plex Sans" pitchFamily="34" charset="-120"/>
              </a:rPr>
              <a:t>Macro F1</a:t>
            </a:r>
            <a:endParaRPr lang="en-US" sz="1950" dirty="0"/>
          </a:p>
        </p:txBody>
      </p:sp>
      <p:sp>
        <p:nvSpPr>
          <p:cNvPr id="22" name="Text 19"/>
          <p:cNvSpPr/>
          <p:nvPr/>
        </p:nvSpPr>
        <p:spPr>
          <a:xfrm>
            <a:off x="16324659" y="4948932"/>
            <a:ext cx="820341" cy="3492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FBBF24"/>
                </a:solidFill>
                <a:latin typeface="Inter" panose="02000503000000020004" pitchFamily="2" charset="0"/>
                <a:ea typeface="Inter" panose="02000503000000020004" pitchFamily="2" charset="0"/>
                <a:cs typeface="Archivo" pitchFamily="34" charset="-120"/>
              </a:rPr>
              <a:t>0.472</a:t>
            </a:r>
            <a:endParaRPr lang="en-US" sz="2250" dirty="0"/>
          </a:p>
        </p:txBody>
      </p:sp>
      <p:sp>
        <p:nvSpPr>
          <p:cNvPr id="23" name="Text 20"/>
          <p:cNvSpPr/>
          <p:nvPr/>
        </p:nvSpPr>
        <p:spPr>
          <a:xfrm>
            <a:off x="9636125" y="5583932"/>
            <a:ext cx="1823085" cy="361950"/>
          </a:xfrm>
          <a:prstGeom prst="rect">
            <a:avLst/>
          </a:prstGeom>
          <a:noFill/>
          <a:ln/>
        </p:spPr>
        <p:txBody>
          <a:bodyPr wrap="square" lIns="25400" tIns="25400" rIns="25400" bIns="25400" rtlCol="0" anchor="t">
            <a:normAutofit/>
          </a:bodyPr>
          <a:lstStyle/>
          <a:p>
            <a:pPr marL="0" indent="0" algn="l">
              <a:buNone/>
            </a:pPr>
            <a:r>
              <a:rPr lang="en-US" sz="1950" dirty="0">
                <a:solidFill>
                  <a:srgbClr val="C2CFCD"/>
                </a:solidFill>
                <a:latin typeface="Inter" panose="02000503000000020004" pitchFamily="2" charset="0"/>
                <a:ea typeface="Inter" panose="02000503000000020004" pitchFamily="2" charset="0"/>
                <a:cs typeface="IBM Plex Sans" pitchFamily="34" charset="-120"/>
              </a:rPr>
              <a:t>High-tier recall</a:t>
            </a:r>
            <a:endParaRPr lang="en-US" sz="1950" dirty="0"/>
          </a:p>
        </p:txBody>
      </p:sp>
      <p:sp>
        <p:nvSpPr>
          <p:cNvPr id="24" name="Text 21"/>
          <p:cNvSpPr/>
          <p:nvPr/>
        </p:nvSpPr>
        <p:spPr>
          <a:xfrm>
            <a:off x="16324659" y="5583932"/>
            <a:ext cx="820341" cy="349250"/>
          </a:xfrm>
          <a:prstGeom prst="rect">
            <a:avLst/>
          </a:prstGeom>
          <a:noFill/>
          <a:ln/>
        </p:spPr>
        <p:txBody>
          <a:bodyPr wrap="square" lIns="25400" tIns="25400" rIns="25400" bIns="25400" rtlCol="0" anchor="t">
            <a:normAutofit fontScale="85000" lnSpcReduction="10000"/>
          </a:bodyPr>
          <a:lstStyle/>
          <a:p>
            <a:pPr marL="0" indent="0" algn="l">
              <a:buNone/>
            </a:pPr>
            <a:r>
              <a:rPr lang="en-US" sz="2250" b="1" dirty="0">
                <a:solidFill>
                  <a:srgbClr val="4FD1C5"/>
                </a:solidFill>
                <a:latin typeface="Inter" panose="02000503000000020004" pitchFamily="2" charset="0"/>
                <a:ea typeface="Inter" panose="02000503000000020004" pitchFamily="2" charset="0"/>
                <a:cs typeface="Archivo" pitchFamily="34" charset="-120"/>
              </a:rPr>
              <a:t>0.864</a:t>
            </a:r>
            <a:endParaRPr lang="en-US" sz="2250" dirty="0"/>
          </a:p>
        </p:txBody>
      </p:sp>
      <p:sp>
        <p:nvSpPr>
          <p:cNvPr id="25" name="Shape 22"/>
          <p:cNvSpPr/>
          <p:nvPr/>
        </p:nvSpPr>
        <p:spPr>
          <a:xfrm>
            <a:off x="857250" y="6491982"/>
            <a:ext cx="16573500" cy="1609725"/>
          </a:xfrm>
          <a:prstGeom prst="roundRect">
            <a:avLst>
              <a:gd name="adj" fmla="val 11834"/>
            </a:avLst>
          </a:prstGeom>
          <a:solidFill>
            <a:srgbClr val="016359"/>
          </a:solidFill>
          <a:ln/>
        </p:spPr>
      </p:sp>
      <p:sp>
        <p:nvSpPr>
          <p:cNvPr id="26" name="Text 23"/>
          <p:cNvSpPr/>
          <p:nvPr/>
        </p:nvSpPr>
        <p:spPr>
          <a:xfrm>
            <a:off x="1257300" y="6853932"/>
            <a:ext cx="15893415" cy="923925"/>
          </a:xfrm>
          <a:prstGeom prst="rect">
            <a:avLst/>
          </a:prstGeom>
          <a:noFill/>
          <a:ln/>
        </p:spPr>
        <p:txBody>
          <a:bodyPr wrap="square" lIns="25400" tIns="25400" rIns="25400" bIns="25400" rtlCol="0" anchor="t">
            <a:normAutofit fontScale="92500"/>
          </a:bodyPr>
          <a:lstStyle/>
          <a:p>
            <a:pPr marL="0" indent="0" algn="l">
              <a:lnSpc>
                <a:spcPct val="114344"/>
              </a:lnSpc>
              <a:buNone/>
            </a:pPr>
            <a:r>
              <a:rPr lang="en-US" sz="2325" dirty="0">
                <a:solidFill>
                  <a:srgbClr val="FFFFFF"/>
                </a:solidFill>
                <a:latin typeface="Inter" panose="02000503000000020004" pitchFamily="2" charset="0"/>
                <a:ea typeface="Inter" panose="02000503000000020004" pitchFamily="2" charset="0"/>
                <a:cs typeface="IBM Plex Sans" pitchFamily="34" charset="-120"/>
              </a:rPr>
              <a:t>The five strongest features are all measures of a drug's recorded risk history. That makes the model transparent and auditable, and it is exactly why a genuinely new medicine, with no history to draw on, is predicted less reliably.</a:t>
            </a:r>
            <a:endParaRPr lang="en-US" sz="2325" dirty="0"/>
          </a:p>
        </p:txBody>
      </p:sp>
      <p:sp>
        <p:nvSpPr>
          <p:cNvPr id="27" name="Shape 0">
            <a:extLst>
              <a:ext uri="{FF2B5EF4-FFF2-40B4-BE49-F238E27FC236}">
                <a16:creationId xmlns:a16="http://schemas.microsoft.com/office/drawing/2014/main" id="{522F6C3F-BCBB-D7C8-3BAB-B0A7B32593E6}"/>
              </a:ext>
            </a:extLst>
          </p:cNvPr>
          <p:cNvSpPr/>
          <p:nvPr/>
        </p:nvSpPr>
        <p:spPr>
          <a:xfrm>
            <a:off x="914400" y="710826"/>
            <a:ext cx="133350" cy="133350"/>
          </a:xfrm>
          <a:prstGeom prst="rect">
            <a:avLst/>
          </a:prstGeom>
          <a:solidFill>
            <a:srgbClr val="0B5C4A"/>
          </a:solidFill>
          <a:ln/>
        </p:spPr>
      </p:sp>
      <p:sp>
        <p:nvSpPr>
          <p:cNvPr id="28" name="Text 1">
            <a:extLst>
              <a:ext uri="{FF2B5EF4-FFF2-40B4-BE49-F238E27FC236}">
                <a16:creationId xmlns:a16="http://schemas.microsoft.com/office/drawing/2014/main" id="{3FAF90E4-4502-02BC-3D16-E34B41E2832D}"/>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RESULTS: COLD START EVALUATION</a:t>
            </a:r>
            <a:endParaRPr lang="en-US" sz="2400" dirty="0"/>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609600"/>
            <a:ext cx="814388" cy="247650"/>
          </a:xfrm>
          <a:prstGeom prst="rect">
            <a:avLst/>
          </a:prstGeom>
        </p:spPr>
      </p:pic>
      <p:sp>
        <p:nvSpPr>
          <p:cNvPr id="4" name="Text 1"/>
          <p:cNvSpPr/>
          <p:nvPr/>
        </p:nvSpPr>
        <p:spPr>
          <a:xfrm>
            <a:off x="857250" y="1028700"/>
            <a:ext cx="15697200" cy="1209278"/>
          </a:xfrm>
          <a:prstGeom prst="rect">
            <a:avLst/>
          </a:prstGeom>
          <a:noFill/>
          <a:ln/>
        </p:spPr>
        <p:txBody>
          <a:bodyPr wrap="square" lIns="25400" tIns="25400" rIns="25400" bIns="25400" rtlCol="0" anchor="t">
            <a:normAutofit fontScale="92500" lnSpcReduction="100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Small enough to live inside the app, and tested against the real database</a:t>
            </a:r>
            <a:endParaRPr lang="en-US" sz="3975" dirty="0"/>
          </a:p>
        </p:txBody>
      </p:sp>
      <p:sp>
        <p:nvSpPr>
          <p:cNvPr id="5" name="Shape 2"/>
          <p:cNvSpPr/>
          <p:nvPr/>
        </p:nvSpPr>
        <p:spPr>
          <a:xfrm>
            <a:off x="857250" y="3952875"/>
            <a:ext cx="5363567" cy="2206228"/>
          </a:xfrm>
          <a:prstGeom prst="roundRect">
            <a:avLst>
              <a:gd name="adj" fmla="val 8635"/>
            </a:avLst>
          </a:prstGeom>
          <a:solidFill>
            <a:srgbClr val="003F39"/>
          </a:solidFill>
          <a:ln/>
        </p:spPr>
      </p:sp>
      <p:sp>
        <p:nvSpPr>
          <p:cNvPr id="6" name="Text 3"/>
          <p:cNvSpPr/>
          <p:nvPr/>
        </p:nvSpPr>
        <p:spPr>
          <a:xfrm>
            <a:off x="1181100" y="4295775"/>
            <a:ext cx="5187454" cy="628650"/>
          </a:xfrm>
          <a:prstGeom prst="rect">
            <a:avLst/>
          </a:prstGeom>
          <a:noFill/>
          <a:ln/>
        </p:spPr>
        <p:txBody>
          <a:bodyPr wrap="square" lIns="25400" tIns="25400" rIns="25400" bIns="25400" rtlCol="0" anchor="t">
            <a:normAutofit fontScale="92500" lnSpcReduction="10000"/>
          </a:bodyPr>
          <a:lstStyle/>
          <a:p>
            <a:pPr marL="0" indent="0" algn="l">
              <a:lnSpc>
                <a:spcPct val="91176"/>
              </a:lnSpc>
              <a:buNone/>
            </a:pPr>
            <a:r>
              <a:rPr lang="en-US" sz="4650" b="1" kern="0" spc="-139" dirty="0">
                <a:solidFill>
                  <a:srgbClr val="FFFFFF"/>
                </a:solidFill>
                <a:latin typeface="Inter" panose="02000503000000020004" pitchFamily="2" charset="0"/>
                <a:ea typeface="Inter" panose="02000503000000020004" pitchFamily="2" charset="0"/>
                <a:cs typeface="Archivo" pitchFamily="34" charset="-120"/>
              </a:rPr>
              <a:t>7,984</a:t>
            </a:r>
            <a:endParaRPr lang="en-US" sz="4650" dirty="0"/>
          </a:p>
        </p:txBody>
      </p:sp>
      <p:sp>
        <p:nvSpPr>
          <p:cNvPr id="7" name="Text 4"/>
          <p:cNvSpPr/>
          <p:nvPr/>
        </p:nvSpPr>
        <p:spPr>
          <a:xfrm>
            <a:off x="1181100" y="5057775"/>
            <a:ext cx="4857343" cy="783828"/>
          </a:xfrm>
          <a:prstGeom prst="rect">
            <a:avLst/>
          </a:prstGeom>
          <a:noFill/>
          <a:ln/>
        </p:spPr>
        <p:txBody>
          <a:bodyPr wrap="square" lIns="25400" tIns="25400" rIns="25400" bIns="25400" rtlCol="0" anchor="t">
            <a:normAutofit/>
          </a:bodyPr>
          <a:lstStyle/>
          <a:p>
            <a:pPr marL="0" indent="0" algn="l">
              <a:lnSpc>
                <a:spcPct val="110802"/>
              </a:lnSpc>
              <a:buNone/>
            </a:pPr>
            <a:r>
              <a:rPr lang="en-US" sz="2025" dirty="0">
                <a:solidFill>
                  <a:srgbClr val="B8D6D1"/>
                </a:solidFill>
                <a:latin typeface="Inter" panose="02000503000000020004" pitchFamily="2" charset="0"/>
                <a:ea typeface="Inter" panose="02000503000000020004" pitchFamily="2" charset="0"/>
                <a:cs typeface="IBM Plex Sans" pitchFamily="34" charset="-120"/>
              </a:rPr>
              <a:t>bytes — the whole distilled on-device model</a:t>
            </a:r>
            <a:endParaRPr lang="en-US" sz="2025" dirty="0"/>
          </a:p>
        </p:txBody>
      </p:sp>
      <p:sp>
        <p:nvSpPr>
          <p:cNvPr id="8" name="Shape 5"/>
          <p:cNvSpPr/>
          <p:nvPr/>
        </p:nvSpPr>
        <p:spPr>
          <a:xfrm>
            <a:off x="6449417" y="3952875"/>
            <a:ext cx="5376367" cy="2206228"/>
          </a:xfrm>
          <a:prstGeom prst="roundRect">
            <a:avLst>
              <a:gd name="adj" fmla="val 8635"/>
            </a:avLst>
          </a:prstGeom>
          <a:solidFill>
            <a:srgbClr val="FFFFFF"/>
          </a:solidFill>
          <a:ln w="6350">
            <a:solidFill>
              <a:srgbClr val="E1EEEC"/>
            </a:solidFill>
            <a:prstDash val="solid"/>
          </a:ln>
        </p:spPr>
      </p:sp>
      <p:sp>
        <p:nvSpPr>
          <p:cNvPr id="9" name="Text 6"/>
          <p:cNvSpPr/>
          <p:nvPr/>
        </p:nvSpPr>
        <p:spPr>
          <a:xfrm>
            <a:off x="6779618" y="4302125"/>
            <a:ext cx="5187563" cy="628650"/>
          </a:xfrm>
          <a:prstGeom prst="rect">
            <a:avLst/>
          </a:prstGeom>
          <a:noFill/>
          <a:ln/>
        </p:spPr>
        <p:txBody>
          <a:bodyPr wrap="square" lIns="25400" tIns="25400" rIns="25400" bIns="25400" rtlCol="0" anchor="t">
            <a:normAutofit fontScale="92500" lnSpcReduction="10000"/>
          </a:bodyPr>
          <a:lstStyle/>
          <a:p>
            <a:pPr marL="0" indent="0" algn="l">
              <a:lnSpc>
                <a:spcPct val="91176"/>
              </a:lnSpc>
              <a:buNone/>
            </a:pPr>
            <a:r>
              <a:rPr lang="en-US" sz="4650" b="1" kern="0" spc="-139" dirty="0">
                <a:solidFill>
                  <a:srgbClr val="016359"/>
                </a:solidFill>
                <a:latin typeface="Inter" panose="02000503000000020004" pitchFamily="2" charset="0"/>
                <a:ea typeface="Inter" panose="02000503000000020004" pitchFamily="2" charset="0"/>
                <a:cs typeface="Archivo" pitchFamily="34" charset="-120"/>
              </a:rPr>
              <a:t>95.6%</a:t>
            </a:r>
            <a:endParaRPr lang="en-US" sz="4650" dirty="0"/>
          </a:p>
        </p:txBody>
      </p:sp>
      <p:sp>
        <p:nvSpPr>
          <p:cNvPr id="10" name="Text 7"/>
          <p:cNvSpPr/>
          <p:nvPr/>
        </p:nvSpPr>
        <p:spPr>
          <a:xfrm>
            <a:off x="6779618" y="5064125"/>
            <a:ext cx="4857445" cy="783828"/>
          </a:xfrm>
          <a:prstGeom prst="rect">
            <a:avLst/>
          </a:prstGeom>
          <a:noFill/>
          <a:ln/>
        </p:spPr>
        <p:txBody>
          <a:bodyPr wrap="square" lIns="25400" tIns="25400" rIns="25400" bIns="25400" rtlCol="0" anchor="t">
            <a:normAutofit/>
          </a:bodyPr>
          <a:lstStyle/>
          <a:p>
            <a:pPr marL="0" indent="0" algn="l">
              <a:lnSpc>
                <a:spcPct val="110802"/>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of its decisions match the full Random Forest</a:t>
            </a:r>
            <a:endParaRPr lang="en-US" sz="2025" dirty="0"/>
          </a:p>
        </p:txBody>
      </p:sp>
      <p:sp>
        <p:nvSpPr>
          <p:cNvPr id="11" name="Shape 8"/>
          <p:cNvSpPr/>
          <p:nvPr/>
        </p:nvSpPr>
        <p:spPr>
          <a:xfrm>
            <a:off x="12054384" y="3952875"/>
            <a:ext cx="5376367" cy="2206228"/>
          </a:xfrm>
          <a:prstGeom prst="roundRect">
            <a:avLst>
              <a:gd name="adj" fmla="val 8635"/>
            </a:avLst>
          </a:prstGeom>
          <a:solidFill>
            <a:srgbClr val="FFFFFF"/>
          </a:solidFill>
          <a:ln w="6350">
            <a:solidFill>
              <a:srgbClr val="E1EEEC"/>
            </a:solidFill>
            <a:prstDash val="solid"/>
          </a:ln>
        </p:spPr>
      </p:sp>
      <p:sp>
        <p:nvSpPr>
          <p:cNvPr id="12" name="Text 9"/>
          <p:cNvSpPr/>
          <p:nvPr/>
        </p:nvSpPr>
        <p:spPr>
          <a:xfrm>
            <a:off x="12384584" y="4302125"/>
            <a:ext cx="5187563" cy="628650"/>
          </a:xfrm>
          <a:prstGeom prst="rect">
            <a:avLst/>
          </a:prstGeom>
          <a:noFill/>
          <a:ln/>
        </p:spPr>
        <p:txBody>
          <a:bodyPr wrap="square" lIns="25400" tIns="25400" rIns="25400" bIns="25400" rtlCol="0" anchor="t">
            <a:normAutofit fontScale="92500" lnSpcReduction="10000"/>
          </a:bodyPr>
          <a:lstStyle/>
          <a:p>
            <a:pPr marL="0" indent="0" algn="l">
              <a:lnSpc>
                <a:spcPct val="91176"/>
              </a:lnSpc>
              <a:buNone/>
            </a:pPr>
            <a:r>
              <a:rPr lang="en-US" sz="4650" b="1" kern="0" spc="-139" dirty="0">
                <a:solidFill>
                  <a:srgbClr val="016359"/>
                </a:solidFill>
                <a:latin typeface="Inter" panose="02000503000000020004" pitchFamily="2" charset="0"/>
                <a:ea typeface="Inter" panose="02000503000000020004" pitchFamily="2" charset="0"/>
                <a:cs typeface="Archivo" pitchFamily="34" charset="-120"/>
              </a:rPr>
              <a:t>34</a:t>
            </a:r>
            <a:endParaRPr lang="en-US" sz="4650" dirty="0"/>
          </a:p>
        </p:txBody>
      </p:sp>
      <p:sp>
        <p:nvSpPr>
          <p:cNvPr id="13" name="Text 10"/>
          <p:cNvSpPr/>
          <p:nvPr/>
        </p:nvSpPr>
        <p:spPr>
          <a:xfrm>
            <a:off x="12384584" y="5064125"/>
            <a:ext cx="4857445" cy="783828"/>
          </a:xfrm>
          <a:prstGeom prst="rect">
            <a:avLst/>
          </a:prstGeom>
          <a:noFill/>
          <a:ln/>
        </p:spPr>
        <p:txBody>
          <a:bodyPr wrap="square" lIns="25400" tIns="25400" rIns="25400" bIns="25400" rtlCol="0" anchor="t">
            <a:normAutofit/>
          </a:bodyPr>
          <a:lstStyle/>
          <a:p>
            <a:pPr marL="0" indent="0" algn="l">
              <a:lnSpc>
                <a:spcPct val="110802"/>
              </a:lnSpc>
              <a:buNone/>
            </a:pPr>
            <a:r>
              <a:rPr lang="en-US" sz="2025" dirty="0">
                <a:solidFill>
                  <a:srgbClr val="33464B"/>
                </a:solidFill>
                <a:latin typeface="Inter" panose="02000503000000020004" pitchFamily="2" charset="0"/>
                <a:ea typeface="Inter" panose="02000503000000020004" pitchFamily="2" charset="0"/>
                <a:cs typeface="IBM Plex Sans" pitchFamily="34" charset="-120"/>
              </a:rPr>
              <a:t>automated tests, including ten named clinical drug pairs</a:t>
            </a:r>
            <a:endParaRPr lang="en-US" sz="2025" dirty="0"/>
          </a:p>
        </p:txBody>
      </p:sp>
      <p:sp>
        <p:nvSpPr>
          <p:cNvPr id="14" name="Shape 11"/>
          <p:cNvSpPr/>
          <p:nvPr/>
        </p:nvSpPr>
        <p:spPr>
          <a:xfrm>
            <a:off x="857250" y="6406753"/>
            <a:ext cx="8172450" cy="1822450"/>
          </a:xfrm>
          <a:prstGeom prst="roundRect">
            <a:avLst>
              <a:gd name="adj" fmla="val 10453"/>
            </a:avLst>
          </a:prstGeom>
          <a:solidFill>
            <a:srgbClr val="FFFFFF"/>
          </a:solidFill>
          <a:ln/>
        </p:spPr>
      </p:sp>
      <p:sp>
        <p:nvSpPr>
          <p:cNvPr id="15" name="Shape 12"/>
          <p:cNvSpPr/>
          <p:nvPr/>
        </p:nvSpPr>
        <p:spPr>
          <a:xfrm>
            <a:off x="857250" y="8222853"/>
            <a:ext cx="8172450" cy="9525"/>
          </a:xfrm>
          <a:prstGeom prst="rect">
            <a:avLst/>
          </a:prstGeom>
          <a:solidFill>
            <a:srgbClr val="E1EEEC"/>
          </a:solidFill>
          <a:ln/>
        </p:spPr>
      </p:sp>
      <p:sp>
        <p:nvSpPr>
          <p:cNvPr id="16" name="Shape 13"/>
          <p:cNvSpPr/>
          <p:nvPr/>
        </p:nvSpPr>
        <p:spPr>
          <a:xfrm>
            <a:off x="857250" y="6406753"/>
            <a:ext cx="8172450" cy="9525"/>
          </a:xfrm>
          <a:prstGeom prst="rect">
            <a:avLst/>
          </a:prstGeom>
          <a:solidFill>
            <a:srgbClr val="E1EEEC"/>
          </a:solidFill>
          <a:ln/>
        </p:spPr>
      </p:sp>
      <p:sp>
        <p:nvSpPr>
          <p:cNvPr id="17" name="Shape 14"/>
          <p:cNvSpPr/>
          <p:nvPr/>
        </p:nvSpPr>
        <p:spPr>
          <a:xfrm>
            <a:off x="857250" y="6406753"/>
            <a:ext cx="57150" cy="1822450"/>
          </a:xfrm>
          <a:prstGeom prst="rect">
            <a:avLst/>
          </a:prstGeom>
          <a:solidFill>
            <a:srgbClr val="016359"/>
          </a:solidFill>
          <a:ln/>
        </p:spPr>
      </p:sp>
      <p:sp>
        <p:nvSpPr>
          <p:cNvPr id="18" name="Shape 15"/>
          <p:cNvSpPr/>
          <p:nvPr/>
        </p:nvSpPr>
        <p:spPr>
          <a:xfrm>
            <a:off x="9023350" y="6406753"/>
            <a:ext cx="9525" cy="1822450"/>
          </a:xfrm>
          <a:prstGeom prst="rect">
            <a:avLst/>
          </a:prstGeom>
          <a:solidFill>
            <a:srgbClr val="E1EEEC"/>
          </a:solidFill>
          <a:ln/>
        </p:spPr>
      </p:sp>
      <p:sp>
        <p:nvSpPr>
          <p:cNvPr id="19" name="Text 16"/>
          <p:cNvSpPr/>
          <p:nvPr/>
        </p:nvSpPr>
        <p:spPr>
          <a:xfrm>
            <a:off x="1257300" y="6717903"/>
            <a:ext cx="7645845" cy="1238250"/>
          </a:xfrm>
          <a:prstGeom prst="rect">
            <a:avLst/>
          </a:prstGeom>
          <a:noFill/>
          <a:ln/>
        </p:spPr>
        <p:txBody>
          <a:bodyPr wrap="square" lIns="25400" tIns="25400" rIns="25400" bIns="25400" rtlCol="0" anchor="t">
            <a:normAutofit/>
          </a:bodyPr>
          <a:lstStyle/>
          <a:p>
            <a:pPr marL="0" indent="0" algn="l">
              <a:lnSpc>
                <a:spcPct val="114545"/>
              </a:lnSpc>
              <a:buNone/>
            </a:pPr>
            <a:r>
              <a:rPr lang="en-US" sz="2100" dirty="0">
                <a:solidFill>
                  <a:srgbClr val="33464B"/>
                </a:solidFill>
                <a:latin typeface="Inter" panose="02000503000000020004" pitchFamily="2" charset="0"/>
                <a:ea typeface="Inter" panose="02000503000000020004" pitchFamily="2" charset="0"/>
                <a:cs typeface="IBM Plex Sans" pitchFamily="34" charset="-120"/>
              </a:rPr>
              <a:t>Warfarin with ibuprofen, simvastatin with clarithromycin, sildenafil with nitroglycerin — real pairs with known clinical outcomes.</a:t>
            </a:r>
            <a:endParaRPr lang="en-US" sz="2100" dirty="0"/>
          </a:p>
        </p:txBody>
      </p:sp>
      <p:sp>
        <p:nvSpPr>
          <p:cNvPr id="20" name="Shape 17"/>
          <p:cNvSpPr/>
          <p:nvPr/>
        </p:nvSpPr>
        <p:spPr>
          <a:xfrm>
            <a:off x="9258300" y="6406753"/>
            <a:ext cx="8172450" cy="1822450"/>
          </a:xfrm>
          <a:prstGeom prst="roundRect">
            <a:avLst>
              <a:gd name="adj" fmla="val 10453"/>
            </a:avLst>
          </a:prstGeom>
          <a:solidFill>
            <a:srgbClr val="FFFFFF"/>
          </a:solidFill>
          <a:ln/>
        </p:spPr>
      </p:sp>
      <p:sp>
        <p:nvSpPr>
          <p:cNvPr id="21" name="Shape 18"/>
          <p:cNvSpPr/>
          <p:nvPr/>
        </p:nvSpPr>
        <p:spPr>
          <a:xfrm>
            <a:off x="9258300" y="8222853"/>
            <a:ext cx="8172450" cy="9525"/>
          </a:xfrm>
          <a:prstGeom prst="rect">
            <a:avLst/>
          </a:prstGeom>
          <a:solidFill>
            <a:srgbClr val="E1EEEC"/>
          </a:solidFill>
          <a:ln/>
        </p:spPr>
      </p:sp>
      <p:sp>
        <p:nvSpPr>
          <p:cNvPr id="22" name="Shape 19"/>
          <p:cNvSpPr/>
          <p:nvPr/>
        </p:nvSpPr>
        <p:spPr>
          <a:xfrm>
            <a:off x="9258300" y="6406753"/>
            <a:ext cx="8172450" cy="9525"/>
          </a:xfrm>
          <a:prstGeom prst="rect">
            <a:avLst/>
          </a:prstGeom>
          <a:solidFill>
            <a:srgbClr val="E1EEEC"/>
          </a:solidFill>
          <a:ln/>
        </p:spPr>
      </p:sp>
      <p:sp>
        <p:nvSpPr>
          <p:cNvPr id="23" name="Shape 20"/>
          <p:cNvSpPr/>
          <p:nvPr/>
        </p:nvSpPr>
        <p:spPr>
          <a:xfrm>
            <a:off x="9258300" y="6406753"/>
            <a:ext cx="57150" cy="1822450"/>
          </a:xfrm>
          <a:prstGeom prst="rect">
            <a:avLst/>
          </a:prstGeom>
          <a:solidFill>
            <a:srgbClr val="016359"/>
          </a:solidFill>
          <a:ln/>
        </p:spPr>
      </p:sp>
      <p:sp>
        <p:nvSpPr>
          <p:cNvPr id="24" name="Shape 21"/>
          <p:cNvSpPr/>
          <p:nvPr/>
        </p:nvSpPr>
        <p:spPr>
          <a:xfrm>
            <a:off x="17424400" y="6406753"/>
            <a:ext cx="9525" cy="1822450"/>
          </a:xfrm>
          <a:prstGeom prst="rect">
            <a:avLst/>
          </a:prstGeom>
          <a:solidFill>
            <a:srgbClr val="E1EEEC"/>
          </a:solidFill>
          <a:ln/>
        </p:spPr>
      </p:sp>
      <p:sp>
        <p:nvSpPr>
          <p:cNvPr id="25" name="Text 22"/>
          <p:cNvSpPr/>
          <p:nvPr/>
        </p:nvSpPr>
        <p:spPr>
          <a:xfrm>
            <a:off x="9658350" y="6717903"/>
            <a:ext cx="7645845" cy="1238250"/>
          </a:xfrm>
          <a:prstGeom prst="rect">
            <a:avLst/>
          </a:prstGeom>
          <a:noFill/>
          <a:ln/>
        </p:spPr>
        <p:txBody>
          <a:bodyPr wrap="square" lIns="25400" tIns="25400" rIns="25400" bIns="25400" rtlCol="0" anchor="t">
            <a:normAutofit/>
          </a:bodyPr>
          <a:lstStyle/>
          <a:p>
            <a:pPr marL="0" indent="0" algn="l">
              <a:lnSpc>
                <a:spcPct val="114545"/>
              </a:lnSpc>
              <a:buNone/>
            </a:pPr>
            <a:r>
              <a:rPr lang="en-US" sz="2100" dirty="0">
                <a:solidFill>
                  <a:srgbClr val="33464B"/>
                </a:solidFill>
                <a:latin typeface="Inter" panose="02000503000000020004" pitchFamily="2" charset="0"/>
                <a:ea typeface="Inter" panose="02000503000000020004" pitchFamily="2" charset="0"/>
                <a:cs typeface="IBM Plex Sans" pitchFamily="34" charset="-120"/>
              </a:rPr>
              <a:t>A dedicated offline group confirms the rule-based checks still work with no network, which verifies the study's central architectural claim.</a:t>
            </a:r>
            <a:endParaRPr lang="en-US" sz="2100" dirty="0"/>
          </a:p>
        </p:txBody>
      </p:sp>
      <p:sp>
        <p:nvSpPr>
          <p:cNvPr id="26" name="Shape 0">
            <a:extLst>
              <a:ext uri="{FF2B5EF4-FFF2-40B4-BE49-F238E27FC236}">
                <a16:creationId xmlns:a16="http://schemas.microsoft.com/office/drawing/2014/main" id="{BE28809A-9470-20F0-29D1-B41C84E196F9}"/>
              </a:ext>
            </a:extLst>
          </p:cNvPr>
          <p:cNvSpPr/>
          <p:nvPr/>
        </p:nvSpPr>
        <p:spPr>
          <a:xfrm>
            <a:off x="914400" y="710826"/>
            <a:ext cx="133350" cy="133350"/>
          </a:xfrm>
          <a:prstGeom prst="rect">
            <a:avLst/>
          </a:prstGeom>
          <a:solidFill>
            <a:srgbClr val="0B5C4A"/>
          </a:solidFill>
          <a:ln/>
        </p:spPr>
      </p:sp>
      <p:sp>
        <p:nvSpPr>
          <p:cNvPr id="27" name="Text 1">
            <a:extLst>
              <a:ext uri="{FF2B5EF4-FFF2-40B4-BE49-F238E27FC236}">
                <a16:creationId xmlns:a16="http://schemas.microsoft.com/office/drawing/2014/main" id="{3C9A7341-2B1A-3362-B0A0-BF1484A4A318}"/>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RESULTS: DEPLOYMENT AND TESTING</a:t>
            </a:r>
            <a:endParaRPr lang="en-US" sz="2400" dirty="0"/>
          </a:p>
        </p:txBody>
      </p:sp>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609600"/>
            <a:ext cx="814388" cy="247650"/>
          </a:xfrm>
          <a:prstGeom prst="rect">
            <a:avLst/>
          </a:prstGeom>
        </p:spPr>
      </p:pic>
      <p:sp>
        <p:nvSpPr>
          <p:cNvPr id="4" name="Text 1"/>
          <p:cNvSpPr/>
          <p:nvPr/>
        </p:nvSpPr>
        <p:spPr>
          <a:xfrm>
            <a:off x="857250" y="1028700"/>
            <a:ext cx="1634490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Fifteen users rated it 84 out of 100 — but not evenly</a:t>
            </a:r>
            <a:endParaRPr lang="en-US" sz="3975" dirty="0"/>
          </a:p>
        </p:txBody>
      </p:sp>
      <p:sp>
        <p:nvSpPr>
          <p:cNvPr id="5" name="Shape 2"/>
          <p:cNvSpPr/>
          <p:nvPr/>
        </p:nvSpPr>
        <p:spPr>
          <a:xfrm>
            <a:off x="857250" y="1919089"/>
            <a:ext cx="7691934" cy="7758311"/>
          </a:xfrm>
          <a:prstGeom prst="roundRect">
            <a:avLst>
              <a:gd name="adj" fmla="val 2477"/>
            </a:avLst>
          </a:prstGeom>
          <a:solidFill>
            <a:srgbClr val="003F39"/>
          </a:solidFill>
          <a:ln/>
        </p:spPr>
      </p:sp>
      <p:sp>
        <p:nvSpPr>
          <p:cNvPr id="6" name="Text 3"/>
          <p:cNvSpPr/>
          <p:nvPr/>
        </p:nvSpPr>
        <p:spPr>
          <a:xfrm>
            <a:off x="1257300" y="4152007"/>
            <a:ext cx="7581017" cy="1066800"/>
          </a:xfrm>
          <a:prstGeom prst="rect">
            <a:avLst/>
          </a:prstGeom>
          <a:noFill/>
          <a:ln/>
        </p:spPr>
        <p:txBody>
          <a:bodyPr wrap="square" lIns="25400" tIns="25400" rIns="25400" bIns="25400" rtlCol="0" anchor="t">
            <a:normAutofit fontScale="92500" lnSpcReduction="10000"/>
          </a:bodyPr>
          <a:lstStyle/>
          <a:p>
            <a:pPr marL="0" indent="0" algn="l">
              <a:lnSpc>
                <a:spcPct val="92045"/>
              </a:lnSpc>
              <a:buNone/>
            </a:pPr>
            <a:r>
              <a:rPr lang="en-US" sz="8100" b="1" kern="0" spc="-324" dirty="0">
                <a:solidFill>
                  <a:srgbClr val="FFFFFF"/>
                </a:solidFill>
                <a:latin typeface="Inter" panose="02000503000000020004" pitchFamily="2" charset="0"/>
                <a:ea typeface="Inter" panose="02000503000000020004" pitchFamily="2" charset="0"/>
                <a:cs typeface="Archivo" pitchFamily="34" charset="-120"/>
              </a:rPr>
              <a:t>84.3</a:t>
            </a:r>
            <a:endParaRPr lang="en-US" sz="8100" dirty="0"/>
          </a:p>
        </p:txBody>
      </p:sp>
      <p:sp>
        <p:nvSpPr>
          <p:cNvPr id="7" name="Text 4"/>
          <p:cNvSpPr/>
          <p:nvPr/>
        </p:nvSpPr>
        <p:spPr>
          <a:xfrm>
            <a:off x="1257300" y="5390257"/>
            <a:ext cx="7098589" cy="838200"/>
          </a:xfrm>
          <a:prstGeom prst="rect">
            <a:avLst/>
          </a:prstGeom>
          <a:noFill/>
          <a:ln/>
        </p:spPr>
        <p:txBody>
          <a:bodyPr wrap="square" lIns="25400" tIns="25400" rIns="25400" bIns="25400" rtlCol="0" anchor="t">
            <a:normAutofit/>
          </a:bodyPr>
          <a:lstStyle/>
          <a:p>
            <a:pPr marL="0" indent="0" algn="l">
              <a:lnSpc>
                <a:spcPct val="114545"/>
              </a:lnSpc>
              <a:buNone/>
            </a:pPr>
            <a:r>
              <a:rPr lang="en-US" sz="2100" dirty="0">
                <a:solidFill>
                  <a:srgbClr val="B8D6D1"/>
                </a:solidFill>
                <a:latin typeface="Inter" panose="02000503000000020004" pitchFamily="2" charset="0"/>
                <a:ea typeface="Inter" panose="02000503000000020004" pitchFamily="2" charset="0"/>
                <a:cs typeface="IBM Plex Sans" pitchFamily="34" charset="-120"/>
              </a:rPr>
              <a:t>mean System Usability Scale score, 16.3 points above the 68-point benchmark for an average system.</a:t>
            </a:r>
            <a:endParaRPr lang="en-US" sz="2100" dirty="0"/>
          </a:p>
        </p:txBody>
      </p:sp>
      <p:sp>
        <p:nvSpPr>
          <p:cNvPr id="8" name="Shape 5"/>
          <p:cNvSpPr/>
          <p:nvPr/>
        </p:nvSpPr>
        <p:spPr>
          <a:xfrm>
            <a:off x="1257300" y="6438007"/>
            <a:ext cx="6891834" cy="9525"/>
          </a:xfrm>
          <a:prstGeom prst="rect">
            <a:avLst/>
          </a:prstGeom>
          <a:solidFill>
            <a:srgbClr val="FFFFFF">
              <a:alpha val="20000"/>
            </a:srgbClr>
          </a:solidFill>
          <a:ln/>
        </p:spPr>
      </p:sp>
      <p:sp>
        <p:nvSpPr>
          <p:cNvPr id="9" name="Text 6"/>
          <p:cNvSpPr/>
          <p:nvPr/>
        </p:nvSpPr>
        <p:spPr>
          <a:xfrm>
            <a:off x="1257300" y="6672957"/>
            <a:ext cx="7098589" cy="809625"/>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FFFFFF"/>
                </a:solidFill>
                <a:latin typeface="Inter" panose="02000503000000020004" pitchFamily="2" charset="0"/>
                <a:ea typeface="Inter" panose="02000503000000020004" pitchFamily="2" charset="0"/>
                <a:cs typeface="IBM Plex Sans" pitchFamily="34" charset="-120"/>
              </a:rPr>
              <a:t>74 of 75 task scenarios completed · 71 with no assistance at all</a:t>
            </a:r>
            <a:endParaRPr lang="en-US" sz="2025" dirty="0"/>
          </a:p>
        </p:txBody>
      </p:sp>
      <p:sp>
        <p:nvSpPr>
          <p:cNvPr id="10" name="Shape 7"/>
          <p:cNvSpPr/>
          <p:nvPr/>
        </p:nvSpPr>
        <p:spPr>
          <a:xfrm>
            <a:off x="8815884" y="1919089"/>
            <a:ext cx="8614867" cy="5364361"/>
          </a:xfrm>
          <a:prstGeom prst="roundRect">
            <a:avLst>
              <a:gd name="adj" fmla="val 3551"/>
            </a:avLst>
          </a:prstGeom>
          <a:solidFill>
            <a:srgbClr val="FFFFFF"/>
          </a:solidFill>
          <a:ln w="6350">
            <a:solidFill>
              <a:srgbClr val="E1EEEC"/>
            </a:solidFill>
            <a:prstDash val="solid"/>
          </a:ln>
        </p:spPr>
      </p:sp>
      <p:sp>
        <p:nvSpPr>
          <p:cNvPr id="11" name="Text 8"/>
          <p:cNvSpPr/>
          <p:nvPr/>
        </p:nvSpPr>
        <p:spPr>
          <a:xfrm>
            <a:off x="9184184" y="3458270"/>
            <a:ext cx="3224342" cy="342900"/>
          </a:xfrm>
          <a:prstGeom prst="rect">
            <a:avLst/>
          </a:prstGeom>
          <a:noFill/>
          <a:ln/>
        </p:spPr>
        <p:txBody>
          <a:bodyPr wrap="square" lIns="25400" tIns="25400" rIns="25400" bIns="25400" rtlCol="0" anchor="t">
            <a:normAutofit/>
          </a:bodyPr>
          <a:lstStyle/>
          <a:p>
            <a:pPr marL="0" indent="0" algn="l">
              <a:buNone/>
            </a:pPr>
            <a:r>
              <a:rPr lang="en-US" sz="1875" dirty="0">
                <a:solidFill>
                  <a:srgbClr val="152428"/>
                </a:solidFill>
                <a:latin typeface="Inter" panose="02000503000000020004" pitchFamily="2" charset="0"/>
                <a:ea typeface="Inter" panose="02000503000000020004" pitchFamily="2" charset="0"/>
                <a:cs typeface="IBM Plex Sans" pitchFamily="34" charset="-120"/>
              </a:rPr>
              <a:t>Physiotherapy students (5)</a:t>
            </a:r>
            <a:endParaRPr lang="en-US" sz="1875" dirty="0"/>
          </a:p>
        </p:txBody>
      </p:sp>
      <p:sp>
        <p:nvSpPr>
          <p:cNvPr id="12" name="Text 9"/>
          <p:cNvSpPr/>
          <p:nvPr/>
        </p:nvSpPr>
        <p:spPr>
          <a:xfrm>
            <a:off x="16522105" y="3464620"/>
            <a:ext cx="616545" cy="330200"/>
          </a:xfrm>
          <a:prstGeom prst="rect">
            <a:avLst/>
          </a:prstGeom>
          <a:noFill/>
          <a:ln/>
        </p:spPr>
        <p:txBody>
          <a:bodyPr wrap="square" lIns="25400" tIns="25400" rIns="25400" bIns="25400" rtlCol="0" anchor="t">
            <a:normAutofit fontScale="92500" lnSpcReduction="10000"/>
          </a:bodyPr>
          <a:lstStyle/>
          <a:p>
            <a:pPr marL="0" indent="0" algn="l">
              <a:buNone/>
            </a:pPr>
            <a:r>
              <a:rPr lang="en-US" sz="2100" b="1" dirty="0">
                <a:solidFill>
                  <a:srgbClr val="016359"/>
                </a:solidFill>
                <a:latin typeface="Inter" panose="02000503000000020004" pitchFamily="2" charset="0"/>
                <a:ea typeface="Inter" panose="02000503000000020004" pitchFamily="2" charset="0"/>
                <a:cs typeface="Archivo" pitchFamily="34" charset="-120"/>
              </a:rPr>
              <a:t>96.0</a:t>
            </a:r>
            <a:endParaRPr lang="en-US" sz="2100" dirty="0"/>
          </a:p>
        </p:txBody>
      </p:sp>
      <p:sp>
        <p:nvSpPr>
          <p:cNvPr id="13" name="Shape 10"/>
          <p:cNvSpPr/>
          <p:nvPr/>
        </p:nvSpPr>
        <p:spPr>
          <a:xfrm>
            <a:off x="9184184" y="3858320"/>
            <a:ext cx="7878267" cy="209550"/>
          </a:xfrm>
          <a:prstGeom prst="roundRect">
            <a:avLst>
              <a:gd name="adj" fmla="val 27273"/>
            </a:avLst>
          </a:prstGeom>
          <a:solidFill>
            <a:srgbClr val="F2F7F7"/>
          </a:solidFill>
          <a:ln/>
        </p:spPr>
      </p:sp>
      <p:sp>
        <p:nvSpPr>
          <p:cNvPr id="14" name="Shape 11"/>
          <p:cNvSpPr/>
          <p:nvPr/>
        </p:nvSpPr>
        <p:spPr>
          <a:xfrm>
            <a:off x="9184184" y="3858320"/>
            <a:ext cx="7563049" cy="209550"/>
          </a:xfrm>
          <a:prstGeom prst="roundRect">
            <a:avLst>
              <a:gd name="adj" fmla="val 27273"/>
            </a:avLst>
          </a:prstGeom>
          <a:solidFill>
            <a:srgbClr val="016359"/>
          </a:solidFill>
          <a:ln/>
        </p:spPr>
      </p:sp>
      <p:sp>
        <p:nvSpPr>
          <p:cNvPr id="15" name="Text 12"/>
          <p:cNvSpPr/>
          <p:nvPr/>
        </p:nvSpPr>
        <p:spPr>
          <a:xfrm>
            <a:off x="9184184" y="4296470"/>
            <a:ext cx="2440166" cy="342900"/>
          </a:xfrm>
          <a:prstGeom prst="rect">
            <a:avLst/>
          </a:prstGeom>
          <a:noFill/>
          <a:ln/>
        </p:spPr>
        <p:txBody>
          <a:bodyPr wrap="square" lIns="25400" tIns="25400" rIns="25400" bIns="25400" rtlCol="0" anchor="t">
            <a:normAutofit/>
          </a:bodyPr>
          <a:lstStyle/>
          <a:p>
            <a:pPr marL="0" indent="0" algn="l">
              <a:buNone/>
            </a:pPr>
            <a:r>
              <a:rPr lang="en-US" sz="1875" dirty="0">
                <a:solidFill>
                  <a:srgbClr val="152428"/>
                </a:solidFill>
                <a:latin typeface="Inter" panose="02000503000000020004" pitchFamily="2" charset="0"/>
                <a:ea typeface="Inter" panose="02000503000000020004" pitchFamily="2" charset="0"/>
                <a:cs typeface="IBM Plex Sans" pitchFamily="34" charset="-120"/>
              </a:rPr>
              <a:t>Nursing students (6)</a:t>
            </a:r>
            <a:endParaRPr lang="en-US" sz="1875" dirty="0"/>
          </a:p>
        </p:txBody>
      </p:sp>
      <p:sp>
        <p:nvSpPr>
          <p:cNvPr id="16" name="Text 13"/>
          <p:cNvSpPr/>
          <p:nvPr/>
        </p:nvSpPr>
        <p:spPr>
          <a:xfrm>
            <a:off x="16521808" y="4302820"/>
            <a:ext cx="616843" cy="330200"/>
          </a:xfrm>
          <a:prstGeom prst="rect">
            <a:avLst/>
          </a:prstGeom>
          <a:noFill/>
          <a:ln/>
        </p:spPr>
        <p:txBody>
          <a:bodyPr wrap="square" lIns="25400" tIns="25400" rIns="25400" bIns="25400" rtlCol="0" anchor="t">
            <a:normAutofit fontScale="92500" lnSpcReduction="10000"/>
          </a:bodyPr>
          <a:lstStyle/>
          <a:p>
            <a:pPr marL="0" indent="0" algn="l">
              <a:buNone/>
            </a:pPr>
            <a:r>
              <a:rPr lang="en-US" sz="2100" b="1" dirty="0">
                <a:solidFill>
                  <a:srgbClr val="016359"/>
                </a:solidFill>
                <a:latin typeface="Inter" panose="02000503000000020004" pitchFamily="2" charset="0"/>
                <a:ea typeface="Inter" panose="02000503000000020004" pitchFamily="2" charset="0"/>
                <a:cs typeface="Archivo" pitchFamily="34" charset="-120"/>
              </a:rPr>
              <a:t>89.2</a:t>
            </a:r>
            <a:endParaRPr lang="en-US" sz="2100" dirty="0"/>
          </a:p>
        </p:txBody>
      </p:sp>
      <p:sp>
        <p:nvSpPr>
          <p:cNvPr id="17" name="Shape 14"/>
          <p:cNvSpPr/>
          <p:nvPr/>
        </p:nvSpPr>
        <p:spPr>
          <a:xfrm>
            <a:off x="9184184" y="4696520"/>
            <a:ext cx="7878267" cy="209550"/>
          </a:xfrm>
          <a:prstGeom prst="roundRect">
            <a:avLst>
              <a:gd name="adj" fmla="val 27273"/>
            </a:avLst>
          </a:prstGeom>
          <a:solidFill>
            <a:srgbClr val="F2F7F7"/>
          </a:solidFill>
          <a:ln/>
        </p:spPr>
      </p:sp>
      <p:sp>
        <p:nvSpPr>
          <p:cNvPr id="18" name="Shape 15"/>
          <p:cNvSpPr/>
          <p:nvPr/>
        </p:nvSpPr>
        <p:spPr>
          <a:xfrm>
            <a:off x="9184184" y="4696520"/>
            <a:ext cx="7011591" cy="209550"/>
          </a:xfrm>
          <a:prstGeom prst="roundRect">
            <a:avLst>
              <a:gd name="adj" fmla="val 27273"/>
            </a:avLst>
          </a:prstGeom>
          <a:solidFill>
            <a:srgbClr val="0C7A70"/>
          </a:solidFill>
          <a:ln/>
        </p:spPr>
      </p:sp>
      <p:sp>
        <p:nvSpPr>
          <p:cNvPr id="19" name="Text 16"/>
          <p:cNvSpPr/>
          <p:nvPr/>
        </p:nvSpPr>
        <p:spPr>
          <a:xfrm>
            <a:off x="9184184" y="5134670"/>
            <a:ext cx="1667123" cy="342900"/>
          </a:xfrm>
          <a:prstGeom prst="rect">
            <a:avLst/>
          </a:prstGeom>
          <a:noFill/>
          <a:ln/>
        </p:spPr>
        <p:txBody>
          <a:bodyPr wrap="square" lIns="25400" tIns="25400" rIns="25400" bIns="25400" rtlCol="0" anchor="t">
            <a:normAutofit/>
          </a:bodyPr>
          <a:lstStyle/>
          <a:p>
            <a:pPr marL="0" indent="0" algn="l">
              <a:buNone/>
            </a:pPr>
            <a:r>
              <a:rPr lang="en-US" sz="1875" dirty="0">
                <a:solidFill>
                  <a:srgbClr val="152428"/>
                </a:solidFill>
                <a:latin typeface="Inter" panose="02000503000000020004" pitchFamily="2" charset="0"/>
                <a:ea typeface="Inter" panose="02000503000000020004" pitchFamily="2" charset="0"/>
                <a:cs typeface="IBM Plex Sans" pitchFamily="34" charset="-120"/>
              </a:rPr>
              <a:t>Clinic staff (4)</a:t>
            </a:r>
            <a:endParaRPr lang="en-US" sz="1875" dirty="0"/>
          </a:p>
        </p:txBody>
      </p:sp>
      <p:sp>
        <p:nvSpPr>
          <p:cNvPr id="20" name="Text 17"/>
          <p:cNvSpPr/>
          <p:nvPr/>
        </p:nvSpPr>
        <p:spPr>
          <a:xfrm>
            <a:off x="16521808" y="5141020"/>
            <a:ext cx="616843" cy="330200"/>
          </a:xfrm>
          <a:prstGeom prst="rect">
            <a:avLst/>
          </a:prstGeom>
          <a:noFill/>
          <a:ln/>
        </p:spPr>
        <p:txBody>
          <a:bodyPr wrap="square" lIns="25400" tIns="25400" rIns="25400" bIns="25400" rtlCol="0" anchor="t">
            <a:normAutofit fontScale="92500" lnSpcReduction="10000"/>
          </a:bodyPr>
          <a:lstStyle/>
          <a:p>
            <a:pPr marL="0" indent="0" algn="l">
              <a:buNone/>
            </a:pPr>
            <a:r>
              <a:rPr lang="en-US" sz="2100" b="1" dirty="0">
                <a:solidFill>
                  <a:srgbClr val="B45309"/>
                </a:solidFill>
                <a:latin typeface="Inter" panose="02000503000000020004" pitchFamily="2" charset="0"/>
                <a:ea typeface="Inter" panose="02000503000000020004" pitchFamily="2" charset="0"/>
                <a:cs typeface="Archivo" pitchFamily="34" charset="-120"/>
              </a:rPr>
              <a:t>62.5</a:t>
            </a:r>
            <a:endParaRPr lang="en-US" sz="2100" dirty="0"/>
          </a:p>
        </p:txBody>
      </p:sp>
      <p:sp>
        <p:nvSpPr>
          <p:cNvPr id="21" name="Shape 18"/>
          <p:cNvSpPr/>
          <p:nvPr/>
        </p:nvSpPr>
        <p:spPr>
          <a:xfrm>
            <a:off x="9184184" y="5534720"/>
            <a:ext cx="7878267" cy="209550"/>
          </a:xfrm>
          <a:prstGeom prst="roundRect">
            <a:avLst>
              <a:gd name="adj" fmla="val 27273"/>
            </a:avLst>
          </a:prstGeom>
          <a:solidFill>
            <a:srgbClr val="F2F7F7"/>
          </a:solidFill>
          <a:ln/>
        </p:spPr>
      </p:sp>
      <p:sp>
        <p:nvSpPr>
          <p:cNvPr id="22" name="Shape 19"/>
          <p:cNvSpPr/>
          <p:nvPr/>
        </p:nvSpPr>
        <p:spPr>
          <a:xfrm>
            <a:off x="9184184" y="5534720"/>
            <a:ext cx="4923830" cy="209550"/>
          </a:xfrm>
          <a:prstGeom prst="roundRect">
            <a:avLst>
              <a:gd name="adj" fmla="val 27273"/>
            </a:avLst>
          </a:prstGeom>
          <a:solidFill>
            <a:srgbClr val="B45309"/>
          </a:solidFill>
          <a:ln/>
        </p:spPr>
      </p:sp>
      <p:sp>
        <p:nvSpPr>
          <p:cNvPr id="23" name="Shape 20"/>
          <p:cNvSpPr/>
          <p:nvPr/>
        </p:nvSpPr>
        <p:spPr>
          <a:xfrm>
            <a:off x="8815884" y="7493000"/>
            <a:ext cx="8614867" cy="2184400"/>
          </a:xfrm>
          <a:prstGeom prst="roundRect">
            <a:avLst>
              <a:gd name="adj" fmla="val 8721"/>
            </a:avLst>
          </a:prstGeom>
          <a:solidFill>
            <a:srgbClr val="FFFFFF"/>
          </a:solidFill>
          <a:ln/>
        </p:spPr>
      </p:sp>
      <p:sp>
        <p:nvSpPr>
          <p:cNvPr id="24" name="Shape 21"/>
          <p:cNvSpPr/>
          <p:nvPr/>
        </p:nvSpPr>
        <p:spPr>
          <a:xfrm>
            <a:off x="8815884" y="9671050"/>
            <a:ext cx="8614867" cy="9525"/>
          </a:xfrm>
          <a:prstGeom prst="rect">
            <a:avLst/>
          </a:prstGeom>
          <a:solidFill>
            <a:srgbClr val="E1EEEC"/>
          </a:solidFill>
          <a:ln/>
        </p:spPr>
      </p:sp>
      <p:sp>
        <p:nvSpPr>
          <p:cNvPr id="25" name="Shape 22"/>
          <p:cNvSpPr/>
          <p:nvPr/>
        </p:nvSpPr>
        <p:spPr>
          <a:xfrm>
            <a:off x="8815884" y="7493000"/>
            <a:ext cx="8614867" cy="9525"/>
          </a:xfrm>
          <a:prstGeom prst="rect">
            <a:avLst/>
          </a:prstGeom>
          <a:solidFill>
            <a:srgbClr val="E1EEEC"/>
          </a:solidFill>
          <a:ln/>
        </p:spPr>
      </p:sp>
      <p:sp>
        <p:nvSpPr>
          <p:cNvPr id="26" name="Shape 23"/>
          <p:cNvSpPr/>
          <p:nvPr/>
        </p:nvSpPr>
        <p:spPr>
          <a:xfrm>
            <a:off x="8815884" y="7493000"/>
            <a:ext cx="57150" cy="2184400"/>
          </a:xfrm>
          <a:prstGeom prst="rect">
            <a:avLst/>
          </a:prstGeom>
          <a:solidFill>
            <a:srgbClr val="B45309"/>
          </a:solidFill>
          <a:ln/>
        </p:spPr>
      </p:sp>
      <p:sp>
        <p:nvSpPr>
          <p:cNvPr id="27" name="Shape 24"/>
          <p:cNvSpPr/>
          <p:nvPr/>
        </p:nvSpPr>
        <p:spPr>
          <a:xfrm>
            <a:off x="17424401" y="7493000"/>
            <a:ext cx="9525" cy="2184400"/>
          </a:xfrm>
          <a:prstGeom prst="rect">
            <a:avLst/>
          </a:prstGeom>
          <a:solidFill>
            <a:srgbClr val="E1EEEC"/>
          </a:solidFill>
          <a:ln/>
        </p:spPr>
      </p:sp>
      <p:sp>
        <p:nvSpPr>
          <p:cNvPr id="28" name="Text 25"/>
          <p:cNvSpPr/>
          <p:nvPr/>
        </p:nvSpPr>
        <p:spPr>
          <a:xfrm>
            <a:off x="9234984" y="7785100"/>
            <a:ext cx="8062290" cy="1638300"/>
          </a:xfrm>
          <a:prstGeom prst="rect">
            <a:avLst/>
          </a:prstGeom>
          <a:noFill/>
          <a:ln/>
        </p:spPr>
        <p:txBody>
          <a:bodyPr wrap="square" lIns="25400" tIns="25400" rIns="25400" bIns="25400" rtlCol="0" anchor="t">
            <a:normAutofit/>
          </a:bodyPr>
          <a:lstStyle/>
          <a:p>
            <a:pPr marL="0" indent="0" algn="l">
              <a:lnSpc>
                <a:spcPct val="114545"/>
              </a:lnSpc>
              <a:buNone/>
            </a:pPr>
            <a:r>
              <a:rPr lang="en-US" sz="2100" dirty="0">
                <a:solidFill>
                  <a:srgbClr val="33464B"/>
                </a:solidFill>
                <a:latin typeface="Inter" panose="02000503000000020004" pitchFamily="2" charset="0"/>
                <a:ea typeface="Inter" panose="02000503000000020004" pitchFamily="2" charset="0"/>
                <a:cs typeface="IBM Plex Sans" pitchFamily="34" charset="-120"/>
              </a:rPr>
              <a:t>The split is not about drug knowledge. Students tested in a quiet room; clinic staff tested during a working day. Every instance of a participant needing help came from that group, and all of it on one task — finding the allergy profile.</a:t>
            </a:r>
            <a:endParaRPr lang="en-US" sz="2100" dirty="0"/>
          </a:p>
        </p:txBody>
      </p:sp>
      <p:sp>
        <p:nvSpPr>
          <p:cNvPr id="31" name="Shape 0">
            <a:extLst>
              <a:ext uri="{FF2B5EF4-FFF2-40B4-BE49-F238E27FC236}">
                <a16:creationId xmlns:a16="http://schemas.microsoft.com/office/drawing/2014/main" id="{A6204D79-34CC-881B-0EF3-4A03B94A187C}"/>
              </a:ext>
            </a:extLst>
          </p:cNvPr>
          <p:cNvSpPr/>
          <p:nvPr/>
        </p:nvSpPr>
        <p:spPr>
          <a:xfrm>
            <a:off x="914400" y="710826"/>
            <a:ext cx="133350" cy="133350"/>
          </a:xfrm>
          <a:prstGeom prst="rect">
            <a:avLst/>
          </a:prstGeom>
          <a:solidFill>
            <a:srgbClr val="0B5C4A"/>
          </a:solidFill>
          <a:ln/>
        </p:spPr>
      </p:sp>
      <p:sp>
        <p:nvSpPr>
          <p:cNvPr id="32" name="Text 1">
            <a:extLst>
              <a:ext uri="{FF2B5EF4-FFF2-40B4-BE49-F238E27FC236}">
                <a16:creationId xmlns:a16="http://schemas.microsoft.com/office/drawing/2014/main" id="{DA8A70DB-EB93-491D-340E-E7AC580D0F51}"/>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RESULTS: USABILITY TESTING</a:t>
            </a:r>
            <a:endParaRPr lang="en-US" sz="2400" dirty="0"/>
          </a:p>
        </p:txBody>
      </p:sp>
    </p:spTree>
  </p:cSld>
  <p:clrMapOvr>
    <a:masterClrMapping/>
  </p:clrMapOvr>
  <p:transition spd="slow">
    <p:push/>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3F39"/>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609600"/>
            <a:ext cx="814388" cy="247650"/>
          </a:xfrm>
          <a:prstGeom prst="rect">
            <a:avLst/>
          </a:prstGeom>
        </p:spPr>
      </p:pic>
      <p:sp>
        <p:nvSpPr>
          <p:cNvPr id="4" name="Text 1"/>
          <p:cNvSpPr/>
          <p:nvPr/>
        </p:nvSpPr>
        <p:spPr>
          <a:xfrm>
            <a:off x="857250" y="2777133"/>
            <a:ext cx="16482060" cy="2351484"/>
          </a:xfrm>
          <a:prstGeom prst="rect">
            <a:avLst/>
          </a:prstGeom>
          <a:noFill/>
          <a:ln/>
        </p:spPr>
        <p:txBody>
          <a:bodyPr wrap="square" lIns="25400" tIns="25400" rIns="25400" bIns="25400" rtlCol="0" anchor="t">
            <a:normAutofit fontScale="92500" lnSpcReduction="10000"/>
          </a:bodyPr>
          <a:lstStyle/>
          <a:p>
            <a:pPr marL="0" indent="0" algn="l">
              <a:lnSpc>
                <a:spcPct val="121440"/>
              </a:lnSpc>
              <a:buNone/>
            </a:pPr>
            <a:r>
              <a:rPr lang="en-US" sz="3450" b="1" kern="0" spc="-69" dirty="0">
                <a:solidFill>
                  <a:srgbClr val="FFFFFF"/>
                </a:solidFill>
                <a:latin typeface="Inter" panose="02000503000000020004" pitchFamily="2" charset="0"/>
                <a:ea typeface="Inter" panose="02000503000000020004" pitchFamily="2" charset="0"/>
                <a:cs typeface="Archivo" pitchFamily="34" charset="-120"/>
              </a:rPr>
              <a:t>An offline-first medication safety tool, driven by a machine-learning severity model, can be built from freely licensed data and software — and used by the people it is meant for. MedGuard is a functioning academic prototype, not a clinically validated product.</a:t>
            </a:r>
            <a:endParaRPr lang="en-US" sz="3450" dirty="0"/>
          </a:p>
        </p:txBody>
      </p:sp>
      <p:sp>
        <p:nvSpPr>
          <p:cNvPr id="5" name="Shape 2"/>
          <p:cNvSpPr/>
          <p:nvPr/>
        </p:nvSpPr>
        <p:spPr>
          <a:xfrm>
            <a:off x="857250" y="5471517"/>
            <a:ext cx="3986213" cy="2514600"/>
          </a:xfrm>
          <a:prstGeom prst="roundRect">
            <a:avLst>
              <a:gd name="adj" fmla="val 6818"/>
            </a:avLst>
          </a:prstGeom>
          <a:solidFill>
            <a:srgbClr val="FFFFFF">
              <a:alpha val="8000"/>
            </a:srgbClr>
          </a:solidFill>
          <a:ln/>
        </p:spPr>
      </p:sp>
      <p:sp>
        <p:nvSpPr>
          <p:cNvPr id="6" name="Text 3"/>
          <p:cNvSpPr/>
          <p:nvPr/>
        </p:nvSpPr>
        <p:spPr>
          <a:xfrm>
            <a:off x="1162050" y="5757267"/>
            <a:ext cx="3714274" cy="285750"/>
          </a:xfrm>
          <a:prstGeom prst="rect">
            <a:avLst/>
          </a:prstGeom>
          <a:noFill/>
          <a:ln/>
        </p:spPr>
        <p:txBody>
          <a:bodyPr wrap="square" lIns="25400" tIns="25400" rIns="25400" bIns="25400" rtlCol="0" anchor="t">
            <a:normAutofit/>
          </a:bodyPr>
          <a:lstStyle/>
          <a:p>
            <a:pPr marL="0" indent="0" algn="l">
              <a:lnSpc>
                <a:spcPct val="76471"/>
              </a:lnSpc>
              <a:buNone/>
            </a:pPr>
            <a:r>
              <a:rPr lang="en-US" sz="1950" kern="0" spc="234" dirty="0">
                <a:solidFill>
                  <a:srgbClr val="7FC7BE"/>
                </a:solidFill>
                <a:latin typeface="Inter" panose="02000503000000020004" pitchFamily="2" charset="0"/>
                <a:ea typeface="Inter" panose="02000503000000020004" pitchFamily="2" charset="0"/>
                <a:cs typeface="IBM Plex Sans" pitchFamily="34" charset="-120"/>
              </a:rPr>
              <a:t>RECOMMENDATION 1</a:t>
            </a:r>
            <a:endParaRPr lang="en-US" sz="1950" dirty="0"/>
          </a:p>
        </p:txBody>
      </p:sp>
      <p:sp>
        <p:nvSpPr>
          <p:cNvPr id="7" name="Text 4"/>
          <p:cNvSpPr/>
          <p:nvPr/>
        </p:nvSpPr>
        <p:spPr>
          <a:xfrm>
            <a:off x="1162050" y="6157317"/>
            <a:ext cx="3477911" cy="1195388"/>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FFFFFF"/>
                </a:solidFill>
                <a:latin typeface="Inter" panose="02000503000000020004" pitchFamily="2" charset="0"/>
                <a:ea typeface="Inter" panose="02000503000000020004" pitchFamily="2" charset="0"/>
                <a:cs typeface="IBM Plex Sans" pitchFamily="34" charset="-120"/>
              </a:rPr>
              <a:t>Prompt for allergies during onboarding — the one fix the usability data asks for</a:t>
            </a:r>
            <a:endParaRPr lang="en-US" sz="2025" dirty="0"/>
          </a:p>
        </p:txBody>
      </p:sp>
      <p:sp>
        <p:nvSpPr>
          <p:cNvPr id="8" name="Shape 5"/>
          <p:cNvSpPr/>
          <p:nvPr/>
        </p:nvSpPr>
        <p:spPr>
          <a:xfrm>
            <a:off x="5053013" y="5471517"/>
            <a:ext cx="3986213" cy="2514600"/>
          </a:xfrm>
          <a:prstGeom prst="roundRect">
            <a:avLst>
              <a:gd name="adj" fmla="val 6818"/>
            </a:avLst>
          </a:prstGeom>
          <a:solidFill>
            <a:srgbClr val="FFFFFF">
              <a:alpha val="8000"/>
            </a:srgbClr>
          </a:solidFill>
          <a:ln/>
        </p:spPr>
      </p:sp>
      <p:sp>
        <p:nvSpPr>
          <p:cNvPr id="9" name="Text 6"/>
          <p:cNvSpPr/>
          <p:nvPr/>
        </p:nvSpPr>
        <p:spPr>
          <a:xfrm>
            <a:off x="5357813" y="5757267"/>
            <a:ext cx="3714274" cy="285750"/>
          </a:xfrm>
          <a:prstGeom prst="rect">
            <a:avLst/>
          </a:prstGeom>
          <a:noFill/>
          <a:ln/>
        </p:spPr>
        <p:txBody>
          <a:bodyPr wrap="square" lIns="25400" tIns="25400" rIns="25400" bIns="25400" rtlCol="0" anchor="t">
            <a:normAutofit/>
          </a:bodyPr>
          <a:lstStyle/>
          <a:p>
            <a:pPr marL="0" indent="0" algn="l">
              <a:lnSpc>
                <a:spcPct val="76471"/>
              </a:lnSpc>
              <a:buNone/>
            </a:pPr>
            <a:r>
              <a:rPr lang="en-US" sz="1950" kern="0" spc="234" dirty="0">
                <a:solidFill>
                  <a:srgbClr val="7FC7BE"/>
                </a:solidFill>
                <a:latin typeface="Inter" panose="02000503000000020004" pitchFamily="2" charset="0"/>
                <a:ea typeface="Inter" panose="02000503000000020004" pitchFamily="2" charset="0"/>
                <a:cs typeface="IBM Plex Sans" pitchFamily="34" charset="-120"/>
              </a:rPr>
              <a:t>RECOMMENDATION 2</a:t>
            </a:r>
            <a:endParaRPr lang="en-US" sz="1950" dirty="0"/>
          </a:p>
        </p:txBody>
      </p:sp>
      <p:sp>
        <p:nvSpPr>
          <p:cNvPr id="10" name="Text 7"/>
          <p:cNvSpPr/>
          <p:nvPr/>
        </p:nvSpPr>
        <p:spPr>
          <a:xfrm>
            <a:off x="5357813" y="6157317"/>
            <a:ext cx="3477911" cy="1195388"/>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FFFFFF"/>
                </a:solidFill>
                <a:latin typeface="Inter" panose="02000503000000020004" pitchFamily="2" charset="0"/>
                <a:ea typeface="Inter" panose="02000503000000020004" pitchFamily="2" charset="0"/>
                <a:cs typeface="IBM Plex Sans" pitchFamily="34" charset="-120"/>
              </a:rPr>
              <a:t>Run a scripted load test against the API and the on-device model</a:t>
            </a:r>
            <a:endParaRPr lang="en-US" sz="2025" dirty="0"/>
          </a:p>
        </p:txBody>
      </p:sp>
      <p:sp>
        <p:nvSpPr>
          <p:cNvPr id="11" name="Shape 8"/>
          <p:cNvSpPr/>
          <p:nvPr/>
        </p:nvSpPr>
        <p:spPr>
          <a:xfrm>
            <a:off x="9248775" y="5471517"/>
            <a:ext cx="3986213" cy="2514600"/>
          </a:xfrm>
          <a:prstGeom prst="roundRect">
            <a:avLst>
              <a:gd name="adj" fmla="val 6818"/>
            </a:avLst>
          </a:prstGeom>
          <a:solidFill>
            <a:srgbClr val="FFFFFF">
              <a:alpha val="8000"/>
            </a:srgbClr>
          </a:solidFill>
          <a:ln/>
        </p:spPr>
      </p:sp>
      <p:sp>
        <p:nvSpPr>
          <p:cNvPr id="12" name="Text 9"/>
          <p:cNvSpPr/>
          <p:nvPr/>
        </p:nvSpPr>
        <p:spPr>
          <a:xfrm>
            <a:off x="9553575" y="5757267"/>
            <a:ext cx="3714274" cy="285750"/>
          </a:xfrm>
          <a:prstGeom prst="rect">
            <a:avLst/>
          </a:prstGeom>
          <a:noFill/>
          <a:ln/>
        </p:spPr>
        <p:txBody>
          <a:bodyPr wrap="square" lIns="25400" tIns="25400" rIns="25400" bIns="25400" rtlCol="0" anchor="t">
            <a:normAutofit/>
          </a:bodyPr>
          <a:lstStyle/>
          <a:p>
            <a:pPr marL="0" indent="0" algn="l">
              <a:lnSpc>
                <a:spcPct val="76471"/>
              </a:lnSpc>
              <a:buNone/>
            </a:pPr>
            <a:r>
              <a:rPr lang="en-US" sz="1950" kern="0" spc="234" dirty="0">
                <a:solidFill>
                  <a:srgbClr val="7FC7BE"/>
                </a:solidFill>
                <a:latin typeface="Inter" panose="02000503000000020004" pitchFamily="2" charset="0"/>
                <a:ea typeface="Inter" panose="02000503000000020004" pitchFamily="2" charset="0"/>
                <a:cs typeface="IBM Plex Sans" pitchFamily="34" charset="-120"/>
              </a:rPr>
              <a:t>RECOMMENDATION 3</a:t>
            </a:r>
            <a:endParaRPr lang="en-US" sz="1950" dirty="0"/>
          </a:p>
        </p:txBody>
      </p:sp>
      <p:sp>
        <p:nvSpPr>
          <p:cNvPr id="13" name="Text 10"/>
          <p:cNvSpPr/>
          <p:nvPr/>
        </p:nvSpPr>
        <p:spPr>
          <a:xfrm>
            <a:off x="9553575" y="6157317"/>
            <a:ext cx="3477911" cy="1581150"/>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FFFFFF"/>
                </a:solidFill>
                <a:latin typeface="Inter" panose="02000503000000020004" pitchFamily="2" charset="0"/>
                <a:ea typeface="Inter" panose="02000503000000020004" pitchFamily="2" charset="0"/>
                <a:cs typeface="IBM Plex Sans" pitchFamily="34" charset="-120"/>
              </a:rPr>
              <a:t>Rebuild the reference database as soon as DrugBank restores downloads</a:t>
            </a:r>
            <a:endParaRPr lang="en-US" sz="2025" dirty="0"/>
          </a:p>
        </p:txBody>
      </p:sp>
      <p:sp>
        <p:nvSpPr>
          <p:cNvPr id="14" name="Shape 11"/>
          <p:cNvSpPr/>
          <p:nvPr/>
        </p:nvSpPr>
        <p:spPr>
          <a:xfrm>
            <a:off x="13444538" y="5471517"/>
            <a:ext cx="3986213" cy="2514600"/>
          </a:xfrm>
          <a:prstGeom prst="roundRect">
            <a:avLst>
              <a:gd name="adj" fmla="val 6818"/>
            </a:avLst>
          </a:prstGeom>
          <a:solidFill>
            <a:srgbClr val="FFFFFF">
              <a:alpha val="8000"/>
            </a:srgbClr>
          </a:solidFill>
          <a:ln/>
        </p:spPr>
      </p:sp>
      <p:sp>
        <p:nvSpPr>
          <p:cNvPr id="15" name="Text 12"/>
          <p:cNvSpPr/>
          <p:nvPr/>
        </p:nvSpPr>
        <p:spPr>
          <a:xfrm>
            <a:off x="13749338" y="5757267"/>
            <a:ext cx="3714274" cy="285750"/>
          </a:xfrm>
          <a:prstGeom prst="rect">
            <a:avLst/>
          </a:prstGeom>
          <a:noFill/>
          <a:ln/>
        </p:spPr>
        <p:txBody>
          <a:bodyPr wrap="square" lIns="25400" tIns="25400" rIns="25400" bIns="25400" rtlCol="0" anchor="t">
            <a:normAutofit/>
          </a:bodyPr>
          <a:lstStyle/>
          <a:p>
            <a:pPr marL="0" indent="0" algn="l">
              <a:lnSpc>
                <a:spcPct val="76471"/>
              </a:lnSpc>
              <a:buNone/>
            </a:pPr>
            <a:r>
              <a:rPr lang="en-US" sz="1950" kern="0" spc="234" dirty="0">
                <a:solidFill>
                  <a:srgbClr val="7FC7BE"/>
                </a:solidFill>
                <a:latin typeface="Inter" panose="02000503000000020004" pitchFamily="2" charset="0"/>
                <a:ea typeface="Inter" panose="02000503000000020004" pitchFamily="2" charset="0"/>
                <a:cs typeface="IBM Plex Sans" pitchFamily="34" charset="-120"/>
              </a:rPr>
              <a:t>RECOMMENDATION 4</a:t>
            </a:r>
            <a:endParaRPr lang="en-US" sz="1950" dirty="0"/>
          </a:p>
        </p:txBody>
      </p:sp>
      <p:sp>
        <p:nvSpPr>
          <p:cNvPr id="16" name="Text 13"/>
          <p:cNvSpPr/>
          <p:nvPr/>
        </p:nvSpPr>
        <p:spPr>
          <a:xfrm>
            <a:off x="13749338" y="6157317"/>
            <a:ext cx="3477911" cy="1195388"/>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FFFFFF"/>
                </a:solidFill>
                <a:latin typeface="Inter" panose="02000503000000020004" pitchFamily="2" charset="0"/>
                <a:ea typeface="Inter" panose="02000503000000020004" pitchFamily="2" charset="0"/>
                <a:cs typeface="IBM Plex Sans" pitchFamily="34" charset="-120"/>
              </a:rPr>
              <a:t>Structured review by licensed pharmacists before any wider use</a:t>
            </a:r>
            <a:endParaRPr lang="en-US" sz="2025" dirty="0"/>
          </a:p>
        </p:txBody>
      </p:sp>
      <p:sp>
        <p:nvSpPr>
          <p:cNvPr id="19" name="Shape 0">
            <a:extLst>
              <a:ext uri="{FF2B5EF4-FFF2-40B4-BE49-F238E27FC236}">
                <a16:creationId xmlns:a16="http://schemas.microsoft.com/office/drawing/2014/main" id="{B03B46AC-5D23-6147-9764-A47F11E61B10}"/>
              </a:ext>
            </a:extLst>
          </p:cNvPr>
          <p:cNvSpPr/>
          <p:nvPr/>
        </p:nvSpPr>
        <p:spPr>
          <a:xfrm>
            <a:off x="914400" y="710826"/>
            <a:ext cx="133350" cy="133350"/>
          </a:xfrm>
          <a:prstGeom prst="rect">
            <a:avLst/>
          </a:prstGeom>
          <a:solidFill>
            <a:srgbClr val="4FD1C5"/>
          </a:solidFill>
          <a:ln/>
        </p:spPr>
      </p:sp>
      <p:sp>
        <p:nvSpPr>
          <p:cNvPr id="20" name="Text 1">
            <a:extLst>
              <a:ext uri="{FF2B5EF4-FFF2-40B4-BE49-F238E27FC236}">
                <a16:creationId xmlns:a16="http://schemas.microsoft.com/office/drawing/2014/main" id="{4510486E-8568-07D0-6D01-6F6275275051}"/>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4FD1C5"/>
                </a:solidFill>
                <a:latin typeface="Inter" pitchFamily="34" charset="0"/>
                <a:ea typeface="Inter" pitchFamily="34" charset="-122"/>
              </a:rPr>
              <a:t>CONCLUSION AND RECOMMENDATION</a:t>
            </a:r>
            <a:endParaRPr lang="en-US" sz="2400" dirty="0">
              <a:solidFill>
                <a:srgbClr val="4FD1C5"/>
              </a:solidFill>
            </a:endParaRPr>
          </a:p>
        </p:txBody>
      </p:sp>
    </p:spTree>
  </p:cSld>
  <p:clrMapOvr>
    <a:masterClrMapping/>
  </p:clrMapOvr>
  <p:transition spd="slow">
    <p:push/>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CFC"/>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6616363" y="609600"/>
            <a:ext cx="814388" cy="247650"/>
          </a:xfrm>
          <a:prstGeom prst="rect">
            <a:avLst/>
          </a:prstGeom>
        </p:spPr>
      </p:pic>
      <p:sp>
        <p:nvSpPr>
          <p:cNvPr id="4" name="Text 1"/>
          <p:cNvSpPr/>
          <p:nvPr/>
        </p:nvSpPr>
        <p:spPr>
          <a:xfrm>
            <a:off x="857250" y="1028700"/>
            <a:ext cx="18230850" cy="623689"/>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3975" b="1" kern="0" spc="-79" dirty="0">
                <a:solidFill>
                  <a:srgbClr val="152428"/>
                </a:solidFill>
                <a:latin typeface="Inter" panose="02000503000000020004" pitchFamily="2" charset="0"/>
                <a:ea typeface="Inter" panose="02000503000000020004" pitchFamily="2" charset="0"/>
                <a:cs typeface="Archivo" pitchFamily="34" charset="-120"/>
              </a:rPr>
              <a:t>Sources cited</a:t>
            </a:r>
            <a:endParaRPr lang="en-US" sz="3975" dirty="0"/>
          </a:p>
        </p:txBody>
      </p:sp>
      <p:sp>
        <p:nvSpPr>
          <p:cNvPr id="5" name="Text 2"/>
          <p:cNvSpPr/>
          <p:nvPr/>
        </p:nvSpPr>
        <p:spPr>
          <a:xfrm>
            <a:off x="857250" y="2640707"/>
            <a:ext cx="8319516" cy="1038225"/>
          </a:xfrm>
          <a:prstGeom prst="rect">
            <a:avLst/>
          </a:prstGeom>
          <a:noFill/>
          <a:ln/>
        </p:spPr>
        <p:txBody>
          <a:bodyPr wrap="square" lIns="25400" tIns="25400" rIns="25400" bIns="25400" rtlCol="0" anchor="t">
            <a:normAutofit/>
          </a:bodyPr>
          <a:lstStyle/>
          <a:p>
            <a:pPr marL="0" indent="0" algn="l">
              <a:lnSpc>
                <a:spcPct val="109375"/>
              </a:lnSpc>
              <a:buNone/>
            </a:pPr>
            <a:r>
              <a:rPr lang="en-US" sz="1875" dirty="0">
                <a:solidFill>
                  <a:srgbClr val="33464B"/>
                </a:solidFill>
                <a:latin typeface="Inter" panose="02000503000000020004" pitchFamily="2" charset="0"/>
                <a:ea typeface="Inter" panose="02000503000000020004" pitchFamily="2" charset="0"/>
                <a:cs typeface="IBM Plex Sans" pitchFamily="34" charset="-120"/>
              </a:rPr>
              <a:t>Bangor, A., Kortum, P. T., &amp; Miller, J. T. (2008). An empirical evaluation of the System Usability Scale. </a:t>
            </a:r>
            <a:r>
              <a:rPr lang="en-US" sz="1875" i="1" dirty="0">
                <a:solidFill>
                  <a:srgbClr val="33464B"/>
                </a:solidFill>
                <a:latin typeface="Inter" panose="02000503000000020004" pitchFamily="2" charset="0"/>
                <a:ea typeface="Inter" panose="02000503000000020004" pitchFamily="2" charset="0"/>
                <a:cs typeface="IBM Plex Sans" pitchFamily="34" charset="-120"/>
              </a:rPr>
              <a:t>International Journal of Human–Computer Interaction, 24 </a:t>
            </a:r>
            <a:r>
              <a:rPr lang="en-US" sz="1875" dirty="0">
                <a:solidFill>
                  <a:srgbClr val="33464B"/>
                </a:solidFill>
                <a:latin typeface="Inter" panose="02000503000000020004" pitchFamily="2" charset="0"/>
                <a:ea typeface="Inter" panose="02000503000000020004" pitchFamily="2" charset="0"/>
                <a:cs typeface="IBM Plex Sans" pitchFamily="34" charset="-120"/>
              </a:rPr>
              <a:t>(6), 574–594.</a:t>
            </a:r>
            <a:endParaRPr lang="en-US" sz="1875" dirty="0"/>
          </a:p>
        </p:txBody>
      </p:sp>
      <p:sp>
        <p:nvSpPr>
          <p:cNvPr id="6" name="Text 3"/>
          <p:cNvSpPr/>
          <p:nvPr/>
        </p:nvSpPr>
        <p:spPr>
          <a:xfrm>
            <a:off x="9353550" y="2640707"/>
            <a:ext cx="8319516" cy="1038225"/>
          </a:xfrm>
          <a:prstGeom prst="rect">
            <a:avLst/>
          </a:prstGeom>
          <a:noFill/>
          <a:ln/>
        </p:spPr>
        <p:txBody>
          <a:bodyPr wrap="square" lIns="25400" tIns="25400" rIns="25400" bIns="25400" rtlCol="0" anchor="t">
            <a:normAutofit/>
          </a:bodyPr>
          <a:lstStyle/>
          <a:p>
            <a:pPr marL="0" indent="0" algn="l">
              <a:lnSpc>
                <a:spcPct val="109375"/>
              </a:lnSpc>
              <a:buNone/>
            </a:pPr>
            <a:r>
              <a:rPr lang="en-US" sz="1875" dirty="0">
                <a:solidFill>
                  <a:srgbClr val="33464B"/>
                </a:solidFill>
                <a:latin typeface="Inter" panose="02000503000000020004" pitchFamily="2" charset="0"/>
                <a:ea typeface="Inter" panose="02000503000000020004" pitchFamily="2" charset="0"/>
                <a:cs typeface="IBM Plex Sans" pitchFamily="34" charset="-120"/>
              </a:rPr>
              <a:t>Knox, C., Wilson, M., Klinger, C. M., et al. (2024). DrugBank 6.0: The DrugBank Knowledgebase for 2024. </a:t>
            </a:r>
            <a:r>
              <a:rPr lang="en-US" sz="1875" i="1" dirty="0">
                <a:solidFill>
                  <a:srgbClr val="33464B"/>
                </a:solidFill>
                <a:latin typeface="Inter" panose="02000503000000020004" pitchFamily="2" charset="0"/>
                <a:ea typeface="Inter" panose="02000503000000020004" pitchFamily="2" charset="0"/>
                <a:cs typeface="IBM Plex Sans" pitchFamily="34" charset="-120"/>
              </a:rPr>
              <a:t>Nucleic Acids Research, 52 </a:t>
            </a:r>
            <a:r>
              <a:rPr lang="en-US" sz="1875" dirty="0">
                <a:solidFill>
                  <a:srgbClr val="33464B"/>
                </a:solidFill>
                <a:latin typeface="Inter" panose="02000503000000020004" pitchFamily="2" charset="0"/>
                <a:ea typeface="Inter" panose="02000503000000020004" pitchFamily="2" charset="0"/>
                <a:cs typeface="IBM Plex Sans" pitchFamily="34" charset="-120"/>
              </a:rPr>
              <a:t>(D1), D1265–D1275.</a:t>
            </a:r>
            <a:endParaRPr lang="en-US" sz="1875" dirty="0"/>
          </a:p>
        </p:txBody>
      </p:sp>
      <p:sp>
        <p:nvSpPr>
          <p:cNvPr id="7" name="Text 4"/>
          <p:cNvSpPr/>
          <p:nvPr/>
        </p:nvSpPr>
        <p:spPr>
          <a:xfrm>
            <a:off x="857250" y="3755132"/>
            <a:ext cx="8319516" cy="1038225"/>
          </a:xfrm>
          <a:prstGeom prst="rect">
            <a:avLst/>
          </a:prstGeom>
          <a:noFill/>
          <a:ln/>
        </p:spPr>
        <p:txBody>
          <a:bodyPr wrap="square" lIns="25400" tIns="25400" rIns="25400" bIns="25400" rtlCol="0" anchor="t">
            <a:normAutofit/>
          </a:bodyPr>
          <a:lstStyle/>
          <a:p>
            <a:pPr marL="0" indent="0" algn="l">
              <a:lnSpc>
                <a:spcPct val="109375"/>
              </a:lnSpc>
              <a:buNone/>
            </a:pPr>
            <a:r>
              <a:rPr lang="en-US" sz="1875" dirty="0">
                <a:solidFill>
                  <a:srgbClr val="33464B"/>
                </a:solidFill>
                <a:latin typeface="Inter" panose="02000503000000020004" pitchFamily="2" charset="0"/>
                <a:ea typeface="Inter" panose="02000503000000020004" pitchFamily="2" charset="0"/>
                <a:cs typeface="IBM Plex Sans" pitchFamily="34" charset="-120"/>
              </a:rPr>
              <a:t>Breiman, L. (2001). Random forests. </a:t>
            </a:r>
            <a:r>
              <a:rPr lang="en-US" sz="1875" i="1" dirty="0">
                <a:solidFill>
                  <a:srgbClr val="33464B"/>
                </a:solidFill>
                <a:latin typeface="Inter" panose="02000503000000020004" pitchFamily="2" charset="0"/>
                <a:ea typeface="Inter" panose="02000503000000020004" pitchFamily="2" charset="0"/>
                <a:cs typeface="IBM Plex Sans" pitchFamily="34" charset="-120"/>
              </a:rPr>
              <a:t>Machine Learning, 45</a:t>
            </a:r>
            <a:r>
              <a:rPr lang="en-US" sz="1875" dirty="0">
                <a:solidFill>
                  <a:srgbClr val="33464B"/>
                </a:solidFill>
                <a:latin typeface="Inter" panose="02000503000000020004" pitchFamily="2" charset="0"/>
                <a:ea typeface="Inter" panose="02000503000000020004" pitchFamily="2" charset="0"/>
                <a:cs typeface="IBM Plex Sans" pitchFamily="34" charset="-120"/>
              </a:rPr>
              <a:t>(1), 5–32.</a:t>
            </a:r>
            <a:endParaRPr lang="en-US" sz="1875" dirty="0"/>
          </a:p>
        </p:txBody>
      </p:sp>
      <p:sp>
        <p:nvSpPr>
          <p:cNvPr id="8" name="Text 5"/>
          <p:cNvSpPr/>
          <p:nvPr/>
        </p:nvSpPr>
        <p:spPr>
          <a:xfrm>
            <a:off x="9353550" y="3755132"/>
            <a:ext cx="8319516" cy="1038225"/>
          </a:xfrm>
          <a:prstGeom prst="rect">
            <a:avLst/>
          </a:prstGeom>
          <a:noFill/>
          <a:ln/>
        </p:spPr>
        <p:txBody>
          <a:bodyPr wrap="square" lIns="25400" tIns="25400" rIns="25400" bIns="25400" rtlCol="0" anchor="t">
            <a:normAutofit/>
          </a:bodyPr>
          <a:lstStyle/>
          <a:p>
            <a:pPr marL="0" indent="0" algn="l">
              <a:lnSpc>
                <a:spcPct val="109375"/>
              </a:lnSpc>
              <a:buNone/>
            </a:pPr>
            <a:r>
              <a:rPr lang="en-US" sz="1875" dirty="0">
                <a:solidFill>
                  <a:srgbClr val="33464B"/>
                </a:solidFill>
                <a:latin typeface="Inter" panose="02000503000000020004" pitchFamily="2" charset="0"/>
                <a:ea typeface="Inter" panose="02000503000000020004" pitchFamily="2" charset="0"/>
                <a:cs typeface="IBM Plex Sans" pitchFamily="34" charset="-120"/>
              </a:rPr>
              <a:t>Oriaifo, O. G., Opadeyi, A. O., Oriaifo, T. O., &amp; Isah, A. O. (2024). Predictors of potential clinically harmful drug–drug interactions at the medical wards, UBTH. </a:t>
            </a:r>
            <a:r>
              <a:rPr lang="en-US" sz="1875" i="1" dirty="0">
                <a:solidFill>
                  <a:srgbClr val="33464B"/>
                </a:solidFill>
                <a:latin typeface="Inter" panose="02000503000000020004" pitchFamily="2" charset="0"/>
                <a:ea typeface="Inter" panose="02000503000000020004" pitchFamily="2" charset="0"/>
                <a:cs typeface="IBM Plex Sans" pitchFamily="34" charset="-120"/>
              </a:rPr>
              <a:t>Clinical and Translational Science, 17</a:t>
            </a:r>
            <a:r>
              <a:rPr lang="en-US" sz="1875" dirty="0">
                <a:solidFill>
                  <a:srgbClr val="33464B"/>
                </a:solidFill>
                <a:latin typeface="Inter" panose="02000503000000020004" pitchFamily="2" charset="0"/>
                <a:ea typeface="Inter" panose="02000503000000020004" pitchFamily="2" charset="0"/>
                <a:cs typeface="IBM Plex Sans" pitchFamily="34" charset="-120"/>
              </a:rPr>
              <a:t>(4).</a:t>
            </a:r>
            <a:endParaRPr lang="en-US" sz="1875" dirty="0"/>
          </a:p>
        </p:txBody>
      </p:sp>
      <p:sp>
        <p:nvSpPr>
          <p:cNvPr id="9" name="Text 6"/>
          <p:cNvSpPr/>
          <p:nvPr/>
        </p:nvSpPr>
        <p:spPr>
          <a:xfrm>
            <a:off x="857250" y="4869557"/>
            <a:ext cx="8319516" cy="704850"/>
          </a:xfrm>
          <a:prstGeom prst="rect">
            <a:avLst/>
          </a:prstGeom>
          <a:noFill/>
          <a:ln/>
        </p:spPr>
        <p:txBody>
          <a:bodyPr wrap="square" lIns="25400" tIns="25400" rIns="25400" bIns="25400" rtlCol="0" anchor="t">
            <a:normAutofit/>
          </a:bodyPr>
          <a:lstStyle/>
          <a:p>
            <a:pPr marL="0" indent="0" algn="l">
              <a:lnSpc>
                <a:spcPct val="109375"/>
              </a:lnSpc>
              <a:buNone/>
            </a:pPr>
            <a:r>
              <a:rPr lang="en-US" sz="1875" dirty="0">
                <a:solidFill>
                  <a:srgbClr val="33464B"/>
                </a:solidFill>
                <a:latin typeface="Inter" panose="02000503000000020004" pitchFamily="2" charset="0"/>
                <a:ea typeface="Inter" panose="02000503000000020004" pitchFamily="2" charset="0"/>
                <a:cs typeface="IBM Plex Sans" pitchFamily="34" charset="-120"/>
              </a:rPr>
              <a:t>Brooke, J. (1996). SUS: A quick and dirty usability scale. In </a:t>
            </a:r>
            <a:r>
              <a:rPr lang="en-US" sz="1875" i="1" dirty="0">
                <a:solidFill>
                  <a:srgbClr val="33464B"/>
                </a:solidFill>
                <a:latin typeface="Inter" panose="02000503000000020004" pitchFamily="2" charset="0"/>
                <a:ea typeface="Inter" panose="02000503000000020004" pitchFamily="2" charset="0"/>
                <a:cs typeface="IBM Plex Sans" pitchFamily="34" charset="-120"/>
              </a:rPr>
              <a:t>Usability Evaluation in Industry </a:t>
            </a:r>
            <a:r>
              <a:rPr lang="en-US" sz="1875" dirty="0">
                <a:solidFill>
                  <a:srgbClr val="33464B"/>
                </a:solidFill>
                <a:latin typeface="Inter" panose="02000503000000020004" pitchFamily="2" charset="0"/>
                <a:ea typeface="Inter" panose="02000503000000020004" pitchFamily="2" charset="0"/>
                <a:cs typeface="IBM Plex Sans" pitchFamily="34" charset="-120"/>
              </a:rPr>
              <a:t>(pp. 189–194). Taylor &amp; Francis.</a:t>
            </a:r>
            <a:endParaRPr lang="en-US" sz="1875" dirty="0"/>
          </a:p>
        </p:txBody>
      </p:sp>
      <p:sp>
        <p:nvSpPr>
          <p:cNvPr id="10" name="Text 7"/>
          <p:cNvSpPr/>
          <p:nvPr/>
        </p:nvSpPr>
        <p:spPr>
          <a:xfrm>
            <a:off x="9353550" y="4869557"/>
            <a:ext cx="8319516" cy="704850"/>
          </a:xfrm>
          <a:prstGeom prst="rect">
            <a:avLst/>
          </a:prstGeom>
          <a:noFill/>
          <a:ln/>
        </p:spPr>
        <p:txBody>
          <a:bodyPr wrap="square" lIns="25400" tIns="25400" rIns="25400" bIns="25400" rtlCol="0" anchor="t">
            <a:normAutofit/>
          </a:bodyPr>
          <a:lstStyle/>
          <a:p>
            <a:pPr marL="0" indent="0" algn="l">
              <a:lnSpc>
                <a:spcPct val="109375"/>
              </a:lnSpc>
              <a:buNone/>
            </a:pPr>
            <a:r>
              <a:rPr lang="en-US" sz="1875" dirty="0">
                <a:solidFill>
                  <a:srgbClr val="33464B"/>
                </a:solidFill>
                <a:latin typeface="Inter" panose="02000503000000020004" pitchFamily="2" charset="0"/>
                <a:ea typeface="Inter" panose="02000503000000020004" pitchFamily="2" charset="0"/>
                <a:cs typeface="IBM Plex Sans" pitchFamily="34" charset="-120"/>
              </a:rPr>
              <a:t>Sutton, R. T., Pincock, D., Baumgart, D. C., et al. (2020). An overview of clinical decision support systems. </a:t>
            </a:r>
            <a:r>
              <a:rPr lang="en-US" sz="1875" i="1" dirty="0">
                <a:solidFill>
                  <a:srgbClr val="33464B"/>
                </a:solidFill>
                <a:latin typeface="Inter" panose="02000503000000020004" pitchFamily="2" charset="0"/>
                <a:ea typeface="Inter" panose="02000503000000020004" pitchFamily="2" charset="0"/>
                <a:cs typeface="IBM Plex Sans" pitchFamily="34" charset="-120"/>
              </a:rPr>
              <a:t>npj Digital Medicine, 3</a:t>
            </a:r>
            <a:r>
              <a:rPr lang="en-US" sz="1875" dirty="0">
                <a:solidFill>
                  <a:srgbClr val="33464B"/>
                </a:solidFill>
                <a:latin typeface="Inter" panose="02000503000000020004" pitchFamily="2" charset="0"/>
                <a:ea typeface="Inter" panose="02000503000000020004" pitchFamily="2" charset="0"/>
                <a:cs typeface="IBM Plex Sans" pitchFamily="34" charset="-120"/>
              </a:rPr>
              <a:t>, 17.</a:t>
            </a:r>
            <a:endParaRPr lang="en-US" sz="1875" dirty="0"/>
          </a:p>
        </p:txBody>
      </p:sp>
      <p:sp>
        <p:nvSpPr>
          <p:cNvPr id="11" name="Text 8"/>
          <p:cNvSpPr/>
          <p:nvPr/>
        </p:nvSpPr>
        <p:spPr>
          <a:xfrm>
            <a:off x="857250" y="5650607"/>
            <a:ext cx="8319516" cy="1038225"/>
          </a:xfrm>
          <a:prstGeom prst="rect">
            <a:avLst/>
          </a:prstGeom>
          <a:noFill/>
          <a:ln/>
        </p:spPr>
        <p:txBody>
          <a:bodyPr wrap="square" lIns="25400" tIns="25400" rIns="25400" bIns="25400" rtlCol="0" anchor="t">
            <a:normAutofit/>
          </a:bodyPr>
          <a:lstStyle/>
          <a:p>
            <a:pPr marL="0" indent="0" algn="l">
              <a:lnSpc>
                <a:spcPct val="109375"/>
              </a:lnSpc>
              <a:buNone/>
            </a:pPr>
            <a:r>
              <a:rPr lang="en-US" sz="1875" dirty="0">
                <a:solidFill>
                  <a:srgbClr val="33464B"/>
                </a:solidFill>
                <a:latin typeface="Inter" panose="02000503000000020004" pitchFamily="2" charset="0"/>
                <a:ea typeface="Inter" panose="02000503000000020004" pitchFamily="2" charset="0"/>
                <a:cs typeface="IBM Plex Sans" pitchFamily="34" charset="-120"/>
              </a:rPr>
              <a:t>Davis, F. D. (1989). Perceived usefulness, perceived ease of use, and user acceptance of information technology. </a:t>
            </a:r>
            <a:r>
              <a:rPr lang="en-US" sz="1875" i="1" dirty="0">
                <a:solidFill>
                  <a:srgbClr val="33464B"/>
                </a:solidFill>
                <a:latin typeface="Inter" panose="02000503000000020004" pitchFamily="2" charset="0"/>
                <a:ea typeface="Inter" panose="02000503000000020004" pitchFamily="2" charset="0"/>
                <a:cs typeface="IBM Plex Sans" pitchFamily="34" charset="-120"/>
              </a:rPr>
              <a:t>MIS Quarterly, 13</a:t>
            </a:r>
            <a:r>
              <a:rPr lang="en-US" sz="1875" dirty="0">
                <a:solidFill>
                  <a:srgbClr val="33464B"/>
                </a:solidFill>
                <a:latin typeface="Inter" panose="02000503000000020004" pitchFamily="2" charset="0"/>
                <a:ea typeface="Inter" panose="02000503000000020004" pitchFamily="2" charset="0"/>
                <a:cs typeface="IBM Plex Sans" pitchFamily="34" charset="-120"/>
              </a:rPr>
              <a:t>(3), 319–340.</a:t>
            </a:r>
            <a:endParaRPr lang="en-US" sz="1875" dirty="0"/>
          </a:p>
        </p:txBody>
      </p:sp>
      <p:sp>
        <p:nvSpPr>
          <p:cNvPr id="12" name="Text 9"/>
          <p:cNvSpPr/>
          <p:nvPr/>
        </p:nvSpPr>
        <p:spPr>
          <a:xfrm>
            <a:off x="9353550" y="5650607"/>
            <a:ext cx="8319516" cy="1038225"/>
          </a:xfrm>
          <a:prstGeom prst="rect">
            <a:avLst/>
          </a:prstGeom>
          <a:noFill/>
          <a:ln/>
        </p:spPr>
        <p:txBody>
          <a:bodyPr wrap="square" lIns="25400" tIns="25400" rIns="25400" bIns="25400" rtlCol="0" anchor="t">
            <a:normAutofit/>
          </a:bodyPr>
          <a:lstStyle/>
          <a:p>
            <a:pPr marL="0" indent="0" algn="l">
              <a:lnSpc>
                <a:spcPct val="109375"/>
              </a:lnSpc>
              <a:buNone/>
            </a:pPr>
            <a:r>
              <a:rPr lang="en-US" sz="1875" dirty="0">
                <a:solidFill>
                  <a:srgbClr val="33464B"/>
                </a:solidFill>
                <a:latin typeface="Inter" panose="02000503000000020004" pitchFamily="2" charset="0"/>
                <a:ea typeface="Inter" panose="02000503000000020004" pitchFamily="2" charset="0"/>
                <a:cs typeface="IBM Plex Sans" pitchFamily="34" charset="-120"/>
              </a:rPr>
              <a:t>Wang, Y., et al. (2024). Machine learning for drug–drug interaction prediction: A comprehensive review. </a:t>
            </a:r>
            <a:r>
              <a:rPr lang="en-US" sz="1875" i="1" dirty="0">
                <a:solidFill>
                  <a:srgbClr val="33464B"/>
                </a:solidFill>
                <a:latin typeface="Inter" panose="02000503000000020004" pitchFamily="2" charset="0"/>
                <a:ea typeface="Inter" panose="02000503000000020004" pitchFamily="2" charset="0"/>
                <a:cs typeface="IBM Plex Sans" pitchFamily="34" charset="-120"/>
              </a:rPr>
              <a:t>Journal of Chemical Information and Modeling.</a:t>
            </a:r>
            <a:endParaRPr lang="en-US" sz="1875" dirty="0"/>
          </a:p>
        </p:txBody>
      </p:sp>
      <p:sp>
        <p:nvSpPr>
          <p:cNvPr id="13" name="Text 10"/>
          <p:cNvSpPr/>
          <p:nvPr/>
        </p:nvSpPr>
        <p:spPr>
          <a:xfrm>
            <a:off x="857250" y="6765032"/>
            <a:ext cx="8319516" cy="1038225"/>
          </a:xfrm>
          <a:prstGeom prst="rect">
            <a:avLst/>
          </a:prstGeom>
          <a:noFill/>
          <a:ln/>
        </p:spPr>
        <p:txBody>
          <a:bodyPr wrap="square" lIns="25400" tIns="25400" rIns="25400" bIns="25400" rtlCol="0" anchor="t">
            <a:normAutofit/>
          </a:bodyPr>
          <a:lstStyle/>
          <a:p>
            <a:pPr marL="0" indent="0" algn="l">
              <a:lnSpc>
                <a:spcPct val="109375"/>
              </a:lnSpc>
              <a:buNone/>
            </a:pPr>
            <a:r>
              <a:rPr lang="en-US" sz="1875" dirty="0">
                <a:solidFill>
                  <a:srgbClr val="33464B"/>
                </a:solidFill>
                <a:latin typeface="Inter" panose="02000503000000020004" pitchFamily="2" charset="0"/>
                <a:ea typeface="Inter" panose="02000503000000020004" pitchFamily="2" charset="0"/>
                <a:cs typeface="IBM Plex Sans" pitchFamily="34" charset="-120"/>
              </a:rPr>
              <a:t>Delara, M., Murray, L., Jafari, B., et al. (2024). Global and regional prevalence of polypharmacy, 1997–2022: An umbrella review. </a:t>
            </a:r>
            <a:r>
              <a:rPr lang="en-US" sz="1875" i="1" dirty="0">
                <a:solidFill>
                  <a:srgbClr val="33464B"/>
                </a:solidFill>
                <a:latin typeface="Inter" panose="02000503000000020004" pitchFamily="2" charset="0"/>
                <a:ea typeface="Inter" panose="02000503000000020004" pitchFamily="2" charset="0"/>
                <a:cs typeface="IBM Plex Sans" pitchFamily="34" charset="-120"/>
              </a:rPr>
              <a:t>Archives of Gerontology and Geriatrics, 124 </a:t>
            </a:r>
            <a:r>
              <a:rPr lang="en-US" sz="1875" dirty="0">
                <a:solidFill>
                  <a:srgbClr val="33464B"/>
                </a:solidFill>
                <a:latin typeface="Inter" panose="02000503000000020004" pitchFamily="2" charset="0"/>
                <a:ea typeface="Inter" panose="02000503000000020004" pitchFamily="2" charset="0"/>
                <a:cs typeface="IBM Plex Sans" pitchFamily="34" charset="-120"/>
              </a:rPr>
              <a:t>, 105461.</a:t>
            </a:r>
            <a:endParaRPr lang="en-US" sz="1875" dirty="0"/>
          </a:p>
        </p:txBody>
      </p:sp>
      <p:sp>
        <p:nvSpPr>
          <p:cNvPr id="14" name="Text 11"/>
          <p:cNvSpPr/>
          <p:nvPr/>
        </p:nvSpPr>
        <p:spPr>
          <a:xfrm>
            <a:off x="9353550" y="6765032"/>
            <a:ext cx="8319516" cy="1038225"/>
          </a:xfrm>
          <a:prstGeom prst="rect">
            <a:avLst/>
          </a:prstGeom>
          <a:noFill/>
          <a:ln/>
        </p:spPr>
        <p:txBody>
          <a:bodyPr wrap="square" lIns="25400" tIns="25400" rIns="25400" bIns="25400" rtlCol="0" anchor="t">
            <a:normAutofit/>
          </a:bodyPr>
          <a:lstStyle/>
          <a:p>
            <a:pPr marL="0" indent="0" algn="l">
              <a:lnSpc>
                <a:spcPct val="109375"/>
              </a:lnSpc>
              <a:buNone/>
            </a:pPr>
            <a:r>
              <a:rPr lang="en-US" sz="1875" dirty="0">
                <a:solidFill>
                  <a:srgbClr val="33464B"/>
                </a:solidFill>
                <a:latin typeface="Inter" panose="02000503000000020004" pitchFamily="2" charset="0"/>
                <a:ea typeface="Inter" panose="02000503000000020004" pitchFamily="2" charset="0"/>
                <a:cs typeface="IBM Plex Sans" pitchFamily="34" charset="-120"/>
              </a:rPr>
              <a:t>Hevner, A. R., March, S. T., Park, J., &amp; Ram, S. (2004). Design science in information systems research. </a:t>
            </a:r>
            <a:r>
              <a:rPr lang="en-US" sz="1875" i="1" dirty="0">
                <a:solidFill>
                  <a:srgbClr val="33464B"/>
                </a:solidFill>
                <a:latin typeface="Inter" panose="02000503000000020004" pitchFamily="2" charset="0"/>
                <a:ea typeface="Inter" panose="02000503000000020004" pitchFamily="2" charset="0"/>
                <a:cs typeface="IBM Plex Sans" pitchFamily="34" charset="-120"/>
              </a:rPr>
              <a:t>MIS Quarterly, 28</a:t>
            </a:r>
            <a:r>
              <a:rPr lang="en-US" sz="1875" dirty="0">
                <a:solidFill>
                  <a:srgbClr val="33464B"/>
                </a:solidFill>
                <a:latin typeface="Inter" panose="02000503000000020004" pitchFamily="2" charset="0"/>
                <a:ea typeface="Inter" panose="02000503000000020004" pitchFamily="2" charset="0"/>
                <a:cs typeface="IBM Plex Sans" pitchFamily="34" charset="-120"/>
              </a:rPr>
              <a:t>(1), 75–105.</a:t>
            </a:r>
            <a:endParaRPr lang="en-US" sz="1875" dirty="0"/>
          </a:p>
        </p:txBody>
      </p:sp>
      <p:sp>
        <p:nvSpPr>
          <p:cNvPr id="15" name="Text 12"/>
          <p:cNvSpPr/>
          <p:nvPr/>
        </p:nvSpPr>
        <p:spPr>
          <a:xfrm>
            <a:off x="857250" y="7879457"/>
            <a:ext cx="8319516" cy="1038225"/>
          </a:xfrm>
          <a:prstGeom prst="rect">
            <a:avLst/>
          </a:prstGeom>
          <a:noFill/>
          <a:ln/>
        </p:spPr>
        <p:txBody>
          <a:bodyPr wrap="square" lIns="25400" tIns="25400" rIns="25400" bIns="25400" rtlCol="0" anchor="t">
            <a:normAutofit/>
          </a:bodyPr>
          <a:lstStyle/>
          <a:p>
            <a:pPr marL="0" indent="0" algn="l">
              <a:lnSpc>
                <a:spcPct val="109375"/>
              </a:lnSpc>
              <a:buNone/>
            </a:pPr>
            <a:r>
              <a:rPr lang="en-US" sz="1875" dirty="0">
                <a:solidFill>
                  <a:srgbClr val="33464B"/>
                </a:solidFill>
                <a:latin typeface="Inter" panose="02000503000000020004" pitchFamily="2" charset="0"/>
                <a:ea typeface="Inter" panose="02000503000000020004" pitchFamily="2" charset="0"/>
                <a:cs typeface="IBM Plex Sans" pitchFamily="34" charset="-120"/>
              </a:rPr>
              <a:t>Ekpenyong, A., Udoh, A., Kpokiri, E., &amp; Bates, I. (2018). An analysis of pharmacy workforce capacity in Nigeria. </a:t>
            </a:r>
            <a:r>
              <a:rPr lang="en-US" sz="1875" i="1" dirty="0">
                <a:solidFill>
                  <a:srgbClr val="33464B"/>
                </a:solidFill>
                <a:latin typeface="Inter" panose="02000503000000020004" pitchFamily="2" charset="0"/>
                <a:ea typeface="Inter" panose="02000503000000020004" pitchFamily="2" charset="0"/>
                <a:cs typeface="IBM Plex Sans" pitchFamily="34" charset="-120"/>
              </a:rPr>
              <a:t>Journal of Pharmaceutical Policy and Practice, 11 </a:t>
            </a:r>
            <a:r>
              <a:rPr lang="en-US" sz="1875" dirty="0">
                <a:solidFill>
                  <a:srgbClr val="33464B"/>
                </a:solidFill>
                <a:latin typeface="Inter" panose="02000503000000020004" pitchFamily="2" charset="0"/>
                <a:ea typeface="Inter" panose="02000503000000020004" pitchFamily="2" charset="0"/>
                <a:cs typeface="IBM Plex Sans" pitchFamily="34" charset="-120"/>
              </a:rPr>
              <a:t>, 20.</a:t>
            </a:r>
            <a:endParaRPr lang="en-US" sz="1875" dirty="0"/>
          </a:p>
        </p:txBody>
      </p:sp>
      <p:sp>
        <p:nvSpPr>
          <p:cNvPr id="16" name="Text 13"/>
          <p:cNvSpPr/>
          <p:nvPr/>
        </p:nvSpPr>
        <p:spPr>
          <a:xfrm>
            <a:off x="9353550" y="7879457"/>
            <a:ext cx="8319516" cy="1038225"/>
          </a:xfrm>
          <a:prstGeom prst="rect">
            <a:avLst/>
          </a:prstGeom>
          <a:noFill/>
          <a:ln/>
        </p:spPr>
        <p:txBody>
          <a:bodyPr wrap="square" lIns="25400" tIns="25400" rIns="25400" bIns="25400" rtlCol="0" anchor="t">
            <a:normAutofit/>
          </a:bodyPr>
          <a:lstStyle/>
          <a:p>
            <a:pPr marL="0" indent="0" algn="l">
              <a:lnSpc>
                <a:spcPct val="109375"/>
              </a:lnSpc>
              <a:buNone/>
            </a:pPr>
            <a:r>
              <a:rPr lang="en-US" sz="1875" dirty="0">
                <a:solidFill>
                  <a:srgbClr val="33464B"/>
                </a:solidFill>
                <a:latin typeface="Inter" panose="02000503000000020004" pitchFamily="2" charset="0"/>
                <a:ea typeface="Inter" panose="02000503000000020004" pitchFamily="2" charset="0"/>
                <a:cs typeface="IBM Plex Sans" pitchFamily="34" charset="-120"/>
              </a:rPr>
              <a:t>World Health Organisation. (2021). </a:t>
            </a:r>
            <a:r>
              <a:rPr lang="en-US" sz="1875" i="1" dirty="0">
                <a:solidFill>
                  <a:srgbClr val="33464B"/>
                </a:solidFill>
                <a:latin typeface="Inter" panose="02000503000000020004" pitchFamily="2" charset="0"/>
                <a:ea typeface="Inter" panose="02000503000000020004" pitchFamily="2" charset="0"/>
                <a:cs typeface="IBM Plex Sans" pitchFamily="34" charset="-120"/>
              </a:rPr>
              <a:t>Global patient safety action plan 2021–2030. </a:t>
            </a:r>
            <a:r>
              <a:rPr lang="en-US" sz="1875" dirty="0">
                <a:solidFill>
                  <a:srgbClr val="33464B"/>
                </a:solidFill>
                <a:latin typeface="Inter" panose="02000503000000020004" pitchFamily="2" charset="0"/>
                <a:ea typeface="Inter" panose="02000503000000020004" pitchFamily="2" charset="0"/>
                <a:cs typeface="IBM Plex Sans" pitchFamily="34" charset="-120"/>
              </a:rPr>
              <a:t>WHO.</a:t>
            </a:r>
            <a:endParaRPr lang="en-US" sz="1875" dirty="0"/>
          </a:p>
        </p:txBody>
      </p:sp>
      <p:sp>
        <p:nvSpPr>
          <p:cNvPr id="17" name="Shape 0">
            <a:extLst>
              <a:ext uri="{FF2B5EF4-FFF2-40B4-BE49-F238E27FC236}">
                <a16:creationId xmlns:a16="http://schemas.microsoft.com/office/drawing/2014/main" id="{34E9669B-5737-F3D2-B0AF-1300FED56EDF}"/>
              </a:ext>
            </a:extLst>
          </p:cNvPr>
          <p:cNvSpPr/>
          <p:nvPr/>
        </p:nvSpPr>
        <p:spPr>
          <a:xfrm>
            <a:off x="914400" y="710826"/>
            <a:ext cx="133350" cy="133350"/>
          </a:xfrm>
          <a:prstGeom prst="rect">
            <a:avLst/>
          </a:prstGeom>
          <a:solidFill>
            <a:srgbClr val="0B5C4A"/>
          </a:solidFill>
          <a:ln/>
        </p:spPr>
      </p:sp>
      <p:sp>
        <p:nvSpPr>
          <p:cNvPr id="18" name="Text 1">
            <a:extLst>
              <a:ext uri="{FF2B5EF4-FFF2-40B4-BE49-F238E27FC236}">
                <a16:creationId xmlns:a16="http://schemas.microsoft.com/office/drawing/2014/main" id="{DB5297E3-0630-9E0D-4A8C-0F950C493AC8}"/>
              </a:ext>
            </a:extLst>
          </p:cNvPr>
          <p:cNvSpPr/>
          <p:nvPr/>
        </p:nvSpPr>
        <p:spPr>
          <a:xfrm>
            <a:off x="1219200" y="574114"/>
            <a:ext cx="7856736" cy="406774"/>
          </a:xfrm>
          <a:prstGeom prst="rect">
            <a:avLst/>
          </a:prstGeom>
          <a:noFill/>
          <a:ln/>
        </p:spPr>
        <p:txBody>
          <a:bodyPr wrap="square" lIns="25400" tIns="25400" rIns="25400" bIns="25400" rtlCol="0" anchor="t">
            <a:normAutofit fontScale="92500"/>
          </a:bodyPr>
          <a:lstStyle/>
          <a:p>
            <a:pPr marL="0" indent="0" algn="l">
              <a:lnSpc>
                <a:spcPct val="110000"/>
              </a:lnSpc>
              <a:buNone/>
            </a:pPr>
            <a:r>
              <a:rPr lang="en-GB" sz="2400" dirty="0">
                <a:solidFill>
                  <a:srgbClr val="0B5C4A"/>
                </a:solidFill>
                <a:latin typeface="Inter" pitchFamily="34" charset="0"/>
                <a:ea typeface="Inter" pitchFamily="34" charset="-122"/>
              </a:rPr>
              <a:t>REFERENCES</a:t>
            </a:r>
            <a:endParaRPr lang="en-US" sz="2400" dirty="0"/>
          </a:p>
        </p:txBody>
      </p:sp>
    </p:spTree>
  </p:cSld>
  <p:clrMapOvr>
    <a:masterClrMapping/>
  </p:clrMapOvr>
  <p:transition spd="slow">
    <p:push/>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51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52500" y="2655788"/>
            <a:ext cx="685800" cy="685800"/>
          </a:xfrm>
          <a:prstGeom prst="roundRect">
            <a:avLst>
              <a:gd name="adj" fmla="val 50000"/>
            </a:avLst>
          </a:prstGeom>
        </p:spPr>
      </p:pic>
      <p:sp>
        <p:nvSpPr>
          <p:cNvPr id="3" name="Text 0"/>
          <p:cNvSpPr/>
          <p:nvPr/>
        </p:nvSpPr>
        <p:spPr>
          <a:xfrm>
            <a:off x="1847850" y="2809509"/>
            <a:ext cx="2604472" cy="542924"/>
          </a:xfrm>
          <a:prstGeom prst="rect">
            <a:avLst/>
          </a:prstGeom>
          <a:noFill/>
          <a:ln/>
        </p:spPr>
        <p:txBody>
          <a:bodyPr wrap="square" lIns="25400" tIns="25400" rIns="25400" bIns="25400" rtlCol="0" anchor="t">
            <a:normAutofit/>
          </a:bodyPr>
          <a:lstStyle/>
          <a:p>
            <a:pPr marL="0" indent="0" algn="l">
              <a:lnSpc>
                <a:spcPct val="91071"/>
              </a:lnSpc>
              <a:buNone/>
            </a:pPr>
            <a:r>
              <a:rPr lang="en-US" sz="3200" b="1" dirty="0">
                <a:solidFill>
                  <a:srgbClr val="FFFFFF"/>
                </a:solidFill>
                <a:latin typeface="Inter" panose="02000503000000020004" pitchFamily="2" charset="0"/>
                <a:ea typeface="Inter" panose="02000503000000020004" pitchFamily="2" charset="0"/>
                <a:cs typeface="Archivo" pitchFamily="34" charset="-120"/>
              </a:rPr>
              <a:t>MedGuard</a:t>
            </a:r>
            <a:endParaRPr lang="en-US" sz="3200" dirty="0"/>
          </a:p>
        </p:txBody>
      </p:sp>
      <p:sp>
        <p:nvSpPr>
          <p:cNvPr id="4" name="Text 1"/>
          <p:cNvSpPr/>
          <p:nvPr/>
        </p:nvSpPr>
        <p:spPr>
          <a:xfrm>
            <a:off x="952500" y="3874988"/>
            <a:ext cx="10108714" cy="960041"/>
          </a:xfrm>
          <a:prstGeom prst="rect">
            <a:avLst/>
          </a:prstGeom>
          <a:noFill/>
          <a:ln/>
        </p:spPr>
        <p:txBody>
          <a:bodyPr wrap="square" lIns="25400" tIns="25400" rIns="25400" bIns="25400" rtlCol="0" anchor="t">
            <a:normAutofit fontScale="92500"/>
          </a:bodyPr>
          <a:lstStyle/>
          <a:p>
            <a:pPr marL="0" indent="0" algn="l">
              <a:lnSpc>
                <a:spcPct val="100833"/>
              </a:lnSpc>
              <a:buNone/>
            </a:pPr>
            <a:r>
              <a:rPr lang="en-US" sz="6600" b="1" kern="0" spc="-198" dirty="0">
                <a:solidFill>
                  <a:srgbClr val="FFFFFF"/>
                </a:solidFill>
                <a:latin typeface="Inter" panose="02000503000000020004" pitchFamily="2" charset="0"/>
                <a:ea typeface="Inter" panose="02000503000000020004" pitchFamily="2" charset="0"/>
                <a:cs typeface="Archivo" pitchFamily="34" charset="-120"/>
              </a:rPr>
              <a:t>Thank you</a:t>
            </a:r>
            <a:endParaRPr lang="en-US" sz="6600" dirty="0"/>
          </a:p>
        </p:txBody>
      </p:sp>
      <p:sp>
        <p:nvSpPr>
          <p:cNvPr id="5" name="Text 2"/>
          <p:cNvSpPr/>
          <p:nvPr/>
        </p:nvSpPr>
        <p:spPr>
          <a:xfrm>
            <a:off x="952500" y="5063629"/>
            <a:ext cx="10108714" cy="481012"/>
          </a:xfrm>
          <a:prstGeom prst="rect">
            <a:avLst/>
          </a:prstGeom>
          <a:noFill/>
          <a:ln/>
        </p:spPr>
        <p:txBody>
          <a:bodyPr wrap="square" lIns="25400" tIns="25400" rIns="25400" bIns="25400" rtlCol="0" anchor="t">
            <a:normAutofit/>
          </a:bodyPr>
          <a:lstStyle/>
          <a:p>
            <a:pPr marL="0" indent="0" algn="l">
              <a:lnSpc>
                <a:spcPct val="114344"/>
              </a:lnSpc>
              <a:buNone/>
            </a:pPr>
            <a:r>
              <a:rPr lang="en-US" sz="2325" dirty="0">
                <a:solidFill>
                  <a:srgbClr val="B8D6D1"/>
                </a:solidFill>
                <a:latin typeface="Inter" panose="02000503000000020004" pitchFamily="2" charset="0"/>
                <a:ea typeface="Inter" panose="02000503000000020004" pitchFamily="2" charset="0"/>
                <a:cs typeface="IBM Plex Sans" pitchFamily="34" charset="-120"/>
              </a:rPr>
              <a:t>Questions welcome.</a:t>
            </a:r>
            <a:endParaRPr lang="en-US" sz="2325" dirty="0"/>
          </a:p>
        </p:txBody>
      </p:sp>
      <p:sp>
        <p:nvSpPr>
          <p:cNvPr id="6" name="Shape 3"/>
          <p:cNvSpPr/>
          <p:nvPr/>
        </p:nvSpPr>
        <p:spPr>
          <a:xfrm>
            <a:off x="952500" y="6039942"/>
            <a:ext cx="9189740" cy="9525"/>
          </a:xfrm>
          <a:prstGeom prst="rect">
            <a:avLst/>
          </a:prstGeom>
          <a:solidFill>
            <a:srgbClr val="FFFFFF">
              <a:alpha val="16000"/>
            </a:srgbClr>
          </a:solidFill>
          <a:ln/>
        </p:spPr>
      </p:sp>
      <p:sp>
        <p:nvSpPr>
          <p:cNvPr id="7" name="Text 4"/>
          <p:cNvSpPr/>
          <p:nvPr/>
        </p:nvSpPr>
        <p:spPr>
          <a:xfrm>
            <a:off x="952500" y="6351092"/>
            <a:ext cx="10108714" cy="1019146"/>
          </a:xfrm>
          <a:prstGeom prst="rect">
            <a:avLst/>
          </a:prstGeom>
          <a:noFill/>
          <a:ln/>
        </p:spPr>
        <p:txBody>
          <a:bodyPr wrap="square" lIns="25400" tIns="25400" rIns="25400" bIns="25400" rtlCol="0" anchor="t">
            <a:normAutofit/>
          </a:bodyPr>
          <a:lstStyle/>
          <a:p>
            <a:pPr marL="0" indent="0" algn="l">
              <a:lnSpc>
                <a:spcPct val="127647"/>
              </a:lnSpc>
              <a:buNone/>
            </a:pPr>
            <a:r>
              <a:rPr lang="en-US" sz="2325" b="1" dirty="0">
                <a:solidFill>
                  <a:srgbClr val="FFFFFF"/>
                </a:solidFill>
                <a:latin typeface="Inter" panose="02000503000000020004" pitchFamily="2" charset="0"/>
                <a:ea typeface="Inter" panose="02000503000000020004" pitchFamily="2" charset="0"/>
                <a:cs typeface="Archivo" pitchFamily="34" charset="-120"/>
              </a:rPr>
              <a:t>Ubaga Joshua </a:t>
            </a:r>
            <a:r>
              <a:rPr lang="en-US" sz="2325" b="1" dirty="0" err="1">
                <a:solidFill>
                  <a:srgbClr val="FFFFFF"/>
                </a:solidFill>
                <a:latin typeface="Inter" panose="02000503000000020004" pitchFamily="2" charset="0"/>
                <a:ea typeface="Inter" panose="02000503000000020004" pitchFamily="2" charset="0"/>
                <a:cs typeface="Archivo" pitchFamily="34" charset="-120"/>
              </a:rPr>
              <a:t>Chukwuebuke</a:t>
            </a:r>
            <a:endParaRPr lang="en-US" sz="2325" b="1" dirty="0">
              <a:solidFill>
                <a:srgbClr val="FFFFFF"/>
              </a:solidFill>
              <a:latin typeface="Inter" panose="02000503000000020004" pitchFamily="2" charset="0"/>
              <a:ea typeface="Inter" panose="02000503000000020004" pitchFamily="2" charset="0"/>
              <a:cs typeface="Archivo" pitchFamily="34" charset="-120"/>
            </a:endParaRPr>
          </a:p>
          <a:p>
            <a:pPr marL="0" indent="0" algn="l">
              <a:lnSpc>
                <a:spcPct val="127647"/>
              </a:lnSpc>
              <a:buNone/>
            </a:pPr>
            <a:r>
              <a:rPr lang="en-US" sz="2325" b="1" dirty="0">
                <a:solidFill>
                  <a:srgbClr val="FFFFFF"/>
                </a:solidFill>
                <a:latin typeface="Inter" panose="02000503000000020004" pitchFamily="2" charset="0"/>
                <a:ea typeface="Inter" panose="02000503000000020004" pitchFamily="2" charset="0"/>
                <a:cs typeface="Archivo" pitchFamily="34" charset="-120"/>
              </a:rPr>
              <a:t>CSC/2022/009</a:t>
            </a:r>
            <a:endParaRPr lang="en-US" sz="2325" dirty="0"/>
          </a:p>
        </p:txBody>
      </p:sp>
      <p:sp>
        <p:nvSpPr>
          <p:cNvPr id="8" name="Text 5"/>
          <p:cNvSpPr/>
          <p:nvPr/>
        </p:nvSpPr>
        <p:spPr>
          <a:xfrm>
            <a:off x="952500" y="7488870"/>
            <a:ext cx="10108714" cy="423863"/>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B8D6D1"/>
                </a:solidFill>
                <a:latin typeface="Inter" panose="02000503000000020004" pitchFamily="2" charset="0"/>
                <a:ea typeface="Inter" panose="02000503000000020004" pitchFamily="2" charset="0"/>
                <a:cs typeface="IBM Plex Sans" pitchFamily="34" charset="-120"/>
              </a:rPr>
              <a:t>Supervised by Prof. Isaac Odun-Ayo</a:t>
            </a:r>
            <a:endParaRPr lang="en-US" sz="2025" dirty="0"/>
          </a:p>
        </p:txBody>
      </p:sp>
      <p:sp>
        <p:nvSpPr>
          <p:cNvPr id="9" name="Text 6"/>
          <p:cNvSpPr/>
          <p:nvPr/>
        </p:nvSpPr>
        <p:spPr>
          <a:xfrm>
            <a:off x="952500" y="7912733"/>
            <a:ext cx="10108714" cy="867200"/>
          </a:xfrm>
          <a:prstGeom prst="rect">
            <a:avLst/>
          </a:prstGeom>
          <a:noFill/>
          <a:ln/>
        </p:spPr>
        <p:txBody>
          <a:bodyPr wrap="square" lIns="25400" tIns="25400" rIns="25400" bIns="25400" rtlCol="0" anchor="t">
            <a:normAutofit/>
          </a:bodyPr>
          <a:lstStyle/>
          <a:p>
            <a:pPr marL="0" indent="0" algn="l">
              <a:lnSpc>
                <a:spcPct val="114623"/>
              </a:lnSpc>
              <a:buNone/>
            </a:pPr>
            <a:r>
              <a:rPr lang="en-US" sz="2025" dirty="0">
                <a:solidFill>
                  <a:srgbClr val="B8D6D1"/>
                </a:solidFill>
                <a:latin typeface="Inter" panose="02000503000000020004" pitchFamily="2" charset="0"/>
                <a:ea typeface="Inter" panose="02000503000000020004" pitchFamily="2" charset="0"/>
                <a:cs typeface="IBM Plex Sans" pitchFamily="34" charset="-120"/>
              </a:rPr>
              <a:t>Department of Computer Science, </a:t>
            </a:r>
          </a:p>
          <a:p>
            <a:pPr marL="0" indent="0" algn="l">
              <a:lnSpc>
                <a:spcPct val="114623"/>
              </a:lnSpc>
              <a:buNone/>
            </a:pPr>
            <a:r>
              <a:rPr lang="en-US" sz="2025" dirty="0">
                <a:solidFill>
                  <a:srgbClr val="B8D6D1"/>
                </a:solidFill>
                <a:latin typeface="Inter" panose="02000503000000020004" pitchFamily="2" charset="0"/>
                <a:ea typeface="Inter" panose="02000503000000020004" pitchFamily="2" charset="0"/>
                <a:cs typeface="IBM Plex Sans" pitchFamily="34" charset="-120"/>
              </a:rPr>
              <a:t>Chrisland University, Abeokuta</a:t>
            </a:r>
            <a:endParaRPr lang="en-US" sz="2025" dirty="0"/>
          </a:p>
        </p:txBody>
      </p:sp>
      <p:sp>
        <p:nvSpPr>
          <p:cNvPr id="10" name="Shape 7"/>
          <p:cNvSpPr/>
          <p:nvPr/>
        </p:nvSpPr>
        <p:spPr>
          <a:xfrm>
            <a:off x="10828040" y="0"/>
            <a:ext cx="7459960" cy="10287000"/>
          </a:xfrm>
          <a:prstGeom prst="rect">
            <a:avLst/>
          </a:prstGeom>
          <a:solidFill>
            <a:srgbClr val="152024"/>
          </a:solidFill>
          <a:ln/>
        </p:spPr>
      </p:sp>
      <p:sp>
        <p:nvSpPr>
          <p:cNvPr id="11" name="Shape 8"/>
          <p:cNvSpPr/>
          <p:nvPr/>
        </p:nvSpPr>
        <p:spPr>
          <a:xfrm>
            <a:off x="12957771" y="1717179"/>
            <a:ext cx="3200400" cy="6852642"/>
          </a:xfrm>
          <a:prstGeom prst="roundRect">
            <a:avLst>
              <a:gd name="adj" fmla="val 11905"/>
            </a:avLst>
          </a:prstGeom>
          <a:solidFill>
            <a:srgbClr val="0E1517"/>
          </a:solidFill>
          <a:ln/>
        </p:spPr>
      </p:sp>
      <p:pic>
        <p:nvPicPr>
          <p:cNvPr id="12" name="Image 1" descr="preencoded.png"/>
          <p:cNvPicPr>
            <a:picLocks noChangeAspect="1"/>
          </p:cNvPicPr>
          <p:nvPr/>
        </p:nvPicPr>
        <p:blipFill>
          <a:blip r:embed="rId4"/>
          <a:stretch>
            <a:fillRect/>
          </a:stretch>
        </p:blipFill>
        <p:spPr>
          <a:xfrm>
            <a:off x="13062546" y="1821954"/>
            <a:ext cx="2990850" cy="6643092"/>
          </a:xfrm>
          <a:prstGeom prst="roundRect">
            <a:avLst>
              <a:gd name="adj" fmla="val 8174"/>
            </a:avLst>
          </a:prstGeom>
        </p:spPr>
      </p:pic>
    </p:spTree>
  </p:cSld>
  <p:clrMapOvr>
    <a:masterClrMapping/>
  </p:clrMapOvr>
  <p:transition spd="slow">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F66313A-29F8-48DA-B6FC-55CEEA265D13}">
  <we:reference id="wa200010001" version="1.0.0.1" store="en-US" storeType="OMEX"/>
  <we:alternateReferences>
    <we:reference id="wa200010001" version="1.0.0.1" store="" storeType="OMEX"/>
  </we:alternateReferences>
  <we:properties>
    <we:property name="claude.fileId" value="&quot;4e4b7d75-e4f0-4ea4-a8eb-1438e17b69e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104</TotalTime>
  <Words>3649</Words>
  <Application>Microsoft Office PowerPoint</Application>
  <PresentationFormat>Custom</PresentationFormat>
  <Paragraphs>469</Paragraphs>
  <Slides>29</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Chrisland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MedGuard — Project Defence</dc:title>
  <dc:subject>Final-year project defence presentation</dc:subject>
  <dc:creator>Joshua Ubaga</dc:creator>
  <cp:lastModifiedBy>Joshua Ubaga</cp:lastModifiedBy>
  <cp:revision>3</cp:revision>
  <dcterms:created xsi:type="dcterms:W3CDTF">2026-08-09T22:19:52Z</dcterms:created>
  <dcterms:modified xsi:type="dcterms:W3CDTF">2026-09-11T07:26:10Z</dcterms:modified>
</cp:coreProperties>
</file>